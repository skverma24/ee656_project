
<file path=[Content_Types].xml><?xml version="1.0" encoding="utf-8"?>
<Types xmlns="http://schemas.openxmlformats.org/package/2006/content-types">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rts/chart1.xml" ContentType="application/vnd.openxmlformats-officedocument.drawingml.chart+xml"/>
  <Override PartName="/ppt/notesSlides/notesSlide11.xml" ContentType="application/vnd.openxmlformats-officedocument.presentationml.notesSlide+xml"/>
  <Override PartName="/ppt/charts/chart2.xml" ContentType="application/vnd.openxmlformats-officedocument.drawingml.chart+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p:scale>
          <a:sx n="75" d="100"/>
          <a:sy n="75" d="100"/>
        </p:scale>
        <p:origin x="1666" y="53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200" b="0" i="0" u="none" strike="noStrike">
                <a:solidFill>
                  <a:srgbClr val="B0C4DE"/>
                </a:solidFill>
                <a:latin typeface="Arial"/>
              </a:defRPr>
            </a:pPr>
            <a:r>
              <a:rPr lang="en-US" sz="1200" b="0" i="0" u="none" strike="noStrike">
                <a:solidFill>
                  <a:srgbClr val="B0C4DE"/>
                </a:solidFill>
                <a:latin typeface="Arial"/>
              </a:rPr>
              <a:t>ROC Curve — Clean Test Set</a:t>
            </a:r>
          </a:p>
        </c:rich>
      </c:tx>
      <c:overlay val="0"/>
    </c:title>
    <c:autoTitleDeleted val="0"/>
    <c:plotArea>
      <c:layout/>
      <c:scatterChart>
        <c:scatterStyle val="lineMarker"/>
        <c:varyColors val="0"/>
        <c:ser>
          <c:idx val="0"/>
          <c:order val="0"/>
          <c:tx>
            <c:strRef>
              <c:f>Sheet1!$B$1</c:f>
              <c:strCache>
                <c:ptCount val="1"/>
                <c:pt idx="0">
                  <c:v>EfficientNet-B0  (AUC = 0.9573)</c:v>
                </c:pt>
              </c:strCache>
            </c:strRef>
          </c:tx>
          <c:spPr>
            <a:ln w="25400" cap="flat">
              <a:solidFill>
                <a:srgbClr val="0F1B2D"/>
              </a:solidFill>
              <a:prstDash val="solid"/>
              <a:round/>
            </a:ln>
            <a:effectLst/>
          </c:spPr>
          <c:marker>
            <c:symbol val="circle"/>
            <c:size val="6"/>
            <c:spPr>
              <a:solidFill>
                <a:schemeClr val="accent6">
                  <a:lumMod val="60000"/>
                  <a:lumOff val="40000"/>
                </a:schemeClr>
              </a:solidFill>
              <a:ln w="9525" cap="flat">
                <a:solidFill>
                  <a:srgbClr val="0F1B2D"/>
                </a:solidFill>
                <a:prstDash val="solid"/>
                <a:round/>
              </a:ln>
              <a:effectLst/>
            </c:spPr>
          </c:marker>
          <c:xVal>
            <c:numRef>
              <c:f>Sheet1!$A$2:$A$16</c:f>
              <c:numCache>
                <c:formatCode>General</c:formatCode>
                <c:ptCount val="15"/>
                <c:pt idx="0">
                  <c:v>0</c:v>
                </c:pt>
                <c:pt idx="1">
                  <c:v>0.01</c:v>
                </c:pt>
                <c:pt idx="2">
                  <c:v>0.02</c:v>
                </c:pt>
                <c:pt idx="3">
                  <c:v>0.04</c:v>
                </c:pt>
                <c:pt idx="4">
                  <c:v>7.0000000000000007E-2</c:v>
                </c:pt>
                <c:pt idx="5">
                  <c:v>0.1</c:v>
                </c:pt>
                <c:pt idx="6">
                  <c:v>0.14000000000000001</c:v>
                </c:pt>
                <c:pt idx="7">
                  <c:v>0.19</c:v>
                </c:pt>
                <c:pt idx="8">
                  <c:v>0.26</c:v>
                </c:pt>
                <c:pt idx="9">
                  <c:v>0.35</c:v>
                </c:pt>
                <c:pt idx="10">
                  <c:v>0.46</c:v>
                </c:pt>
                <c:pt idx="11">
                  <c:v>0.6</c:v>
                </c:pt>
                <c:pt idx="12">
                  <c:v>0.76</c:v>
                </c:pt>
                <c:pt idx="13">
                  <c:v>0.9</c:v>
                </c:pt>
                <c:pt idx="14">
                  <c:v>1</c:v>
                </c:pt>
              </c:numCache>
            </c:numRef>
          </c:xVal>
          <c:yVal>
            <c:numRef>
              <c:f>Sheet1!$B$2:$B$16</c:f>
              <c:numCache>
                <c:formatCode>General</c:formatCode>
                <c:ptCount val="15"/>
                <c:pt idx="0">
                  <c:v>0</c:v>
                </c:pt>
                <c:pt idx="1">
                  <c:v>0.38</c:v>
                </c:pt>
                <c:pt idx="2">
                  <c:v>0.57999999999999996</c:v>
                </c:pt>
                <c:pt idx="3">
                  <c:v>0.72</c:v>
                </c:pt>
                <c:pt idx="4">
                  <c:v>0.81</c:v>
                </c:pt>
                <c:pt idx="5">
                  <c:v>0.86</c:v>
                </c:pt>
                <c:pt idx="6">
                  <c:v>0.9</c:v>
                </c:pt>
                <c:pt idx="7">
                  <c:v>0.93</c:v>
                </c:pt>
                <c:pt idx="8">
                  <c:v>0.95</c:v>
                </c:pt>
                <c:pt idx="9">
                  <c:v>0.97</c:v>
                </c:pt>
                <c:pt idx="10">
                  <c:v>0.98</c:v>
                </c:pt>
                <c:pt idx="11">
                  <c:v>0.99</c:v>
                </c:pt>
                <c:pt idx="12">
                  <c:v>0.99</c:v>
                </c:pt>
                <c:pt idx="13">
                  <c:v>1</c:v>
                </c:pt>
                <c:pt idx="14">
                  <c:v>1</c:v>
                </c:pt>
              </c:numCache>
            </c:numRef>
          </c:yVal>
          <c:smooth val="0"/>
          <c:extLst>
            <c:ext xmlns:c16="http://schemas.microsoft.com/office/drawing/2014/chart" uri="{C3380CC4-5D6E-409C-BE32-E72D297353CC}">
              <c16:uniqueId val="{00000000-B472-4E81-BCE0-8D2291EEE1FA}"/>
            </c:ext>
          </c:extLst>
        </c:ser>
        <c:ser>
          <c:idx val="1"/>
          <c:order val="1"/>
          <c:tx>
            <c:strRef>
              <c:f>Sheet1!$C$1</c:f>
              <c:strCache>
                <c:ptCount val="1"/>
                <c:pt idx="0">
                  <c:v>FPR_d</c:v>
                </c:pt>
              </c:strCache>
            </c:strRef>
          </c:tx>
          <c:spPr>
            <a:ln w="25400" cap="flat">
              <a:solidFill>
                <a:srgbClr val="00C9A7"/>
              </a:solidFill>
              <a:prstDash val="solid"/>
              <a:round/>
            </a:ln>
            <a:effectLst/>
          </c:spPr>
          <c:marker>
            <c:symbol val="circle"/>
            <c:size val="6"/>
            <c:spPr>
              <a:solidFill>
                <a:srgbClr val="00C9A7"/>
              </a:solidFill>
              <a:ln w="9525" cap="flat">
                <a:solidFill>
                  <a:srgbClr val="00C9A7"/>
                </a:solidFill>
                <a:prstDash val="solid"/>
                <a:round/>
              </a:ln>
              <a:effectLst/>
            </c:spPr>
          </c:marker>
          <c:xVal>
            <c:numRef>
              <c:f>Sheet1!$A$2:$A$16</c:f>
              <c:numCache>
                <c:formatCode>General</c:formatCode>
                <c:ptCount val="15"/>
                <c:pt idx="0">
                  <c:v>0</c:v>
                </c:pt>
                <c:pt idx="1">
                  <c:v>0.01</c:v>
                </c:pt>
                <c:pt idx="2">
                  <c:v>0.02</c:v>
                </c:pt>
                <c:pt idx="3">
                  <c:v>0.04</c:v>
                </c:pt>
                <c:pt idx="4">
                  <c:v>7.0000000000000007E-2</c:v>
                </c:pt>
                <c:pt idx="5">
                  <c:v>0.1</c:v>
                </c:pt>
                <c:pt idx="6">
                  <c:v>0.14000000000000001</c:v>
                </c:pt>
                <c:pt idx="7">
                  <c:v>0.19</c:v>
                </c:pt>
                <c:pt idx="8">
                  <c:v>0.26</c:v>
                </c:pt>
                <c:pt idx="9">
                  <c:v>0.35</c:v>
                </c:pt>
                <c:pt idx="10">
                  <c:v>0.46</c:v>
                </c:pt>
                <c:pt idx="11">
                  <c:v>0.6</c:v>
                </c:pt>
                <c:pt idx="12">
                  <c:v>0.76</c:v>
                </c:pt>
                <c:pt idx="13">
                  <c:v>0.9</c:v>
                </c:pt>
                <c:pt idx="14">
                  <c:v>1</c:v>
                </c:pt>
              </c:numCache>
            </c:numRef>
          </c:xVal>
          <c:yVal>
            <c:numRef>
              <c:f>Sheet1!$C$2:$C$16</c:f>
              <c:numCache>
                <c:formatCode>General</c:formatCode>
                <c:ptCount val="15"/>
                <c:pt idx="0">
                  <c:v>0</c:v>
                </c:pt>
                <c:pt idx="1">
                  <c:v>0.1</c:v>
                </c:pt>
                <c:pt idx="2">
                  <c:v>0.2</c:v>
                </c:pt>
                <c:pt idx="3">
                  <c:v>0.3</c:v>
                </c:pt>
                <c:pt idx="4">
                  <c:v>0.4</c:v>
                </c:pt>
                <c:pt idx="5">
                  <c:v>0.5</c:v>
                </c:pt>
                <c:pt idx="6">
                  <c:v>0.6</c:v>
                </c:pt>
                <c:pt idx="7">
                  <c:v>0.7</c:v>
                </c:pt>
                <c:pt idx="8">
                  <c:v>0.8</c:v>
                </c:pt>
                <c:pt idx="9">
                  <c:v>0.9</c:v>
                </c:pt>
                <c:pt idx="10">
                  <c:v>1</c:v>
                </c:pt>
              </c:numCache>
            </c:numRef>
          </c:yVal>
          <c:smooth val="0"/>
          <c:extLst>
            <c:ext xmlns:c16="http://schemas.microsoft.com/office/drawing/2014/chart" uri="{C3380CC4-5D6E-409C-BE32-E72D297353CC}">
              <c16:uniqueId val="{00000001-B472-4E81-BCE0-8D2291EEE1FA}"/>
            </c:ext>
          </c:extLst>
        </c:ser>
        <c:ser>
          <c:idx val="2"/>
          <c:order val="2"/>
          <c:tx>
            <c:strRef>
              <c:f>Sheet1!$D$1</c:f>
              <c:strCache>
                <c:ptCount val="1"/>
                <c:pt idx="0">
                  <c:v>Random (AUC = 0.50)</c:v>
                </c:pt>
              </c:strCache>
            </c:strRef>
          </c:tx>
          <c:spPr>
            <a:ln w="25400" cap="flat">
              <a:solidFill>
                <a:srgbClr val="0F1B2D"/>
              </a:solidFill>
              <a:prstDash val="solid"/>
              <a:round/>
            </a:ln>
            <a:effectLst/>
          </c:spPr>
          <c:marker>
            <c:symbol val="circle"/>
            <c:size val="6"/>
            <c:spPr>
              <a:solidFill>
                <a:schemeClr val="accent2"/>
              </a:solidFill>
              <a:ln w="9525" cap="flat">
                <a:solidFill>
                  <a:srgbClr val="0F1B2D"/>
                </a:solidFill>
                <a:prstDash val="solid"/>
                <a:round/>
              </a:ln>
              <a:effectLst/>
            </c:spPr>
          </c:marker>
          <c:xVal>
            <c:numRef>
              <c:f>Sheet1!$A$2:$A$16</c:f>
              <c:numCache>
                <c:formatCode>General</c:formatCode>
                <c:ptCount val="15"/>
                <c:pt idx="0">
                  <c:v>0</c:v>
                </c:pt>
                <c:pt idx="1">
                  <c:v>0.01</c:v>
                </c:pt>
                <c:pt idx="2">
                  <c:v>0.02</c:v>
                </c:pt>
                <c:pt idx="3">
                  <c:v>0.04</c:v>
                </c:pt>
                <c:pt idx="4">
                  <c:v>7.0000000000000007E-2</c:v>
                </c:pt>
                <c:pt idx="5">
                  <c:v>0.1</c:v>
                </c:pt>
                <c:pt idx="6">
                  <c:v>0.14000000000000001</c:v>
                </c:pt>
                <c:pt idx="7">
                  <c:v>0.19</c:v>
                </c:pt>
                <c:pt idx="8">
                  <c:v>0.26</c:v>
                </c:pt>
                <c:pt idx="9">
                  <c:v>0.35</c:v>
                </c:pt>
                <c:pt idx="10">
                  <c:v>0.46</c:v>
                </c:pt>
                <c:pt idx="11">
                  <c:v>0.6</c:v>
                </c:pt>
                <c:pt idx="12">
                  <c:v>0.76</c:v>
                </c:pt>
                <c:pt idx="13">
                  <c:v>0.9</c:v>
                </c:pt>
                <c:pt idx="14">
                  <c:v>1</c:v>
                </c:pt>
              </c:numCache>
            </c:numRef>
          </c:xVal>
          <c:yVal>
            <c:numRef>
              <c:f>Sheet1!$D$2:$D$16</c:f>
              <c:numCache>
                <c:formatCode>General</c:formatCode>
                <c:ptCount val="15"/>
                <c:pt idx="0">
                  <c:v>0</c:v>
                </c:pt>
                <c:pt idx="1">
                  <c:v>0.1</c:v>
                </c:pt>
                <c:pt idx="2">
                  <c:v>0.2</c:v>
                </c:pt>
                <c:pt idx="3">
                  <c:v>0.3</c:v>
                </c:pt>
                <c:pt idx="4">
                  <c:v>0.4</c:v>
                </c:pt>
                <c:pt idx="5">
                  <c:v>0.5</c:v>
                </c:pt>
                <c:pt idx="6">
                  <c:v>0.6</c:v>
                </c:pt>
                <c:pt idx="7">
                  <c:v>0.7</c:v>
                </c:pt>
                <c:pt idx="8">
                  <c:v>0.8</c:v>
                </c:pt>
                <c:pt idx="9">
                  <c:v>0.9</c:v>
                </c:pt>
                <c:pt idx="10">
                  <c:v>1</c:v>
                </c:pt>
              </c:numCache>
            </c:numRef>
          </c:yVal>
          <c:smooth val="0"/>
          <c:extLst>
            <c:ext xmlns:c16="http://schemas.microsoft.com/office/drawing/2014/chart" uri="{C3380CC4-5D6E-409C-BE32-E72D297353CC}">
              <c16:uniqueId val="{00000002-B472-4E81-BCE0-8D2291EEE1FA}"/>
            </c:ext>
          </c:extLst>
        </c:ser>
        <c:dLbls>
          <c:showLegendKey val="0"/>
          <c:showVal val="0"/>
          <c:showCatName val="0"/>
          <c:showSerName val="0"/>
          <c:showPercent val="0"/>
          <c:showBubbleSize val="0"/>
        </c:dLbls>
        <c:axId val="2094734554"/>
        <c:axId val="2094734552"/>
      </c:scatterChart>
      <c:valAx>
        <c:axId val="2094734554"/>
        <c:scaling>
          <c:orientation val="minMax"/>
        </c:scaling>
        <c:delete val="0"/>
        <c:axPos val="b"/>
        <c:majorGridlines>
          <c:spPr>
            <a:ln w="6350" cap="flat">
              <a:solidFill>
                <a:srgbClr val="1E3A5F"/>
              </a:solidFill>
              <a:prstDash val="solid"/>
              <a:round/>
            </a:ln>
          </c:spPr>
        </c:majorGridlines>
        <c:numFmt formatCode="General" sourceLinked="1"/>
        <c:majorTickMark val="none"/>
        <c:minorTickMark val="none"/>
        <c:tickLblPos val="nextTo"/>
        <c:spPr>
          <a:ln w="12700" cap="flat">
            <a:solidFill>
              <a:srgbClr val="888888"/>
            </a:solidFill>
            <a:prstDash val="solid"/>
            <a:round/>
          </a:ln>
        </c:spPr>
        <c:txPr>
          <a:bodyPr/>
          <a:lstStyle/>
          <a:p>
            <a:pPr>
              <a:defRPr sz="1200" b="0" i="0" u="none" strike="noStrike">
                <a:solidFill>
                  <a:srgbClr val="B0C4DE"/>
                </a:solidFill>
                <a:latin typeface="Arial"/>
              </a:defRPr>
            </a:pPr>
            <a:endParaRPr lang="en-US"/>
          </a:p>
        </c:txPr>
        <c:crossAx val="2094734552"/>
        <c:crosses val="autoZero"/>
        <c:crossBetween val="midCat"/>
      </c:valAx>
      <c:valAx>
        <c:axId val="2094734552"/>
        <c:scaling>
          <c:orientation val="minMax"/>
        </c:scaling>
        <c:delete val="0"/>
        <c:axPos val="l"/>
        <c:majorGridlines>
          <c:spPr>
            <a:ln w="6350" cap="flat">
              <a:solidFill>
                <a:srgbClr val="1E3A5F"/>
              </a:solidFill>
              <a:prstDash val="solid"/>
              <a:round/>
            </a:ln>
          </c:spPr>
        </c:majorGridlines>
        <c:numFmt formatCode="General" sourceLinked="0"/>
        <c:majorTickMark val="none"/>
        <c:minorTickMark val="none"/>
        <c:tickLblPos val="nextTo"/>
        <c:spPr>
          <a:ln w="12700" cap="flat">
            <a:solidFill>
              <a:srgbClr val="888888"/>
            </a:solidFill>
            <a:prstDash val="solid"/>
            <a:round/>
          </a:ln>
        </c:spPr>
        <c:txPr>
          <a:bodyPr/>
          <a:lstStyle/>
          <a:p>
            <a:pPr>
              <a:defRPr sz="1200" b="0" i="0" u="none" strike="noStrike">
                <a:solidFill>
                  <a:srgbClr val="B0C4DE"/>
                </a:solidFill>
                <a:latin typeface="Arial"/>
              </a:defRPr>
            </a:pPr>
            <a:endParaRPr lang="en-US"/>
          </a:p>
        </c:txPr>
        <c:crossAx val="2094734554"/>
        <c:crosses val="autoZero"/>
        <c:crossBetween val="midCat"/>
      </c:valAx>
      <c:spPr>
        <a:noFill/>
        <a:ln>
          <a:noFill/>
        </a:ln>
        <a:effectLst/>
      </c:spPr>
    </c:plotArea>
    <c:legend>
      <c:legendPos val="b"/>
      <c:legendEntry>
        <c:idx val="0"/>
        <c:txPr>
          <a:bodyPr/>
          <a:lstStyle/>
          <a:p>
            <a:pPr>
              <a:defRPr sz="900">
                <a:solidFill>
                  <a:srgbClr val="FF0000"/>
                </a:solidFill>
              </a:defRPr>
            </a:pPr>
            <a:endParaRPr lang="en-US"/>
          </a:p>
        </c:txPr>
      </c:legendEntry>
      <c:legendEntry>
        <c:idx val="2"/>
        <c:txPr>
          <a:bodyPr/>
          <a:lstStyle/>
          <a:p>
            <a:pPr>
              <a:defRPr sz="900">
                <a:solidFill>
                  <a:srgbClr val="FF0000"/>
                </a:solidFill>
              </a:defRPr>
            </a:pPr>
            <a:endParaRPr lang="en-US"/>
          </a:p>
        </c:txPr>
      </c:legendEntry>
      <c:overlay val="0"/>
      <c:txPr>
        <a:bodyPr/>
        <a:lstStyle/>
        <a:p>
          <a:pPr>
            <a:defRPr sz="900"/>
          </a:pPr>
          <a:endParaRPr lang="en-US"/>
        </a:p>
      </c:txPr>
    </c:legend>
    <c:plotVisOnly val="1"/>
    <c:dispBlanksAs val="span"/>
    <c:showDLblsOverMax val="1"/>
  </c:chart>
  <c:spPr>
    <a:solidFill>
      <a:srgbClr val="0D1F33"/>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200" b="0" i="0" u="none" strike="noStrike">
                <a:solidFill>
                  <a:srgbClr val="B0C4DE"/>
                </a:solidFill>
                <a:latin typeface="Arial"/>
              </a:defRPr>
            </a:pPr>
            <a:r>
              <a:rPr lang="en-IN" sz="1200" b="0" i="0" u="none" strike="noStrike">
                <a:solidFill>
                  <a:srgbClr val="B0C4DE"/>
                </a:solidFill>
                <a:latin typeface="Arial"/>
              </a:rPr>
              <a:t>Perturbation vs. Frame-Level AUC</a:t>
            </a:r>
          </a:p>
        </c:rich>
      </c:tx>
      <c:overlay val="0"/>
    </c:title>
    <c:autoTitleDeleted val="0"/>
    <c:plotArea>
      <c:layout/>
      <c:barChart>
        <c:barDir val="col"/>
        <c:grouping val="clustered"/>
        <c:varyColors val="0"/>
        <c:ser>
          <c:idx val="0"/>
          <c:order val="0"/>
          <c:tx>
            <c:strRef>
              <c:f>Sheet1!$B$1</c:f>
              <c:strCache>
                <c:ptCount val="1"/>
                <c:pt idx="0">
                  <c:v>Frame-Level AUC</c:v>
                </c:pt>
              </c:strCache>
            </c:strRef>
          </c:tx>
          <c:spPr>
            <a:solidFill>
              <a:srgbClr val="00C9A7"/>
            </a:solidFill>
            <a:effectLst/>
          </c:spPr>
          <c:invertIfNegative val="0"/>
          <c:dPt>
            <c:idx val="0"/>
            <c:invertIfNegative val="0"/>
            <c:bubble3D val="0"/>
            <c:extLst>
              <c:ext xmlns:c16="http://schemas.microsoft.com/office/drawing/2014/chart" uri="{C3380CC4-5D6E-409C-BE32-E72D297353CC}">
                <c16:uniqueId val="{00000001-7EB1-4D21-A551-BDD52A6DBF6B}"/>
              </c:ext>
            </c:extLst>
          </c:dPt>
          <c:dPt>
            <c:idx val="1"/>
            <c:invertIfNegative val="0"/>
            <c:bubble3D val="0"/>
            <c:spPr>
              <a:solidFill>
                <a:srgbClr val="FFD93D"/>
              </a:solidFill>
              <a:effectLst/>
            </c:spPr>
            <c:extLst>
              <c:ext xmlns:c16="http://schemas.microsoft.com/office/drawing/2014/chart" uri="{C3380CC4-5D6E-409C-BE32-E72D297353CC}">
                <c16:uniqueId val="{00000003-7EB1-4D21-A551-BDD52A6DBF6B}"/>
              </c:ext>
            </c:extLst>
          </c:dPt>
          <c:dPt>
            <c:idx val="2"/>
            <c:invertIfNegative val="0"/>
            <c:bubble3D val="0"/>
            <c:spPr>
              <a:solidFill>
                <a:srgbClr val="7EC8E3"/>
              </a:solidFill>
              <a:effectLst/>
            </c:spPr>
            <c:extLst>
              <c:ext xmlns:c16="http://schemas.microsoft.com/office/drawing/2014/chart" uri="{C3380CC4-5D6E-409C-BE32-E72D297353CC}">
                <c16:uniqueId val="{00000005-7EB1-4D21-A551-BDD52A6DBF6B}"/>
              </c:ext>
            </c:extLst>
          </c:dPt>
          <c:dPt>
            <c:idx val="3"/>
            <c:invertIfNegative val="0"/>
            <c:bubble3D val="0"/>
            <c:spPr>
              <a:solidFill>
                <a:srgbClr val="FFD93D"/>
              </a:solidFill>
              <a:effectLst/>
            </c:spPr>
            <c:extLst>
              <c:ext xmlns:c16="http://schemas.microsoft.com/office/drawing/2014/chart" uri="{C3380CC4-5D6E-409C-BE32-E72D297353CC}">
                <c16:uniqueId val="{00000007-7EB1-4D21-A551-BDD52A6DBF6B}"/>
              </c:ext>
            </c:extLst>
          </c:dPt>
          <c:dPt>
            <c:idx val="4"/>
            <c:invertIfNegative val="0"/>
            <c:bubble3D val="0"/>
            <c:spPr>
              <a:solidFill>
                <a:srgbClr val="FF9F40"/>
              </a:solidFill>
              <a:effectLst/>
            </c:spPr>
            <c:extLst>
              <c:ext xmlns:c16="http://schemas.microsoft.com/office/drawing/2014/chart" uri="{C3380CC4-5D6E-409C-BE32-E72D297353CC}">
                <c16:uniqueId val="{00000009-7EB1-4D21-A551-BDD52A6DBF6B}"/>
              </c:ext>
            </c:extLst>
          </c:dPt>
          <c:dPt>
            <c:idx val="5"/>
            <c:invertIfNegative val="0"/>
            <c:bubble3D val="0"/>
            <c:spPr>
              <a:solidFill>
                <a:srgbClr val="FF6B6B"/>
              </a:solidFill>
              <a:effectLst/>
            </c:spPr>
            <c:extLst>
              <c:ext xmlns:c16="http://schemas.microsoft.com/office/drawing/2014/chart" uri="{C3380CC4-5D6E-409C-BE32-E72D297353CC}">
                <c16:uniqueId val="{0000000B-7EB1-4D21-A551-BDD52A6DBF6B}"/>
              </c:ext>
            </c:extLst>
          </c:dPt>
          <c:cat>
            <c:strRef>
              <c:f>Sheet1!$A$2:$A$7</c:f>
              <c:strCache>
                <c:ptCount val="6"/>
                <c:pt idx="0">
                  <c:v>Original</c:v>
                </c:pt>
                <c:pt idx="1">
                  <c:v>JPEG
Compression</c:v>
                </c:pt>
                <c:pt idx="2">
                  <c:v>Color
Saturation</c:v>
                </c:pt>
                <c:pt idx="3">
                  <c:v>Color
Contrast</c:v>
                </c:pt>
                <c:pt idx="4">
                  <c:v>Gaussian
Blur</c:v>
                </c:pt>
                <c:pt idx="5">
                  <c:v>White
Gauss. Noise</c:v>
                </c:pt>
              </c:strCache>
            </c:strRef>
          </c:cat>
          <c:val>
            <c:numRef>
              <c:f>Sheet1!$B$2:$B$7</c:f>
              <c:numCache>
                <c:formatCode>General</c:formatCode>
                <c:ptCount val="6"/>
                <c:pt idx="0">
                  <c:v>0.95730000000000004</c:v>
                </c:pt>
                <c:pt idx="1">
                  <c:v>0.91600000000000004</c:v>
                </c:pt>
                <c:pt idx="2">
                  <c:v>0.93120000000000003</c:v>
                </c:pt>
                <c:pt idx="3">
                  <c:v>0.88360000000000005</c:v>
                </c:pt>
                <c:pt idx="4">
                  <c:v>0.70430000000000004</c:v>
                </c:pt>
                <c:pt idx="5">
                  <c:v>0.52129999999999999</c:v>
                </c:pt>
              </c:numCache>
            </c:numRef>
          </c:val>
          <c:extLst>
            <c:ext xmlns:c16="http://schemas.microsoft.com/office/drawing/2014/chart" uri="{C3380CC4-5D6E-409C-BE32-E72D297353CC}">
              <c16:uniqueId val="{0000000C-7EB1-4D21-A551-BDD52A6DBF6B}"/>
            </c:ext>
          </c:extLst>
        </c:ser>
        <c:dLbls>
          <c:showLegendKey val="0"/>
          <c:showVal val="0"/>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B0C4DE"/>
                </a:solidFill>
                <a:latin typeface="Arial"/>
              </a:defRPr>
            </a:pPr>
            <a:endParaRPr lang="en-US"/>
          </a:p>
        </c:txPr>
        <c:crossAx val="2094734552"/>
        <c:crosses val="autoZero"/>
        <c:auto val="1"/>
        <c:lblAlgn val="ctr"/>
        <c:lblOffset val="100"/>
        <c:noMultiLvlLbl val="1"/>
      </c:catAx>
      <c:valAx>
        <c:axId val="2094734552"/>
        <c:scaling>
          <c:orientation val="minMax"/>
          <c:max val="1"/>
          <c:min val="0"/>
        </c:scaling>
        <c:delete val="0"/>
        <c:axPos val="l"/>
        <c:majorGridlines>
          <c:spPr>
            <a:ln w="6350" cap="flat">
              <a:solidFill>
                <a:srgbClr val="1E3A5F"/>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B0C4DE"/>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solidFill>
      <a:srgbClr val="0D1F33"/>
    </a:solid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9284591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Title slide. Introduce the project: detecting deepfakes using EfficientNet-B0 on Celeb-DF v2, following the benchmark paper by Deng et al. 2024.</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Deepfakes use autoencoders and GANs to swap faces. Applications include entertainment but also malicious uses: non-consensual intimate imagery, fraud, political manipulation. Detection must be robust to survive real-world post-processing.</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AUC (Area Under the ROC Curve) is preferred because it is invariant to class distribution and decision threshold. Frame-level AUC treats each extracted face image as an independent test sample.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MTCNN (Multi-task Cascaded CNN) detects face bounding boxes at sub-frame level. We extract up to 5 frames per video at 15-frame intervals to avoid redundancy while maximising coverage.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pipeline is end-to-end: raw video → face images on disk → DataLoader → EfficientNet-B0 → binary prediction. Each block is an independent, replaceable component.</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EfficientNet's compound scaling ensures that when you make a model deeper, it is also proportionally wider and uses higher resolution — a key advantage over ad hoc scaling done in VGG or ResNet variants.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CrossEntropyLoss with Adam (lr=1e-4) is a standard choice for binary classification. The best-checkpoint strategy is critical: without it, the model evaluated at the last epoch may have begun to overfit.</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replicate the paper's perturbation ranges exactly. Random strengths within these ranges simulate the unpredictable lossy processing applied by social media platforms.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balanced precision/recall between Fake and Real classes is important: it shows the model is not simply predicting the majority class. AUC of 0.9573 is strong for a single-dataset, frame-level evaluation.</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steep initial rise of the ROC curve is the most important visual signal: it means that at a low false positive rate budget, the model already catches most deepfakes. This is ideal for forensic deployment where false alarms are costly.</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gradient from green (robust) to red (fragile) in the bar chart visually communicates the threat model: additive noise is the most dangerous post-processing attack for frame-level deepfake detectors.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frequency-domain perspective unifies the discussion: JPEG and blur are structured perturbations that corrupt specific frequency bands; Gaussian noise is unstructured and corrupts all bands simultaneously — hence the larger impact.</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Wrap up: summarise main findings, emphasise that the robustness study validates the benchmark paper's observations, and point to future directions: temporal modelling, diverse training data, and geometric feature inputs.</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7D6C16-2F15-FFCE-4D16-8AB5CB17063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5EEC356-0372-C318-6ECA-66522120706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A982668-6917-50BD-DF55-E8A7876EEDE5}"/>
              </a:ext>
            </a:extLst>
          </p:cNvPr>
          <p:cNvSpPr>
            <a:spLocks noGrp="1"/>
          </p:cNvSpPr>
          <p:nvPr>
            <p:ph type="body" idx="1"/>
          </p:nvPr>
        </p:nvSpPr>
        <p:spPr/>
        <p:txBody>
          <a:bodyPr/>
          <a:lstStyle/>
          <a:p>
            <a:r>
              <a:rPr lang="en-US" dirty="0"/>
              <a:t>Wrap up: summarise main findings, emphasise that the robustness study validates the benchmark paper's observations, and point to future directions: temporal modelling, diverse training data, and geometric feature inputs.</a:t>
            </a:r>
          </a:p>
        </p:txBody>
      </p:sp>
      <p:sp>
        <p:nvSpPr>
          <p:cNvPr id="4" name="Slide Number Placeholder 3">
            <a:extLst>
              <a:ext uri="{FF2B5EF4-FFF2-40B4-BE49-F238E27FC236}">
                <a16:creationId xmlns:a16="http://schemas.microsoft.com/office/drawing/2014/main" id="{C778CBA2-AB31-CD83-8533-65B142A6B995}"/>
              </a:ext>
            </a:extLst>
          </p:cNvPr>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277176968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B2D"/>
        </a:solidFill>
        <a:effectLst/>
      </p:bgPr>
    </p:bg>
    <p:spTree>
      <p:nvGrpSpPr>
        <p:cNvPr id="1" name=""/>
        <p:cNvGrpSpPr/>
        <p:nvPr/>
      </p:nvGrpSpPr>
      <p:grpSpPr>
        <a:xfrm>
          <a:off x="0" y="0"/>
          <a:ext cx="0" cy="0"/>
          <a:chOff x="0" y="0"/>
          <a:chExt cx="0" cy="0"/>
        </a:xfrm>
      </p:grpSpPr>
      <p:sp>
        <p:nvSpPr>
          <p:cNvPr id="2" name="Shape 0"/>
          <p:cNvSpPr/>
          <p:nvPr/>
        </p:nvSpPr>
        <p:spPr>
          <a:xfrm>
            <a:off x="6400800" y="-914400"/>
            <a:ext cx="4114800" cy="4114800"/>
          </a:xfrm>
          <a:prstGeom prst="ellipse">
            <a:avLst/>
          </a:prstGeom>
          <a:solidFill>
            <a:srgbClr val="00C9A7">
              <a:alpha val="10000"/>
            </a:srgbClr>
          </a:solidFill>
          <a:ln/>
        </p:spPr>
      </p:sp>
      <p:sp>
        <p:nvSpPr>
          <p:cNvPr id="3" name="Shape 1"/>
          <p:cNvSpPr/>
          <p:nvPr/>
        </p:nvSpPr>
        <p:spPr>
          <a:xfrm>
            <a:off x="7498080" y="2926080"/>
            <a:ext cx="2011680" cy="2011680"/>
          </a:xfrm>
          <a:prstGeom prst="ellipse">
            <a:avLst/>
          </a:prstGeom>
          <a:solidFill>
            <a:srgbClr val="00C9A7">
              <a:alpha val="8000"/>
            </a:srgbClr>
          </a:solidFill>
          <a:ln/>
        </p:spPr>
      </p:sp>
      <p:sp>
        <p:nvSpPr>
          <p:cNvPr id="4" name="Shape 2"/>
          <p:cNvSpPr/>
          <p:nvPr/>
        </p:nvSpPr>
        <p:spPr>
          <a:xfrm>
            <a:off x="548640" y="438912"/>
            <a:ext cx="2286000" cy="301752"/>
          </a:xfrm>
          <a:prstGeom prst="roundRect">
            <a:avLst>
              <a:gd name="adj" fmla="val 15152"/>
            </a:avLst>
          </a:prstGeom>
          <a:solidFill>
            <a:srgbClr val="00C9A7">
              <a:alpha val="85000"/>
            </a:srgbClr>
          </a:solidFill>
          <a:ln/>
        </p:spPr>
      </p:sp>
      <p:sp>
        <p:nvSpPr>
          <p:cNvPr id="5" name="Text 3"/>
          <p:cNvSpPr/>
          <p:nvPr/>
        </p:nvSpPr>
        <p:spPr>
          <a:xfrm>
            <a:off x="548640" y="438912"/>
            <a:ext cx="2286000" cy="301752"/>
          </a:xfrm>
          <a:prstGeom prst="rect">
            <a:avLst/>
          </a:prstGeom>
          <a:noFill/>
          <a:ln/>
        </p:spPr>
        <p:txBody>
          <a:bodyPr wrap="square" lIns="0" tIns="0" rIns="0" bIns="0" rtlCol="0" anchor="ctr"/>
          <a:lstStyle/>
          <a:p>
            <a:pPr marL="0" indent="0" algn="ctr">
              <a:buNone/>
            </a:pPr>
            <a:r>
              <a:rPr lang="en-US" sz="800" b="1" dirty="0">
                <a:solidFill>
                  <a:srgbClr val="0F1B2D"/>
                </a:solidFill>
              </a:rPr>
              <a:t>EE656 — COURSE PROJECT</a:t>
            </a:r>
            <a:endParaRPr lang="en-US" sz="800" dirty="0"/>
          </a:p>
        </p:txBody>
      </p:sp>
      <p:sp>
        <p:nvSpPr>
          <p:cNvPr id="6" name="Text 4"/>
          <p:cNvSpPr/>
          <p:nvPr/>
        </p:nvSpPr>
        <p:spPr>
          <a:xfrm>
            <a:off x="548640" y="960120"/>
            <a:ext cx="6858000" cy="960120"/>
          </a:xfrm>
          <a:prstGeom prst="rect">
            <a:avLst/>
          </a:prstGeom>
          <a:noFill/>
          <a:ln/>
        </p:spPr>
        <p:txBody>
          <a:bodyPr wrap="square" rtlCol="0" anchor="ctr"/>
          <a:lstStyle/>
          <a:p>
            <a:pPr marL="0" indent="0">
              <a:buNone/>
            </a:pPr>
            <a:r>
              <a:rPr lang="en-US" sz="5000" b="1" dirty="0">
                <a:solidFill>
                  <a:srgbClr val="FFFFFF"/>
                </a:solidFill>
                <a:latin typeface="Cambria" pitchFamily="34" charset="0"/>
                <a:ea typeface="Cambria" pitchFamily="34" charset="-122"/>
                <a:cs typeface="Cambria" pitchFamily="34" charset="-120"/>
              </a:rPr>
              <a:t>Deepfake Detection</a:t>
            </a:r>
            <a:endParaRPr lang="en-US" sz="5000" dirty="0"/>
          </a:p>
        </p:txBody>
      </p:sp>
      <p:sp>
        <p:nvSpPr>
          <p:cNvPr id="7" name="Text 5"/>
          <p:cNvSpPr/>
          <p:nvPr/>
        </p:nvSpPr>
        <p:spPr>
          <a:xfrm>
            <a:off x="548640" y="1993392"/>
            <a:ext cx="7132320" cy="475488"/>
          </a:xfrm>
          <a:prstGeom prst="rect">
            <a:avLst/>
          </a:prstGeom>
          <a:noFill/>
          <a:ln/>
        </p:spPr>
        <p:txBody>
          <a:bodyPr wrap="square" rtlCol="0" anchor="ctr"/>
          <a:lstStyle/>
          <a:p>
            <a:pPr marL="0" indent="0">
              <a:buNone/>
            </a:pPr>
            <a:r>
              <a:rPr lang="en-US" sz="1900" i="1" dirty="0">
                <a:solidFill>
                  <a:srgbClr val="00C9A7"/>
                </a:solidFill>
                <a:latin typeface="Calibri" pitchFamily="34" charset="0"/>
                <a:ea typeface="Calibri" pitchFamily="34" charset="-122"/>
                <a:cs typeface="Calibri" pitchFamily="34" charset="-120"/>
              </a:rPr>
              <a:t>Benchmarking &amp; Evaluation with EfficientNet-B0</a:t>
            </a:r>
            <a:endParaRPr lang="en-US" sz="1900" dirty="0"/>
          </a:p>
        </p:txBody>
      </p:sp>
      <p:sp>
        <p:nvSpPr>
          <p:cNvPr id="8" name="Shape 6"/>
          <p:cNvSpPr/>
          <p:nvPr/>
        </p:nvSpPr>
        <p:spPr>
          <a:xfrm>
            <a:off x="548640" y="2651760"/>
            <a:ext cx="3840480" cy="27432"/>
          </a:xfrm>
          <a:prstGeom prst="rect">
            <a:avLst/>
          </a:prstGeom>
          <a:solidFill>
            <a:srgbClr val="00C9A7"/>
          </a:solidFill>
          <a:ln/>
        </p:spPr>
      </p:sp>
      <p:sp>
        <p:nvSpPr>
          <p:cNvPr id="9" name="Text 7"/>
          <p:cNvSpPr/>
          <p:nvPr/>
        </p:nvSpPr>
        <p:spPr>
          <a:xfrm>
            <a:off x="548640" y="2834640"/>
            <a:ext cx="6400800" cy="320040"/>
          </a:xfrm>
          <a:prstGeom prst="rect">
            <a:avLst/>
          </a:prstGeom>
          <a:noFill/>
          <a:ln/>
        </p:spPr>
        <p:txBody>
          <a:bodyPr wrap="square" rtlCol="0" anchor="ctr"/>
          <a:lstStyle/>
          <a:p>
            <a:pPr marL="0" indent="0">
              <a:buNone/>
            </a:pPr>
            <a:r>
              <a:rPr lang="en-US" sz="1300" dirty="0">
                <a:solidFill>
                  <a:srgbClr val="5A7A9A"/>
                </a:solidFill>
                <a:latin typeface="Calibri" pitchFamily="34" charset="0"/>
                <a:ea typeface="Calibri" pitchFamily="34" charset="-122"/>
                <a:cs typeface="Calibri" pitchFamily="34" charset="-120"/>
              </a:rPr>
              <a:t>Dataset: </a:t>
            </a:r>
            <a:r>
              <a:rPr lang="en-US" sz="1300" b="1" dirty="0">
                <a:solidFill>
                  <a:srgbClr val="B0C4DE"/>
                </a:solidFill>
                <a:latin typeface="Calibri" pitchFamily="34" charset="0"/>
                <a:ea typeface="Calibri" pitchFamily="34" charset="-122"/>
                <a:cs typeface="Calibri" pitchFamily="34" charset="-120"/>
              </a:rPr>
              <a:t>Celeb-DF v2</a:t>
            </a:r>
            <a:endParaRPr lang="en-US" sz="1300" dirty="0"/>
          </a:p>
        </p:txBody>
      </p:sp>
      <p:sp>
        <p:nvSpPr>
          <p:cNvPr id="10" name="Text 8"/>
          <p:cNvSpPr/>
          <p:nvPr/>
        </p:nvSpPr>
        <p:spPr>
          <a:xfrm>
            <a:off x="548640" y="3200400"/>
            <a:ext cx="6400800" cy="320040"/>
          </a:xfrm>
          <a:prstGeom prst="rect">
            <a:avLst/>
          </a:prstGeom>
          <a:noFill/>
          <a:ln/>
        </p:spPr>
        <p:txBody>
          <a:bodyPr wrap="square" rtlCol="0" anchor="ctr"/>
          <a:lstStyle/>
          <a:p>
            <a:pPr marL="0" indent="0">
              <a:buNone/>
            </a:pPr>
            <a:r>
              <a:rPr lang="en-US" sz="1300" dirty="0">
                <a:solidFill>
                  <a:srgbClr val="5A7A9A"/>
                </a:solidFill>
                <a:latin typeface="Calibri" pitchFamily="34" charset="0"/>
                <a:ea typeface="Calibri" pitchFamily="34" charset="-122"/>
                <a:cs typeface="Calibri" pitchFamily="34" charset="-120"/>
              </a:rPr>
              <a:t>Model: </a:t>
            </a:r>
            <a:r>
              <a:rPr lang="en-US" sz="1300" b="1" dirty="0">
                <a:solidFill>
                  <a:srgbClr val="B0C4DE"/>
                </a:solidFill>
                <a:latin typeface="Calibri" pitchFamily="34" charset="0"/>
                <a:ea typeface="Calibri" pitchFamily="34" charset="-122"/>
                <a:cs typeface="Calibri" pitchFamily="34" charset="-120"/>
              </a:rPr>
              <a:t>EfficientNet-B0 (Transfer Learning)</a:t>
            </a:r>
            <a:endParaRPr lang="en-US" sz="1300" dirty="0"/>
          </a:p>
        </p:txBody>
      </p:sp>
      <p:sp>
        <p:nvSpPr>
          <p:cNvPr id="11" name="Text 9"/>
          <p:cNvSpPr/>
          <p:nvPr/>
        </p:nvSpPr>
        <p:spPr>
          <a:xfrm>
            <a:off x="548640" y="3566160"/>
            <a:ext cx="6400800" cy="320040"/>
          </a:xfrm>
          <a:prstGeom prst="rect">
            <a:avLst/>
          </a:prstGeom>
          <a:noFill/>
          <a:ln/>
        </p:spPr>
        <p:txBody>
          <a:bodyPr wrap="square" rtlCol="0" anchor="ctr"/>
          <a:lstStyle/>
          <a:p>
            <a:pPr marL="0" indent="0">
              <a:buNone/>
            </a:pPr>
            <a:r>
              <a:rPr lang="en-US" sz="1300" dirty="0">
                <a:solidFill>
                  <a:srgbClr val="5A7A9A"/>
                </a:solidFill>
                <a:latin typeface="Calibri" pitchFamily="34" charset="0"/>
                <a:ea typeface="Calibri" pitchFamily="34" charset="-122"/>
                <a:cs typeface="Calibri" pitchFamily="34" charset="-120"/>
              </a:rPr>
              <a:t>Framework: </a:t>
            </a:r>
            <a:r>
              <a:rPr lang="en-US" sz="1300" b="1" dirty="0">
                <a:solidFill>
                  <a:srgbClr val="B0C4DE"/>
                </a:solidFill>
                <a:latin typeface="Calibri" pitchFamily="34" charset="0"/>
                <a:ea typeface="Calibri" pitchFamily="34" charset="-122"/>
                <a:cs typeface="Calibri" pitchFamily="34" charset="-120"/>
              </a:rPr>
              <a:t>PyTorch  |  IIT Kanpur</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F1B2D"/>
        </a:solidFill>
        <a:effectLst/>
      </p:bgPr>
    </p:bg>
    <p:spTree>
      <p:nvGrpSpPr>
        <p:cNvPr id="1" name=""/>
        <p:cNvGrpSpPr/>
        <p:nvPr/>
      </p:nvGrpSpPr>
      <p:grpSpPr>
        <a:xfrm>
          <a:off x="0" y="0"/>
          <a:ext cx="0" cy="0"/>
          <a:chOff x="0" y="0"/>
          <a:chExt cx="0" cy="0"/>
        </a:xfrm>
      </p:grpSpPr>
      <p:sp>
        <p:nvSpPr>
          <p:cNvPr id="2" name="Text 0"/>
          <p:cNvSpPr/>
          <p:nvPr/>
        </p:nvSpPr>
        <p:spPr>
          <a:xfrm>
            <a:off x="457200" y="256032"/>
            <a:ext cx="8229600" cy="566928"/>
          </a:xfrm>
          <a:prstGeom prst="rect">
            <a:avLst/>
          </a:prstGeom>
          <a:noFill/>
          <a:ln/>
        </p:spPr>
        <p:txBody>
          <a:bodyPr wrap="square" rtlCol="0" anchor="ctr"/>
          <a:lstStyle/>
          <a:p>
            <a:pPr marL="0" indent="0">
              <a:buNone/>
            </a:pPr>
            <a:r>
              <a:rPr lang="en-US" sz="3200" b="1" dirty="0">
                <a:solidFill>
                  <a:srgbClr val="FFFFFF"/>
                </a:solidFill>
                <a:latin typeface="Cambria" pitchFamily="34" charset="0"/>
                <a:ea typeface="Cambria" pitchFamily="34" charset="-122"/>
                <a:cs typeface="Cambria" pitchFamily="34" charset="-120"/>
              </a:rPr>
              <a:t>Introduction — Deepfakes Are Dangerous</a:t>
            </a:r>
            <a:endParaRPr lang="en-US" sz="3200" dirty="0"/>
          </a:p>
        </p:txBody>
      </p:sp>
      <p:sp>
        <p:nvSpPr>
          <p:cNvPr id="3" name="Shape 1"/>
          <p:cNvSpPr/>
          <p:nvPr/>
        </p:nvSpPr>
        <p:spPr>
          <a:xfrm>
            <a:off x="457200" y="850392"/>
            <a:ext cx="8229600" cy="27432"/>
          </a:xfrm>
          <a:prstGeom prst="rect">
            <a:avLst/>
          </a:prstGeom>
          <a:solidFill>
            <a:srgbClr val="00C9A7"/>
          </a:solidFill>
          <a:ln/>
        </p:spPr>
      </p:sp>
      <p:sp>
        <p:nvSpPr>
          <p:cNvPr id="4" name="Shape 2"/>
          <p:cNvSpPr/>
          <p:nvPr/>
        </p:nvSpPr>
        <p:spPr>
          <a:xfrm>
            <a:off x="457200" y="987552"/>
            <a:ext cx="8229600" cy="868680"/>
          </a:xfrm>
          <a:prstGeom prst="roundRect">
            <a:avLst>
              <a:gd name="adj" fmla="val 9474"/>
            </a:avLst>
          </a:prstGeom>
          <a:solidFill>
            <a:srgbClr val="1A2F4A"/>
          </a:solidFill>
          <a:ln/>
          <a:effectLst>
            <a:outerShdw blurRad="101600" dist="38100" dir="2700000" algn="bl" rotWithShape="0">
              <a:srgbClr val="000000">
                <a:alpha val="25000"/>
              </a:srgbClr>
            </a:outerShdw>
          </a:effectLst>
        </p:spPr>
      </p:sp>
      <p:sp>
        <p:nvSpPr>
          <p:cNvPr id="5" name="Text 3"/>
          <p:cNvSpPr/>
          <p:nvPr/>
        </p:nvSpPr>
        <p:spPr>
          <a:xfrm>
            <a:off x="621792" y="1005840"/>
            <a:ext cx="7900416" cy="822960"/>
          </a:xfrm>
          <a:prstGeom prst="rect">
            <a:avLst/>
          </a:prstGeom>
          <a:noFill/>
          <a:ln/>
        </p:spPr>
        <p:txBody>
          <a:bodyPr wrap="square" rtlCol="0" anchor="ctr"/>
          <a:lstStyle/>
          <a:p>
            <a:pPr marL="0" indent="0">
              <a:buNone/>
            </a:pPr>
            <a:r>
              <a:rPr lang="en-US" sz="1400" b="1" dirty="0">
                <a:solidFill>
                  <a:srgbClr val="FF6B6B"/>
                </a:solidFill>
                <a:latin typeface="Calibri" pitchFamily="34" charset="0"/>
                <a:ea typeface="Calibri" pitchFamily="34" charset="-122"/>
                <a:cs typeface="Calibri" pitchFamily="34" charset="-120"/>
              </a:rPr>
              <a:t>Deepfake</a:t>
            </a:r>
            <a:r>
              <a:rPr lang="en-US" sz="1400" dirty="0">
                <a:solidFill>
                  <a:srgbClr val="B0C4DE"/>
                </a:solidFill>
                <a:latin typeface="Calibri" pitchFamily="34" charset="0"/>
                <a:ea typeface="Calibri" pitchFamily="34" charset="-122"/>
                <a:cs typeface="Calibri" pitchFamily="34" charset="-120"/>
              </a:rPr>
              <a:t> technology uses deep learning to synthesize hyper-realistic fake faces  indistinguishable to the human eye  enabling unprecedented threats to </a:t>
            </a:r>
            <a:r>
              <a:rPr lang="en-US" sz="1400" b="1" dirty="0">
                <a:solidFill>
                  <a:srgbClr val="FFFFFF"/>
                </a:solidFill>
                <a:latin typeface="Calibri" pitchFamily="34" charset="0"/>
                <a:ea typeface="Calibri" pitchFamily="34" charset="-122"/>
                <a:cs typeface="Calibri" pitchFamily="34" charset="-120"/>
              </a:rPr>
              <a:t>privacy, identity, democracy &amp; national security.</a:t>
            </a:r>
            <a:endParaRPr lang="en-US" sz="1400" dirty="0"/>
          </a:p>
        </p:txBody>
      </p:sp>
      <p:sp>
        <p:nvSpPr>
          <p:cNvPr id="6" name="Shape 4"/>
          <p:cNvSpPr/>
          <p:nvPr/>
        </p:nvSpPr>
        <p:spPr>
          <a:xfrm>
            <a:off x="320040" y="1993392"/>
            <a:ext cx="1920240" cy="1417320"/>
          </a:xfrm>
          <a:prstGeom prst="roundRect">
            <a:avLst>
              <a:gd name="adj" fmla="val 5806"/>
            </a:avLst>
          </a:prstGeom>
          <a:solidFill>
            <a:srgbClr val="162638"/>
          </a:solidFill>
          <a:ln/>
          <a:effectLst>
            <a:outerShdw blurRad="101600" dist="38100" dir="2700000" algn="bl" rotWithShape="0">
              <a:srgbClr val="000000">
                <a:alpha val="25000"/>
              </a:srgbClr>
            </a:outerShdw>
          </a:effectLst>
        </p:spPr>
      </p:sp>
      <p:sp>
        <p:nvSpPr>
          <p:cNvPr id="7" name="Text 5"/>
          <p:cNvSpPr/>
          <p:nvPr/>
        </p:nvSpPr>
        <p:spPr>
          <a:xfrm>
            <a:off x="320040" y="2048256"/>
            <a:ext cx="1920240" cy="347472"/>
          </a:xfrm>
          <a:prstGeom prst="rect">
            <a:avLst/>
          </a:prstGeom>
          <a:noFill/>
          <a:ln/>
        </p:spPr>
        <p:txBody>
          <a:bodyPr wrap="square" rtlCol="0" anchor="ctr"/>
          <a:lstStyle/>
          <a:p>
            <a:pPr marL="0" indent="0" algn="ctr">
              <a:buNone/>
            </a:pPr>
            <a:r>
              <a:rPr lang="en-US" sz="1800" dirty="0">
                <a:solidFill>
                  <a:srgbClr val="000000"/>
                </a:solidFill>
              </a:rPr>
              <a:t>🔴</a:t>
            </a:r>
            <a:endParaRPr lang="en-US" sz="1800" dirty="0"/>
          </a:p>
        </p:txBody>
      </p:sp>
      <p:sp>
        <p:nvSpPr>
          <p:cNvPr id="8" name="Text 6"/>
          <p:cNvSpPr/>
          <p:nvPr/>
        </p:nvSpPr>
        <p:spPr>
          <a:xfrm>
            <a:off x="320040" y="2423160"/>
            <a:ext cx="1920240" cy="320040"/>
          </a:xfrm>
          <a:prstGeom prst="rect">
            <a:avLst/>
          </a:prstGeom>
          <a:noFill/>
          <a:ln/>
        </p:spPr>
        <p:txBody>
          <a:bodyPr wrap="square" rtlCol="0" anchor="ctr"/>
          <a:lstStyle/>
          <a:p>
            <a:pPr marL="0" indent="0" algn="ctr">
              <a:buNone/>
            </a:pPr>
            <a:r>
              <a:rPr lang="en-US" sz="1200" b="1" dirty="0">
                <a:solidFill>
                  <a:srgbClr val="00C9A7"/>
                </a:solidFill>
                <a:latin typeface="Calibri" pitchFamily="34" charset="0"/>
                <a:ea typeface="Calibri" pitchFamily="34" charset="-122"/>
                <a:cs typeface="Calibri" pitchFamily="34" charset="-120"/>
              </a:rPr>
              <a:t>Identity Theft</a:t>
            </a:r>
            <a:endParaRPr lang="en-US" sz="1200" dirty="0"/>
          </a:p>
        </p:txBody>
      </p:sp>
      <p:sp>
        <p:nvSpPr>
          <p:cNvPr id="9" name="Text 7"/>
          <p:cNvSpPr/>
          <p:nvPr/>
        </p:nvSpPr>
        <p:spPr>
          <a:xfrm>
            <a:off x="393192" y="2770632"/>
            <a:ext cx="1773936" cy="594360"/>
          </a:xfrm>
          <a:prstGeom prst="rect">
            <a:avLst/>
          </a:prstGeom>
          <a:noFill/>
          <a:ln/>
        </p:spPr>
        <p:txBody>
          <a:bodyPr wrap="square" rtlCol="0" anchor="ctr"/>
          <a:lstStyle/>
          <a:p>
            <a:pPr marL="0" indent="0" algn="ctr">
              <a:buNone/>
            </a:pPr>
            <a:r>
              <a:rPr lang="en-US" sz="1050" dirty="0">
                <a:solidFill>
                  <a:srgbClr val="B0C4DE"/>
                </a:solidFill>
                <a:latin typeface="Calibri" pitchFamily="34" charset="0"/>
                <a:ea typeface="Calibri" pitchFamily="34" charset="-122"/>
                <a:cs typeface="Calibri" pitchFamily="34" charset="-120"/>
              </a:rPr>
              <a:t>Celebrities &amp; public figures impersonated without consent</a:t>
            </a:r>
            <a:endParaRPr lang="en-US" sz="1050" dirty="0"/>
          </a:p>
        </p:txBody>
      </p:sp>
      <p:sp>
        <p:nvSpPr>
          <p:cNvPr id="10" name="Shape 8"/>
          <p:cNvSpPr/>
          <p:nvPr/>
        </p:nvSpPr>
        <p:spPr>
          <a:xfrm>
            <a:off x="2468880" y="1993392"/>
            <a:ext cx="1920240" cy="1417320"/>
          </a:xfrm>
          <a:prstGeom prst="roundRect">
            <a:avLst>
              <a:gd name="adj" fmla="val 5806"/>
            </a:avLst>
          </a:prstGeom>
          <a:solidFill>
            <a:srgbClr val="162638"/>
          </a:solidFill>
          <a:ln/>
          <a:effectLst>
            <a:outerShdw blurRad="101600" dist="38100" dir="2700000" algn="bl" rotWithShape="0">
              <a:srgbClr val="000000">
                <a:alpha val="25000"/>
              </a:srgbClr>
            </a:outerShdw>
          </a:effectLst>
        </p:spPr>
      </p:sp>
      <p:sp>
        <p:nvSpPr>
          <p:cNvPr id="11" name="Text 9"/>
          <p:cNvSpPr/>
          <p:nvPr/>
        </p:nvSpPr>
        <p:spPr>
          <a:xfrm>
            <a:off x="2468880" y="2048256"/>
            <a:ext cx="1920240" cy="347472"/>
          </a:xfrm>
          <a:prstGeom prst="rect">
            <a:avLst/>
          </a:prstGeom>
          <a:noFill/>
          <a:ln/>
        </p:spPr>
        <p:txBody>
          <a:bodyPr wrap="square" rtlCol="0" anchor="ctr"/>
          <a:lstStyle/>
          <a:p>
            <a:pPr marL="0" indent="0" algn="ctr">
              <a:buNone/>
            </a:pPr>
            <a:r>
              <a:rPr lang="en-US" sz="1800" dirty="0">
                <a:solidFill>
                  <a:srgbClr val="000000"/>
                </a:solidFill>
              </a:rPr>
              <a:t>🟠</a:t>
            </a:r>
            <a:endParaRPr lang="en-US" sz="1800" dirty="0"/>
          </a:p>
        </p:txBody>
      </p:sp>
      <p:sp>
        <p:nvSpPr>
          <p:cNvPr id="12" name="Text 10"/>
          <p:cNvSpPr/>
          <p:nvPr/>
        </p:nvSpPr>
        <p:spPr>
          <a:xfrm>
            <a:off x="2468880" y="2423160"/>
            <a:ext cx="1920240" cy="320040"/>
          </a:xfrm>
          <a:prstGeom prst="rect">
            <a:avLst/>
          </a:prstGeom>
          <a:noFill/>
          <a:ln/>
        </p:spPr>
        <p:txBody>
          <a:bodyPr wrap="square" rtlCol="0" anchor="ctr"/>
          <a:lstStyle/>
          <a:p>
            <a:pPr marL="0" indent="0" algn="ctr">
              <a:buNone/>
            </a:pPr>
            <a:r>
              <a:rPr lang="en-US" sz="1200" b="1" dirty="0">
                <a:solidFill>
                  <a:srgbClr val="00C9A7"/>
                </a:solidFill>
                <a:latin typeface="Calibri" pitchFamily="34" charset="0"/>
                <a:ea typeface="Calibri" pitchFamily="34" charset="-122"/>
                <a:cs typeface="Calibri" pitchFamily="34" charset="-120"/>
              </a:rPr>
              <a:t>Misinformation</a:t>
            </a:r>
            <a:endParaRPr lang="en-US" sz="1200" dirty="0"/>
          </a:p>
        </p:txBody>
      </p:sp>
      <p:sp>
        <p:nvSpPr>
          <p:cNvPr id="13" name="Text 11"/>
          <p:cNvSpPr/>
          <p:nvPr/>
        </p:nvSpPr>
        <p:spPr>
          <a:xfrm>
            <a:off x="2542032" y="2770632"/>
            <a:ext cx="1773936" cy="594360"/>
          </a:xfrm>
          <a:prstGeom prst="rect">
            <a:avLst/>
          </a:prstGeom>
          <a:noFill/>
          <a:ln/>
        </p:spPr>
        <p:txBody>
          <a:bodyPr wrap="square" rtlCol="0" anchor="ctr"/>
          <a:lstStyle/>
          <a:p>
            <a:pPr marL="0" indent="0" algn="ctr">
              <a:buNone/>
            </a:pPr>
            <a:r>
              <a:rPr lang="en-US" sz="1050" dirty="0">
                <a:solidFill>
                  <a:srgbClr val="B0C4DE"/>
                </a:solidFill>
                <a:latin typeface="Calibri" pitchFamily="34" charset="0"/>
                <a:ea typeface="Calibri" pitchFamily="34" charset="-122"/>
                <a:cs typeface="Calibri" pitchFamily="34" charset="-120"/>
              </a:rPr>
              <a:t>Fabricated political speeches &amp; false evidence in courts</a:t>
            </a:r>
            <a:endParaRPr lang="en-US" sz="1050" dirty="0"/>
          </a:p>
        </p:txBody>
      </p:sp>
      <p:sp>
        <p:nvSpPr>
          <p:cNvPr id="14" name="Shape 12"/>
          <p:cNvSpPr/>
          <p:nvPr/>
        </p:nvSpPr>
        <p:spPr>
          <a:xfrm>
            <a:off x="4617720" y="1993392"/>
            <a:ext cx="1920240" cy="1417320"/>
          </a:xfrm>
          <a:prstGeom prst="roundRect">
            <a:avLst>
              <a:gd name="adj" fmla="val 5806"/>
            </a:avLst>
          </a:prstGeom>
          <a:solidFill>
            <a:srgbClr val="162638"/>
          </a:solidFill>
          <a:ln/>
          <a:effectLst>
            <a:outerShdw blurRad="101600" dist="38100" dir="2700000" algn="bl" rotWithShape="0">
              <a:srgbClr val="000000">
                <a:alpha val="25000"/>
              </a:srgbClr>
            </a:outerShdw>
          </a:effectLst>
        </p:spPr>
      </p:sp>
      <p:sp>
        <p:nvSpPr>
          <p:cNvPr id="15" name="Text 13"/>
          <p:cNvSpPr/>
          <p:nvPr/>
        </p:nvSpPr>
        <p:spPr>
          <a:xfrm>
            <a:off x="4617720" y="2048256"/>
            <a:ext cx="1920240" cy="347472"/>
          </a:xfrm>
          <a:prstGeom prst="rect">
            <a:avLst/>
          </a:prstGeom>
          <a:noFill/>
          <a:ln/>
        </p:spPr>
        <p:txBody>
          <a:bodyPr wrap="square" rtlCol="0" anchor="ctr"/>
          <a:lstStyle/>
          <a:p>
            <a:pPr marL="0" indent="0" algn="ctr">
              <a:buNone/>
            </a:pPr>
            <a:r>
              <a:rPr lang="en-US" sz="1800" dirty="0">
                <a:solidFill>
                  <a:srgbClr val="000000"/>
                </a:solidFill>
              </a:rPr>
              <a:t>🟡</a:t>
            </a:r>
            <a:endParaRPr lang="en-US" sz="1800" dirty="0"/>
          </a:p>
        </p:txBody>
      </p:sp>
      <p:sp>
        <p:nvSpPr>
          <p:cNvPr id="16" name="Text 14"/>
          <p:cNvSpPr/>
          <p:nvPr/>
        </p:nvSpPr>
        <p:spPr>
          <a:xfrm>
            <a:off x="4617720" y="2423160"/>
            <a:ext cx="1920240" cy="320040"/>
          </a:xfrm>
          <a:prstGeom prst="rect">
            <a:avLst/>
          </a:prstGeom>
          <a:noFill/>
          <a:ln/>
        </p:spPr>
        <p:txBody>
          <a:bodyPr wrap="square" rtlCol="0" anchor="ctr"/>
          <a:lstStyle/>
          <a:p>
            <a:pPr marL="0" indent="0" algn="ctr">
              <a:buNone/>
            </a:pPr>
            <a:r>
              <a:rPr lang="en-US" sz="1200" b="1" dirty="0">
                <a:solidFill>
                  <a:srgbClr val="00C9A7"/>
                </a:solidFill>
                <a:latin typeface="Calibri" pitchFamily="34" charset="0"/>
                <a:ea typeface="Calibri" pitchFamily="34" charset="-122"/>
                <a:cs typeface="Calibri" pitchFamily="34" charset="-120"/>
              </a:rPr>
              <a:t>Financial Fraud</a:t>
            </a:r>
            <a:endParaRPr lang="en-US" sz="1200" dirty="0"/>
          </a:p>
        </p:txBody>
      </p:sp>
      <p:sp>
        <p:nvSpPr>
          <p:cNvPr id="17" name="Text 15"/>
          <p:cNvSpPr/>
          <p:nvPr/>
        </p:nvSpPr>
        <p:spPr>
          <a:xfrm>
            <a:off x="4690872" y="2770632"/>
            <a:ext cx="1773936" cy="594360"/>
          </a:xfrm>
          <a:prstGeom prst="rect">
            <a:avLst/>
          </a:prstGeom>
          <a:noFill/>
          <a:ln/>
        </p:spPr>
        <p:txBody>
          <a:bodyPr wrap="square" rtlCol="0" anchor="ctr"/>
          <a:lstStyle/>
          <a:p>
            <a:pPr marL="0" indent="0" algn="ctr">
              <a:buNone/>
            </a:pPr>
            <a:r>
              <a:rPr lang="en-US" sz="1050" dirty="0">
                <a:solidFill>
                  <a:srgbClr val="B0C4DE"/>
                </a:solidFill>
                <a:latin typeface="Calibri" pitchFamily="34" charset="0"/>
                <a:ea typeface="Calibri" pitchFamily="34" charset="-122"/>
                <a:cs typeface="Calibri" pitchFamily="34" charset="-120"/>
              </a:rPr>
              <a:t>Voice/face cloning used for social engineering attacks</a:t>
            </a:r>
            <a:endParaRPr lang="en-US" sz="1050" dirty="0"/>
          </a:p>
        </p:txBody>
      </p:sp>
      <p:sp>
        <p:nvSpPr>
          <p:cNvPr id="18" name="Shape 16"/>
          <p:cNvSpPr/>
          <p:nvPr/>
        </p:nvSpPr>
        <p:spPr>
          <a:xfrm>
            <a:off x="6766560" y="1993392"/>
            <a:ext cx="1920240" cy="1417320"/>
          </a:xfrm>
          <a:prstGeom prst="roundRect">
            <a:avLst>
              <a:gd name="adj" fmla="val 5806"/>
            </a:avLst>
          </a:prstGeom>
          <a:solidFill>
            <a:srgbClr val="162638"/>
          </a:solidFill>
          <a:ln/>
          <a:effectLst>
            <a:outerShdw blurRad="101600" dist="38100" dir="2700000" algn="bl" rotWithShape="0">
              <a:srgbClr val="000000">
                <a:alpha val="25000"/>
              </a:srgbClr>
            </a:outerShdw>
          </a:effectLst>
        </p:spPr>
      </p:sp>
      <p:sp>
        <p:nvSpPr>
          <p:cNvPr id="19" name="Text 17"/>
          <p:cNvSpPr/>
          <p:nvPr/>
        </p:nvSpPr>
        <p:spPr>
          <a:xfrm>
            <a:off x="6766560" y="2048256"/>
            <a:ext cx="1920240" cy="347472"/>
          </a:xfrm>
          <a:prstGeom prst="rect">
            <a:avLst/>
          </a:prstGeom>
          <a:noFill/>
          <a:ln/>
        </p:spPr>
        <p:txBody>
          <a:bodyPr wrap="square" rtlCol="0" anchor="ctr"/>
          <a:lstStyle/>
          <a:p>
            <a:pPr marL="0" indent="0" algn="ctr">
              <a:buNone/>
            </a:pPr>
            <a:r>
              <a:rPr lang="en-US" sz="1800" dirty="0">
                <a:solidFill>
                  <a:srgbClr val="000000"/>
                </a:solidFill>
              </a:rPr>
              <a:t>🔵</a:t>
            </a:r>
            <a:endParaRPr lang="en-US" sz="1800" dirty="0"/>
          </a:p>
        </p:txBody>
      </p:sp>
      <p:sp>
        <p:nvSpPr>
          <p:cNvPr id="20" name="Text 18"/>
          <p:cNvSpPr/>
          <p:nvPr/>
        </p:nvSpPr>
        <p:spPr>
          <a:xfrm>
            <a:off x="6766560" y="2423160"/>
            <a:ext cx="1920240" cy="320040"/>
          </a:xfrm>
          <a:prstGeom prst="rect">
            <a:avLst/>
          </a:prstGeom>
          <a:noFill/>
          <a:ln/>
        </p:spPr>
        <p:txBody>
          <a:bodyPr wrap="square" rtlCol="0" anchor="ctr"/>
          <a:lstStyle/>
          <a:p>
            <a:pPr marL="0" indent="0" algn="ctr">
              <a:buNone/>
            </a:pPr>
            <a:r>
              <a:rPr lang="en-US" sz="1200" b="1" dirty="0">
                <a:solidFill>
                  <a:srgbClr val="00C9A7"/>
                </a:solidFill>
                <a:latin typeface="Calibri" pitchFamily="34" charset="0"/>
                <a:ea typeface="Calibri" pitchFamily="34" charset="-122"/>
                <a:cs typeface="Calibri" pitchFamily="34" charset="-120"/>
              </a:rPr>
              <a:t>Security Risk</a:t>
            </a:r>
            <a:endParaRPr lang="en-US" sz="1200" dirty="0"/>
          </a:p>
        </p:txBody>
      </p:sp>
      <p:sp>
        <p:nvSpPr>
          <p:cNvPr id="21" name="Text 19"/>
          <p:cNvSpPr/>
          <p:nvPr/>
        </p:nvSpPr>
        <p:spPr>
          <a:xfrm>
            <a:off x="6839712" y="2770632"/>
            <a:ext cx="1773936" cy="594360"/>
          </a:xfrm>
          <a:prstGeom prst="rect">
            <a:avLst/>
          </a:prstGeom>
          <a:noFill/>
          <a:ln/>
        </p:spPr>
        <p:txBody>
          <a:bodyPr wrap="square" rtlCol="0" anchor="ctr"/>
          <a:lstStyle/>
          <a:p>
            <a:pPr marL="0" indent="0" algn="ctr">
              <a:buNone/>
            </a:pPr>
            <a:r>
              <a:rPr lang="en-US" sz="1050" dirty="0">
                <a:solidFill>
                  <a:srgbClr val="B0C4DE"/>
                </a:solidFill>
                <a:latin typeface="Calibri" pitchFamily="34" charset="0"/>
                <a:ea typeface="Calibri" pitchFamily="34" charset="-122"/>
                <a:cs typeface="Calibri" pitchFamily="34" charset="-120"/>
              </a:rPr>
              <a:t>Bypasses biometric authentication systems</a:t>
            </a:r>
            <a:endParaRPr lang="en-US" sz="1050" dirty="0"/>
          </a:p>
        </p:txBody>
      </p:sp>
      <p:sp>
        <p:nvSpPr>
          <p:cNvPr id="22" name="Text 20"/>
          <p:cNvSpPr/>
          <p:nvPr/>
        </p:nvSpPr>
        <p:spPr>
          <a:xfrm>
            <a:off x="457200" y="3584448"/>
            <a:ext cx="3657600" cy="320040"/>
          </a:xfrm>
          <a:prstGeom prst="rect">
            <a:avLst/>
          </a:prstGeom>
          <a:noFill/>
          <a:ln/>
        </p:spPr>
        <p:txBody>
          <a:bodyPr wrap="square"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Why Detection is Hard</a:t>
            </a:r>
            <a:endParaRPr lang="en-US" sz="1300" dirty="0"/>
          </a:p>
        </p:txBody>
      </p:sp>
      <p:sp>
        <p:nvSpPr>
          <p:cNvPr id="23" name="Text 21"/>
          <p:cNvSpPr/>
          <p:nvPr/>
        </p:nvSpPr>
        <p:spPr>
          <a:xfrm>
            <a:off x="457200" y="3950208"/>
            <a:ext cx="8229600" cy="292608"/>
          </a:xfrm>
          <a:prstGeom prst="rect">
            <a:avLst/>
          </a:prstGeom>
          <a:noFill/>
          <a:ln/>
        </p:spPr>
        <p:txBody>
          <a:bodyPr wrap="square" rtlCol="0" anchor="ctr"/>
          <a:lstStyle/>
          <a:p>
            <a:pPr marL="0" indent="0">
              <a:buNone/>
            </a:pPr>
            <a:r>
              <a:rPr lang="en-US" sz="1200" b="1" dirty="0">
                <a:solidFill>
                  <a:srgbClr val="00C9A7"/>
                </a:solidFill>
                <a:latin typeface="Calibri" pitchFamily="34" charset="0"/>
                <a:ea typeface="Calibri" pitchFamily="34" charset="-122"/>
                <a:cs typeface="Calibri" pitchFamily="34" charset="-120"/>
              </a:rPr>
              <a:t>→ </a:t>
            </a:r>
            <a:r>
              <a:rPr lang="en-US" sz="1200" dirty="0">
                <a:solidFill>
                  <a:srgbClr val="B0C4DE"/>
                </a:solidFill>
                <a:latin typeface="Calibri" pitchFamily="34" charset="0"/>
                <a:ea typeface="Calibri" pitchFamily="34" charset="-122"/>
                <a:cs typeface="Calibri" pitchFamily="34" charset="-120"/>
              </a:rPr>
              <a:t>Modern deepfakes fool both humans and classical algorithms</a:t>
            </a:r>
            <a:endParaRPr lang="en-US" sz="1200" dirty="0"/>
          </a:p>
        </p:txBody>
      </p:sp>
      <p:sp>
        <p:nvSpPr>
          <p:cNvPr id="24" name="Text 22"/>
          <p:cNvSpPr/>
          <p:nvPr/>
        </p:nvSpPr>
        <p:spPr>
          <a:xfrm>
            <a:off x="457200" y="4288536"/>
            <a:ext cx="8229600" cy="292608"/>
          </a:xfrm>
          <a:prstGeom prst="rect">
            <a:avLst/>
          </a:prstGeom>
          <a:noFill/>
          <a:ln/>
        </p:spPr>
        <p:txBody>
          <a:bodyPr wrap="square" rtlCol="0" anchor="ctr"/>
          <a:lstStyle/>
          <a:p>
            <a:pPr marL="0" indent="0">
              <a:buNone/>
            </a:pPr>
            <a:r>
              <a:rPr lang="en-US" sz="1200" b="1" dirty="0">
                <a:solidFill>
                  <a:srgbClr val="00C9A7"/>
                </a:solidFill>
                <a:latin typeface="Calibri" pitchFamily="34" charset="0"/>
                <a:ea typeface="Calibri" pitchFamily="34" charset="-122"/>
                <a:cs typeface="Calibri" pitchFamily="34" charset="-120"/>
              </a:rPr>
              <a:t>→ </a:t>
            </a:r>
            <a:r>
              <a:rPr lang="en-US" sz="1200" dirty="0">
                <a:solidFill>
                  <a:srgbClr val="B0C4DE"/>
                </a:solidFill>
                <a:latin typeface="Calibri" pitchFamily="34" charset="0"/>
                <a:ea typeface="Calibri" pitchFamily="34" charset="-122"/>
                <a:cs typeface="Calibri" pitchFamily="34" charset="-120"/>
              </a:rPr>
              <a:t>Manipulation strategies evolve faster than detectors</a:t>
            </a:r>
            <a:endParaRPr lang="en-US" sz="1200" dirty="0"/>
          </a:p>
        </p:txBody>
      </p:sp>
      <p:sp>
        <p:nvSpPr>
          <p:cNvPr id="25" name="Text 23"/>
          <p:cNvSpPr/>
          <p:nvPr/>
        </p:nvSpPr>
        <p:spPr>
          <a:xfrm>
            <a:off x="457200" y="4626864"/>
            <a:ext cx="8229600" cy="292608"/>
          </a:xfrm>
          <a:prstGeom prst="rect">
            <a:avLst/>
          </a:prstGeom>
          <a:noFill/>
          <a:ln/>
        </p:spPr>
        <p:txBody>
          <a:bodyPr wrap="square" rtlCol="0" anchor="ctr"/>
          <a:lstStyle/>
          <a:p>
            <a:pPr marL="0" indent="0">
              <a:buNone/>
            </a:pPr>
            <a:r>
              <a:rPr lang="en-US" sz="1200" b="1" dirty="0">
                <a:solidFill>
                  <a:srgbClr val="00C9A7"/>
                </a:solidFill>
                <a:latin typeface="Calibri" pitchFamily="34" charset="0"/>
                <a:ea typeface="Calibri" pitchFamily="34" charset="-122"/>
                <a:cs typeface="Calibri" pitchFamily="34" charset="-120"/>
              </a:rPr>
              <a:t>→ </a:t>
            </a:r>
            <a:r>
              <a:rPr lang="en-US" sz="1200" dirty="0">
                <a:solidFill>
                  <a:srgbClr val="B0C4DE"/>
                </a:solidFill>
                <a:latin typeface="Calibri" pitchFamily="34" charset="0"/>
                <a:ea typeface="Calibri" pitchFamily="34" charset="-122"/>
                <a:cs typeface="Calibri" pitchFamily="34" charset="-120"/>
              </a:rPr>
              <a:t>Social media compression hides forgery artifacts</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F1B2D"/>
        </a:solidFill>
        <a:effectLst/>
      </p:bgPr>
    </p:bg>
    <p:spTree>
      <p:nvGrpSpPr>
        <p:cNvPr id="1" name=""/>
        <p:cNvGrpSpPr/>
        <p:nvPr/>
      </p:nvGrpSpPr>
      <p:grpSpPr>
        <a:xfrm>
          <a:off x="0" y="0"/>
          <a:ext cx="0" cy="0"/>
          <a:chOff x="0" y="0"/>
          <a:chExt cx="0" cy="0"/>
        </a:xfrm>
      </p:grpSpPr>
      <p:sp>
        <p:nvSpPr>
          <p:cNvPr id="2" name="Text 0"/>
          <p:cNvSpPr/>
          <p:nvPr/>
        </p:nvSpPr>
        <p:spPr>
          <a:xfrm>
            <a:off x="457200" y="256032"/>
            <a:ext cx="8229600" cy="566928"/>
          </a:xfrm>
          <a:prstGeom prst="rect">
            <a:avLst/>
          </a:prstGeom>
          <a:noFill/>
          <a:ln/>
        </p:spPr>
        <p:txBody>
          <a:bodyPr wrap="square" rtlCol="0" anchor="ctr"/>
          <a:lstStyle/>
          <a:p>
            <a:pPr marL="0" indent="0">
              <a:buNone/>
            </a:pPr>
            <a:r>
              <a:rPr lang="en-US" sz="3200" b="1" dirty="0">
                <a:solidFill>
                  <a:srgbClr val="FFFFFF"/>
                </a:solidFill>
                <a:latin typeface="Cambria" pitchFamily="34" charset="0"/>
                <a:ea typeface="Cambria" pitchFamily="34" charset="-122"/>
                <a:cs typeface="Cambria" pitchFamily="34" charset="-120"/>
              </a:rPr>
              <a:t>Literature Review</a:t>
            </a:r>
            <a:endParaRPr lang="en-US" sz="3200" dirty="0"/>
          </a:p>
        </p:txBody>
      </p:sp>
      <p:sp>
        <p:nvSpPr>
          <p:cNvPr id="3" name="Shape 1"/>
          <p:cNvSpPr/>
          <p:nvPr/>
        </p:nvSpPr>
        <p:spPr>
          <a:xfrm>
            <a:off x="457200" y="850392"/>
            <a:ext cx="8229600" cy="27432"/>
          </a:xfrm>
          <a:prstGeom prst="rect">
            <a:avLst/>
          </a:prstGeom>
          <a:solidFill>
            <a:srgbClr val="00C9A7"/>
          </a:solidFill>
          <a:ln/>
        </p:spPr>
      </p:sp>
      <p:sp>
        <p:nvSpPr>
          <p:cNvPr id="4" name="Shape 2"/>
          <p:cNvSpPr/>
          <p:nvPr/>
        </p:nvSpPr>
        <p:spPr>
          <a:xfrm>
            <a:off x="457200" y="987552"/>
            <a:ext cx="8229600" cy="749808"/>
          </a:xfrm>
          <a:prstGeom prst="roundRect">
            <a:avLst>
              <a:gd name="adj" fmla="val 10976"/>
            </a:avLst>
          </a:prstGeom>
          <a:solidFill>
            <a:srgbClr val="1A2F4A"/>
          </a:solidFill>
          <a:ln/>
          <a:effectLst>
            <a:outerShdw blurRad="101600" dist="38100" dir="2700000" algn="bl" rotWithShape="0">
              <a:srgbClr val="000000">
                <a:alpha val="25000"/>
              </a:srgbClr>
            </a:outerShdw>
          </a:effectLst>
        </p:spPr>
      </p:sp>
      <p:sp>
        <p:nvSpPr>
          <p:cNvPr id="5" name="Text 3"/>
          <p:cNvSpPr/>
          <p:nvPr/>
        </p:nvSpPr>
        <p:spPr>
          <a:xfrm>
            <a:off x="594360" y="1115568"/>
            <a:ext cx="7900416" cy="365760"/>
          </a:xfrm>
          <a:prstGeom prst="rect">
            <a:avLst/>
          </a:prstGeom>
          <a:noFill/>
          <a:ln/>
        </p:spPr>
        <p:txBody>
          <a:bodyPr wrap="square" rtlCol="0" anchor="ctr"/>
          <a:lstStyle/>
          <a:p>
            <a:pPr marL="0" indent="0">
              <a:buNone/>
            </a:pPr>
            <a:r>
              <a:rPr lang="en-US" sz="1400" b="1" i="1" dirty="0">
                <a:solidFill>
                  <a:srgbClr val="FFD93D"/>
                </a:solidFill>
                <a:latin typeface="Cambria" pitchFamily="34" charset="0"/>
                <a:ea typeface="Cambria" pitchFamily="34" charset="-122"/>
                <a:cs typeface="Cambria" pitchFamily="34" charset="-120"/>
              </a:rPr>
              <a:t>"Towards Benchmarking and Evaluating Deepfake Detection"</a:t>
            </a:r>
            <a:endParaRPr lang="en-US" sz="1400" dirty="0"/>
          </a:p>
        </p:txBody>
      </p:sp>
      <p:sp>
        <p:nvSpPr>
          <p:cNvPr id="6" name="Text 4"/>
          <p:cNvSpPr/>
          <p:nvPr/>
        </p:nvSpPr>
        <p:spPr>
          <a:xfrm>
            <a:off x="621792" y="1408176"/>
            <a:ext cx="7900416" cy="274320"/>
          </a:xfrm>
          <a:prstGeom prst="rect">
            <a:avLst/>
          </a:prstGeom>
          <a:noFill/>
          <a:ln/>
        </p:spPr>
        <p:txBody>
          <a:bodyPr wrap="square" rtlCol="0" anchor="ctr"/>
          <a:lstStyle/>
          <a:p>
            <a:pPr marL="0" indent="0">
              <a:buNone/>
            </a:pPr>
            <a:endParaRPr lang="en-US" sz="1000" dirty="0"/>
          </a:p>
        </p:txBody>
      </p:sp>
      <p:sp>
        <p:nvSpPr>
          <p:cNvPr id="7" name="Shape 5"/>
          <p:cNvSpPr/>
          <p:nvPr/>
        </p:nvSpPr>
        <p:spPr>
          <a:xfrm>
            <a:off x="365760" y="1874520"/>
            <a:ext cx="2651760" cy="3108960"/>
          </a:xfrm>
          <a:prstGeom prst="roundRect">
            <a:avLst>
              <a:gd name="adj" fmla="val 3103"/>
            </a:avLst>
          </a:prstGeom>
          <a:solidFill>
            <a:srgbClr val="162638"/>
          </a:solidFill>
          <a:ln/>
          <a:effectLst>
            <a:outerShdw blurRad="101600" dist="38100" dir="2700000" algn="bl" rotWithShape="0">
              <a:srgbClr val="000000">
                <a:alpha val="25000"/>
              </a:srgbClr>
            </a:outerShdw>
          </a:effectLst>
        </p:spPr>
      </p:sp>
      <p:sp>
        <p:nvSpPr>
          <p:cNvPr id="8" name="Text 6"/>
          <p:cNvSpPr/>
          <p:nvPr/>
        </p:nvSpPr>
        <p:spPr>
          <a:xfrm>
            <a:off x="457200" y="1920240"/>
            <a:ext cx="2468880" cy="438912"/>
          </a:xfrm>
          <a:prstGeom prst="rect">
            <a:avLst/>
          </a:prstGeom>
          <a:noFill/>
          <a:ln/>
        </p:spPr>
        <p:txBody>
          <a:bodyPr wrap="square" rtlCol="0" anchor="ctr"/>
          <a:lstStyle/>
          <a:p>
            <a:pPr marL="0" indent="0" algn="ctr">
              <a:buNone/>
            </a:pPr>
            <a:r>
              <a:rPr lang="en-US" sz="1200" b="1" dirty="0">
                <a:solidFill>
                  <a:srgbClr val="00C9A7"/>
                </a:solidFill>
                <a:latin typeface="Calibri" pitchFamily="34" charset="0"/>
                <a:ea typeface="Calibri" pitchFamily="34" charset="-122"/>
                <a:cs typeface="Calibri" pitchFamily="34" charset="-120"/>
              </a:rPr>
              <a:t>Paper's Key Findings</a:t>
            </a:r>
            <a:endParaRPr lang="en-US" sz="1200" dirty="0"/>
          </a:p>
        </p:txBody>
      </p:sp>
      <p:sp>
        <p:nvSpPr>
          <p:cNvPr id="9" name="Shape 7"/>
          <p:cNvSpPr/>
          <p:nvPr/>
        </p:nvSpPr>
        <p:spPr>
          <a:xfrm>
            <a:off x="594360" y="2377440"/>
            <a:ext cx="2194560" cy="18288"/>
          </a:xfrm>
          <a:prstGeom prst="rect">
            <a:avLst/>
          </a:prstGeom>
          <a:solidFill>
            <a:srgbClr val="00C9A7">
              <a:alpha val="60000"/>
            </a:srgbClr>
          </a:solidFill>
          <a:ln/>
        </p:spPr>
      </p:sp>
      <p:sp>
        <p:nvSpPr>
          <p:cNvPr id="10" name="Text 8"/>
          <p:cNvSpPr/>
          <p:nvPr/>
        </p:nvSpPr>
        <p:spPr>
          <a:xfrm>
            <a:off x="457200" y="2450592"/>
            <a:ext cx="2468880" cy="548640"/>
          </a:xfrm>
          <a:prstGeom prst="rect">
            <a:avLst/>
          </a:prstGeom>
          <a:noFill/>
          <a:ln/>
        </p:spPr>
        <p:txBody>
          <a:bodyPr wrap="square" rtlCol="0" anchor="ctr"/>
          <a:lstStyle/>
          <a:p>
            <a:pPr marL="0" indent="0">
              <a:buNone/>
            </a:pPr>
            <a:r>
              <a:rPr lang="en-US" sz="1100" dirty="0">
                <a:solidFill>
                  <a:srgbClr val="00C9A7"/>
                </a:solidFill>
                <a:latin typeface="Calibri" pitchFamily="34" charset="0"/>
                <a:ea typeface="Calibri" pitchFamily="34" charset="-122"/>
                <a:cs typeface="Calibri" pitchFamily="34" charset="-120"/>
              </a:rPr>
              <a:t>▸ </a:t>
            </a:r>
            <a:r>
              <a:rPr lang="en-US" sz="1100" dirty="0">
                <a:solidFill>
                  <a:srgbClr val="B0C4DE"/>
                </a:solidFill>
                <a:latin typeface="Calibri" pitchFamily="34" charset="0"/>
                <a:ea typeface="Calibri" pitchFamily="34" charset="-122"/>
                <a:cs typeface="Calibri" pitchFamily="34" charset="-120"/>
              </a:rPr>
              <a:t>13 detection methods, 7 datasets, 882 evaluations</a:t>
            </a:r>
            <a:endParaRPr lang="en-US" sz="1100" dirty="0"/>
          </a:p>
        </p:txBody>
      </p:sp>
      <p:sp>
        <p:nvSpPr>
          <p:cNvPr id="11" name="Text 9"/>
          <p:cNvSpPr/>
          <p:nvPr/>
        </p:nvSpPr>
        <p:spPr>
          <a:xfrm>
            <a:off x="457200" y="3054096"/>
            <a:ext cx="2468880" cy="548640"/>
          </a:xfrm>
          <a:prstGeom prst="rect">
            <a:avLst/>
          </a:prstGeom>
          <a:noFill/>
          <a:ln/>
        </p:spPr>
        <p:txBody>
          <a:bodyPr wrap="square" rtlCol="0" anchor="ctr"/>
          <a:lstStyle/>
          <a:p>
            <a:pPr marL="0" indent="0">
              <a:buNone/>
            </a:pPr>
            <a:r>
              <a:rPr lang="en-US" sz="1100" dirty="0">
                <a:solidFill>
                  <a:srgbClr val="00C9A7"/>
                </a:solidFill>
                <a:latin typeface="Calibri" pitchFamily="34" charset="0"/>
                <a:ea typeface="Calibri" pitchFamily="34" charset="-122"/>
                <a:cs typeface="Calibri" pitchFamily="34" charset="-120"/>
              </a:rPr>
              <a:t>▸ </a:t>
            </a:r>
            <a:r>
              <a:rPr lang="en-US" sz="1100" dirty="0">
                <a:solidFill>
                  <a:srgbClr val="B0C4DE"/>
                </a:solidFill>
                <a:latin typeface="Calibri" pitchFamily="34" charset="0"/>
                <a:ea typeface="Calibri" pitchFamily="34" charset="-122"/>
                <a:cs typeface="Calibri" pitchFamily="34" charset="-120"/>
              </a:rPr>
              <a:t>All methods fail on challenging cross-domain data</a:t>
            </a:r>
            <a:endParaRPr lang="en-US" sz="1100" dirty="0"/>
          </a:p>
        </p:txBody>
      </p:sp>
      <p:sp>
        <p:nvSpPr>
          <p:cNvPr id="12" name="Text 10"/>
          <p:cNvSpPr/>
          <p:nvPr/>
        </p:nvSpPr>
        <p:spPr>
          <a:xfrm>
            <a:off x="457200" y="3657600"/>
            <a:ext cx="2468880" cy="548640"/>
          </a:xfrm>
          <a:prstGeom prst="rect">
            <a:avLst/>
          </a:prstGeom>
          <a:noFill/>
          <a:ln/>
        </p:spPr>
        <p:txBody>
          <a:bodyPr wrap="square" rtlCol="0" anchor="ctr"/>
          <a:lstStyle/>
          <a:p>
            <a:pPr marL="0" indent="0">
              <a:buNone/>
            </a:pPr>
            <a:r>
              <a:rPr lang="en-US" sz="1100" dirty="0">
                <a:solidFill>
                  <a:srgbClr val="00C9A7"/>
                </a:solidFill>
                <a:latin typeface="Calibri" pitchFamily="34" charset="0"/>
                <a:ea typeface="Calibri" pitchFamily="34" charset="-122"/>
                <a:cs typeface="Calibri" pitchFamily="34" charset="-120"/>
              </a:rPr>
              <a:t>▸ </a:t>
            </a:r>
            <a:r>
              <a:rPr lang="en-US" sz="1100" dirty="0">
                <a:solidFill>
                  <a:srgbClr val="B0C4DE"/>
                </a:solidFill>
                <a:latin typeface="Calibri" pitchFamily="34" charset="0"/>
                <a:ea typeface="Calibri" pitchFamily="34" charset="-122"/>
                <a:cs typeface="Calibri" pitchFamily="34" charset="-120"/>
              </a:rPr>
              <a:t>No single method outperforms all others</a:t>
            </a:r>
            <a:endParaRPr lang="en-US" sz="1100" dirty="0"/>
          </a:p>
        </p:txBody>
      </p:sp>
      <p:sp>
        <p:nvSpPr>
          <p:cNvPr id="13" name="Text 11"/>
          <p:cNvSpPr/>
          <p:nvPr/>
        </p:nvSpPr>
        <p:spPr>
          <a:xfrm>
            <a:off x="457200" y="4261104"/>
            <a:ext cx="2468880" cy="548640"/>
          </a:xfrm>
          <a:prstGeom prst="rect">
            <a:avLst/>
          </a:prstGeom>
          <a:noFill/>
          <a:ln/>
        </p:spPr>
        <p:txBody>
          <a:bodyPr wrap="square" rtlCol="0" anchor="ctr"/>
          <a:lstStyle/>
          <a:p>
            <a:pPr marL="0" indent="0">
              <a:buNone/>
            </a:pPr>
            <a:r>
              <a:rPr lang="en-US" sz="1100" dirty="0">
                <a:solidFill>
                  <a:srgbClr val="00C9A7"/>
                </a:solidFill>
                <a:latin typeface="Calibri" pitchFamily="34" charset="0"/>
                <a:ea typeface="Calibri" pitchFamily="34" charset="-122"/>
                <a:cs typeface="Calibri" pitchFamily="34" charset="-120"/>
              </a:rPr>
              <a:t>▸ </a:t>
            </a:r>
            <a:r>
              <a:rPr lang="en-US" sz="1100" dirty="0">
                <a:solidFill>
                  <a:srgbClr val="B0C4DE"/>
                </a:solidFill>
                <a:latin typeface="Calibri" pitchFamily="34" charset="0"/>
                <a:ea typeface="Calibri" pitchFamily="34" charset="-122"/>
                <a:cs typeface="Calibri" pitchFamily="34" charset="-120"/>
              </a:rPr>
              <a:t>Performance gaps in prior works were inflated by unfair training setups</a:t>
            </a:r>
            <a:endParaRPr lang="en-US" sz="1100" dirty="0"/>
          </a:p>
        </p:txBody>
      </p:sp>
      <p:sp>
        <p:nvSpPr>
          <p:cNvPr id="14" name="Shape 12"/>
          <p:cNvSpPr/>
          <p:nvPr/>
        </p:nvSpPr>
        <p:spPr>
          <a:xfrm>
            <a:off x="3200400" y="1874520"/>
            <a:ext cx="2651760" cy="3108960"/>
          </a:xfrm>
          <a:prstGeom prst="roundRect">
            <a:avLst>
              <a:gd name="adj" fmla="val 3103"/>
            </a:avLst>
          </a:prstGeom>
          <a:solidFill>
            <a:srgbClr val="162638"/>
          </a:solidFill>
          <a:ln/>
          <a:effectLst>
            <a:outerShdw blurRad="101600" dist="38100" dir="2700000" algn="bl" rotWithShape="0">
              <a:srgbClr val="000000">
                <a:alpha val="25000"/>
              </a:srgbClr>
            </a:outerShdw>
          </a:effectLst>
        </p:spPr>
      </p:sp>
      <p:sp>
        <p:nvSpPr>
          <p:cNvPr id="15" name="Text 13"/>
          <p:cNvSpPr/>
          <p:nvPr/>
        </p:nvSpPr>
        <p:spPr>
          <a:xfrm>
            <a:off x="3291840" y="1920240"/>
            <a:ext cx="2468880" cy="438912"/>
          </a:xfrm>
          <a:prstGeom prst="rect">
            <a:avLst/>
          </a:prstGeom>
          <a:noFill/>
          <a:ln/>
        </p:spPr>
        <p:txBody>
          <a:bodyPr wrap="square" rtlCol="0" anchor="ctr"/>
          <a:lstStyle/>
          <a:p>
            <a:pPr marL="0" indent="0" algn="ctr">
              <a:buNone/>
            </a:pPr>
            <a:r>
              <a:rPr lang="en-US" sz="1200" b="1" dirty="0">
                <a:solidFill>
                  <a:srgbClr val="FFD93D"/>
                </a:solidFill>
                <a:latin typeface="Calibri" pitchFamily="34" charset="0"/>
                <a:ea typeface="Calibri" pitchFamily="34" charset="-122"/>
                <a:cs typeface="Calibri" pitchFamily="34" charset="-120"/>
              </a:rPr>
              <a:t>Why AUC, Not Accuracy?</a:t>
            </a:r>
            <a:endParaRPr lang="en-US" sz="1200" dirty="0"/>
          </a:p>
        </p:txBody>
      </p:sp>
      <p:sp>
        <p:nvSpPr>
          <p:cNvPr id="16" name="Shape 14"/>
          <p:cNvSpPr/>
          <p:nvPr/>
        </p:nvSpPr>
        <p:spPr>
          <a:xfrm>
            <a:off x="3429000" y="2377440"/>
            <a:ext cx="2194560" cy="18288"/>
          </a:xfrm>
          <a:prstGeom prst="rect">
            <a:avLst/>
          </a:prstGeom>
          <a:solidFill>
            <a:srgbClr val="FFD93D">
              <a:alpha val="60000"/>
            </a:srgbClr>
          </a:solidFill>
          <a:ln/>
        </p:spPr>
      </p:sp>
      <p:sp>
        <p:nvSpPr>
          <p:cNvPr id="17" name="Text 15"/>
          <p:cNvSpPr/>
          <p:nvPr/>
        </p:nvSpPr>
        <p:spPr>
          <a:xfrm>
            <a:off x="3291840" y="2450592"/>
            <a:ext cx="2468880" cy="548640"/>
          </a:xfrm>
          <a:prstGeom prst="rect">
            <a:avLst/>
          </a:prstGeom>
          <a:noFill/>
          <a:ln/>
        </p:spPr>
        <p:txBody>
          <a:bodyPr wrap="square" rtlCol="0" anchor="ctr"/>
          <a:lstStyle/>
          <a:p>
            <a:pPr marL="0" indent="0">
              <a:buNone/>
            </a:pPr>
            <a:r>
              <a:rPr lang="en-US" sz="1100" dirty="0">
                <a:solidFill>
                  <a:srgbClr val="FFD93D"/>
                </a:solidFill>
                <a:latin typeface="Calibri" pitchFamily="34" charset="0"/>
                <a:ea typeface="Calibri" pitchFamily="34" charset="-122"/>
                <a:cs typeface="Calibri" pitchFamily="34" charset="-120"/>
              </a:rPr>
              <a:t>▸ </a:t>
            </a:r>
            <a:r>
              <a:rPr lang="en-US" sz="1100" dirty="0">
                <a:solidFill>
                  <a:srgbClr val="B0C4DE"/>
                </a:solidFill>
                <a:latin typeface="Calibri" pitchFamily="34" charset="0"/>
                <a:ea typeface="Calibri" pitchFamily="34" charset="-122"/>
                <a:cs typeface="Calibri" pitchFamily="34" charset="-120"/>
              </a:rPr>
              <a:t>Accuracy is sensitive to class imbalance (more real than fake in wild)</a:t>
            </a:r>
            <a:endParaRPr lang="en-US" sz="1100" dirty="0"/>
          </a:p>
        </p:txBody>
      </p:sp>
      <p:sp>
        <p:nvSpPr>
          <p:cNvPr id="18" name="Text 16"/>
          <p:cNvSpPr/>
          <p:nvPr/>
        </p:nvSpPr>
        <p:spPr>
          <a:xfrm>
            <a:off x="3291840" y="3054096"/>
            <a:ext cx="2468880" cy="548640"/>
          </a:xfrm>
          <a:prstGeom prst="rect">
            <a:avLst/>
          </a:prstGeom>
          <a:noFill/>
          <a:ln/>
        </p:spPr>
        <p:txBody>
          <a:bodyPr wrap="square" rtlCol="0" anchor="ctr"/>
          <a:lstStyle/>
          <a:p>
            <a:pPr marL="0" indent="0">
              <a:buNone/>
            </a:pPr>
            <a:r>
              <a:rPr lang="en-US" sz="1100" dirty="0">
                <a:solidFill>
                  <a:srgbClr val="FFD93D"/>
                </a:solidFill>
                <a:latin typeface="Calibri" pitchFamily="34" charset="0"/>
                <a:ea typeface="Calibri" pitchFamily="34" charset="-122"/>
                <a:cs typeface="Calibri" pitchFamily="34" charset="-120"/>
              </a:rPr>
              <a:t>▸ </a:t>
            </a:r>
            <a:r>
              <a:rPr lang="en-US" sz="1100" dirty="0">
                <a:solidFill>
                  <a:srgbClr val="B0C4DE"/>
                </a:solidFill>
                <a:latin typeface="Calibri" pitchFamily="34" charset="0"/>
                <a:ea typeface="Calibri" pitchFamily="34" charset="-122"/>
                <a:cs typeface="Calibri" pitchFamily="34" charset="-120"/>
              </a:rPr>
              <a:t>AUC measures ranking ability across all thresholds</a:t>
            </a:r>
            <a:endParaRPr lang="en-US" sz="1100" dirty="0"/>
          </a:p>
        </p:txBody>
      </p:sp>
      <p:sp>
        <p:nvSpPr>
          <p:cNvPr id="19" name="Text 17"/>
          <p:cNvSpPr/>
          <p:nvPr/>
        </p:nvSpPr>
        <p:spPr>
          <a:xfrm>
            <a:off x="3291840" y="3657600"/>
            <a:ext cx="2468880" cy="548640"/>
          </a:xfrm>
          <a:prstGeom prst="rect">
            <a:avLst/>
          </a:prstGeom>
          <a:noFill/>
          <a:ln/>
        </p:spPr>
        <p:txBody>
          <a:bodyPr wrap="square" rtlCol="0" anchor="ctr"/>
          <a:lstStyle/>
          <a:p>
            <a:pPr marL="0" indent="0">
              <a:buNone/>
            </a:pPr>
            <a:r>
              <a:rPr lang="en-US" sz="1100" dirty="0">
                <a:solidFill>
                  <a:srgbClr val="FFD93D"/>
                </a:solidFill>
                <a:latin typeface="Calibri" pitchFamily="34" charset="0"/>
                <a:ea typeface="Calibri" pitchFamily="34" charset="-122"/>
                <a:cs typeface="Calibri" pitchFamily="34" charset="-120"/>
              </a:rPr>
              <a:t>▸ </a:t>
            </a:r>
            <a:r>
              <a:rPr lang="en-US" sz="1100" dirty="0">
                <a:solidFill>
                  <a:srgbClr val="B0C4DE"/>
                </a:solidFill>
                <a:latin typeface="Calibri" pitchFamily="34" charset="0"/>
                <a:ea typeface="Calibri" pitchFamily="34" charset="-122"/>
                <a:cs typeface="Calibri" pitchFamily="34" charset="-120"/>
              </a:rPr>
              <a:t>Threshold-independent — works at any operating point</a:t>
            </a:r>
            <a:endParaRPr lang="en-US" sz="1100" dirty="0"/>
          </a:p>
        </p:txBody>
      </p:sp>
      <p:sp>
        <p:nvSpPr>
          <p:cNvPr id="20" name="Text 18"/>
          <p:cNvSpPr/>
          <p:nvPr/>
        </p:nvSpPr>
        <p:spPr>
          <a:xfrm>
            <a:off x="3291840" y="4261104"/>
            <a:ext cx="2468880" cy="548640"/>
          </a:xfrm>
          <a:prstGeom prst="rect">
            <a:avLst/>
          </a:prstGeom>
          <a:noFill/>
          <a:ln/>
        </p:spPr>
        <p:txBody>
          <a:bodyPr wrap="square" rtlCol="0" anchor="ctr"/>
          <a:lstStyle/>
          <a:p>
            <a:pPr marL="0" indent="0">
              <a:buNone/>
            </a:pPr>
            <a:r>
              <a:rPr lang="en-US" sz="1100" dirty="0">
                <a:solidFill>
                  <a:srgbClr val="FFD93D"/>
                </a:solidFill>
                <a:latin typeface="Calibri" pitchFamily="34" charset="0"/>
                <a:ea typeface="Calibri" pitchFamily="34" charset="-122"/>
                <a:cs typeface="Calibri" pitchFamily="34" charset="-120"/>
              </a:rPr>
              <a:t>▸ </a:t>
            </a:r>
            <a:r>
              <a:rPr lang="en-US" sz="1100" dirty="0">
                <a:solidFill>
                  <a:srgbClr val="B0C4DE"/>
                </a:solidFill>
                <a:latin typeface="Calibri" pitchFamily="34" charset="0"/>
                <a:ea typeface="Calibri" pitchFamily="34" charset="-122"/>
                <a:cs typeface="Calibri" pitchFamily="34" charset="-120"/>
              </a:rPr>
              <a:t>Standard metric across all benchmarked methods for fair comparison</a:t>
            </a:r>
            <a:endParaRPr lang="en-US" sz="1100" dirty="0"/>
          </a:p>
        </p:txBody>
      </p:sp>
      <p:sp>
        <p:nvSpPr>
          <p:cNvPr id="21" name="Shape 19"/>
          <p:cNvSpPr/>
          <p:nvPr/>
        </p:nvSpPr>
        <p:spPr>
          <a:xfrm>
            <a:off x="6035040" y="1874520"/>
            <a:ext cx="2651760" cy="3108960"/>
          </a:xfrm>
          <a:prstGeom prst="roundRect">
            <a:avLst>
              <a:gd name="adj" fmla="val 3103"/>
            </a:avLst>
          </a:prstGeom>
          <a:solidFill>
            <a:srgbClr val="162638"/>
          </a:solidFill>
          <a:ln/>
          <a:effectLst>
            <a:outerShdw blurRad="101600" dist="38100" dir="2700000" algn="bl" rotWithShape="0">
              <a:srgbClr val="000000">
                <a:alpha val="25000"/>
              </a:srgbClr>
            </a:outerShdw>
          </a:effectLst>
        </p:spPr>
      </p:sp>
      <p:sp>
        <p:nvSpPr>
          <p:cNvPr id="22" name="Text 20"/>
          <p:cNvSpPr/>
          <p:nvPr/>
        </p:nvSpPr>
        <p:spPr>
          <a:xfrm>
            <a:off x="6126480" y="1920240"/>
            <a:ext cx="2468880" cy="438912"/>
          </a:xfrm>
          <a:prstGeom prst="rect">
            <a:avLst/>
          </a:prstGeom>
          <a:noFill/>
          <a:ln/>
        </p:spPr>
        <p:txBody>
          <a:bodyPr wrap="square" rtlCol="0" anchor="ctr"/>
          <a:lstStyle/>
          <a:p>
            <a:pPr marL="0" indent="0" algn="ctr">
              <a:buNone/>
            </a:pPr>
            <a:r>
              <a:rPr lang="en-US" sz="1200" b="1" dirty="0">
                <a:solidFill>
                  <a:srgbClr val="7EC8E3"/>
                </a:solidFill>
                <a:latin typeface="Calibri" pitchFamily="34" charset="0"/>
                <a:ea typeface="Calibri" pitchFamily="34" charset="-122"/>
                <a:cs typeface="Calibri" pitchFamily="34" charset="-120"/>
              </a:rPr>
              <a:t>Frame-Level vs Video-Level</a:t>
            </a:r>
            <a:endParaRPr lang="en-US" sz="1200" dirty="0"/>
          </a:p>
        </p:txBody>
      </p:sp>
      <p:sp>
        <p:nvSpPr>
          <p:cNvPr id="23" name="Shape 21"/>
          <p:cNvSpPr/>
          <p:nvPr/>
        </p:nvSpPr>
        <p:spPr>
          <a:xfrm>
            <a:off x="6263640" y="2377440"/>
            <a:ext cx="2194560" cy="18288"/>
          </a:xfrm>
          <a:prstGeom prst="rect">
            <a:avLst/>
          </a:prstGeom>
          <a:solidFill>
            <a:srgbClr val="7EC8E3">
              <a:alpha val="60000"/>
            </a:srgbClr>
          </a:solidFill>
          <a:ln/>
        </p:spPr>
      </p:sp>
      <p:sp>
        <p:nvSpPr>
          <p:cNvPr id="24" name="Text 22"/>
          <p:cNvSpPr/>
          <p:nvPr/>
        </p:nvSpPr>
        <p:spPr>
          <a:xfrm>
            <a:off x="6126480" y="2450592"/>
            <a:ext cx="2468880" cy="548640"/>
          </a:xfrm>
          <a:prstGeom prst="rect">
            <a:avLst/>
          </a:prstGeom>
          <a:noFill/>
          <a:ln/>
        </p:spPr>
        <p:txBody>
          <a:bodyPr wrap="square" rtlCol="0" anchor="ctr"/>
          <a:lstStyle/>
          <a:p>
            <a:pPr marL="0" indent="0">
              <a:buNone/>
            </a:pPr>
            <a:r>
              <a:rPr lang="en-US" sz="1100" dirty="0">
                <a:solidFill>
                  <a:srgbClr val="7EC8E3"/>
                </a:solidFill>
                <a:latin typeface="Calibri" pitchFamily="34" charset="0"/>
                <a:ea typeface="Calibri" pitchFamily="34" charset="-122"/>
                <a:cs typeface="Calibri" pitchFamily="34" charset="-120"/>
              </a:rPr>
              <a:t>▸ </a:t>
            </a:r>
            <a:r>
              <a:rPr lang="en-US" sz="1100" dirty="0">
                <a:solidFill>
                  <a:srgbClr val="B0C4DE"/>
                </a:solidFill>
                <a:latin typeface="Calibri" pitchFamily="34" charset="0"/>
                <a:ea typeface="Calibri" pitchFamily="34" charset="-122"/>
                <a:cs typeface="Calibri" pitchFamily="34" charset="-120"/>
              </a:rPr>
              <a:t>Frame-level: AUC computed per image independently</a:t>
            </a:r>
            <a:endParaRPr lang="en-US" sz="1100" dirty="0"/>
          </a:p>
        </p:txBody>
      </p:sp>
      <p:sp>
        <p:nvSpPr>
          <p:cNvPr id="25" name="Text 23"/>
          <p:cNvSpPr/>
          <p:nvPr/>
        </p:nvSpPr>
        <p:spPr>
          <a:xfrm>
            <a:off x="6126480" y="3054096"/>
            <a:ext cx="2468880" cy="548640"/>
          </a:xfrm>
          <a:prstGeom prst="rect">
            <a:avLst/>
          </a:prstGeom>
          <a:noFill/>
          <a:ln/>
        </p:spPr>
        <p:txBody>
          <a:bodyPr wrap="square" rtlCol="0" anchor="ctr"/>
          <a:lstStyle/>
          <a:p>
            <a:pPr marL="0" indent="0">
              <a:buNone/>
            </a:pPr>
            <a:r>
              <a:rPr lang="en-US" sz="1100" dirty="0">
                <a:solidFill>
                  <a:srgbClr val="7EC8E3"/>
                </a:solidFill>
                <a:latin typeface="Calibri" pitchFamily="34" charset="0"/>
                <a:ea typeface="Calibri" pitchFamily="34" charset="-122"/>
                <a:cs typeface="Calibri" pitchFamily="34" charset="-120"/>
              </a:rPr>
              <a:t>▸ </a:t>
            </a:r>
            <a:r>
              <a:rPr lang="en-US" sz="1100" dirty="0">
                <a:solidFill>
                  <a:srgbClr val="B0C4DE"/>
                </a:solidFill>
                <a:latin typeface="Calibri" pitchFamily="34" charset="0"/>
                <a:ea typeface="Calibri" pitchFamily="34" charset="-122"/>
                <a:cs typeface="Calibri" pitchFamily="34" charset="-120"/>
              </a:rPr>
              <a:t>Video-level: frame predictions averaged per video clip</a:t>
            </a:r>
            <a:endParaRPr lang="en-US" sz="1100" dirty="0"/>
          </a:p>
        </p:txBody>
      </p:sp>
      <p:sp>
        <p:nvSpPr>
          <p:cNvPr id="26" name="Text 24"/>
          <p:cNvSpPr/>
          <p:nvPr/>
        </p:nvSpPr>
        <p:spPr>
          <a:xfrm>
            <a:off x="6126480" y="3657600"/>
            <a:ext cx="2468880" cy="548640"/>
          </a:xfrm>
          <a:prstGeom prst="rect">
            <a:avLst/>
          </a:prstGeom>
          <a:noFill/>
          <a:ln/>
        </p:spPr>
        <p:txBody>
          <a:bodyPr wrap="square" rtlCol="0" anchor="ctr"/>
          <a:lstStyle/>
          <a:p>
            <a:pPr marL="0" indent="0">
              <a:buNone/>
            </a:pPr>
            <a:r>
              <a:rPr lang="en-US" sz="1100" dirty="0">
                <a:solidFill>
                  <a:srgbClr val="7EC8E3"/>
                </a:solidFill>
                <a:latin typeface="Calibri" pitchFamily="34" charset="0"/>
                <a:ea typeface="Calibri" pitchFamily="34" charset="-122"/>
                <a:cs typeface="Calibri" pitchFamily="34" charset="-120"/>
              </a:rPr>
              <a:t>▸ </a:t>
            </a:r>
            <a:r>
              <a:rPr lang="en-US" sz="1100" dirty="0">
                <a:solidFill>
                  <a:srgbClr val="B0C4DE"/>
                </a:solidFill>
                <a:latin typeface="Calibri" pitchFamily="34" charset="0"/>
                <a:ea typeface="Calibri" pitchFamily="34" charset="-122"/>
                <a:cs typeface="Calibri" pitchFamily="34" charset="-120"/>
              </a:rPr>
              <a:t>We use frame-level AUC </a:t>
            </a:r>
          </a:p>
          <a:p>
            <a:pPr marL="0" indent="0">
              <a:buNone/>
            </a:pPr>
            <a:r>
              <a:rPr lang="en-US" sz="1100" dirty="0">
                <a:solidFill>
                  <a:srgbClr val="B0C4DE"/>
                </a:solidFill>
                <a:latin typeface="Calibri" pitchFamily="34" charset="0"/>
                <a:ea typeface="Calibri" pitchFamily="34" charset="-122"/>
                <a:cs typeface="Calibri" pitchFamily="34" charset="-120"/>
              </a:rPr>
              <a:t>    consistent with the paper</a:t>
            </a:r>
            <a:endParaRPr lang="en-US" sz="1100" dirty="0"/>
          </a:p>
        </p:txBody>
      </p:sp>
      <p:sp>
        <p:nvSpPr>
          <p:cNvPr id="27" name="Text 25"/>
          <p:cNvSpPr/>
          <p:nvPr/>
        </p:nvSpPr>
        <p:spPr>
          <a:xfrm>
            <a:off x="6126480" y="4261104"/>
            <a:ext cx="2468880" cy="548640"/>
          </a:xfrm>
          <a:prstGeom prst="rect">
            <a:avLst/>
          </a:prstGeom>
          <a:noFill/>
          <a:ln/>
        </p:spPr>
        <p:txBody>
          <a:bodyPr wrap="square" rtlCol="0" anchor="ctr"/>
          <a:lstStyle/>
          <a:p>
            <a:pPr marL="0" indent="0">
              <a:buNone/>
            </a:pPr>
            <a:r>
              <a:rPr lang="en-US" sz="1100" dirty="0">
                <a:solidFill>
                  <a:srgbClr val="7EC8E3"/>
                </a:solidFill>
                <a:latin typeface="Calibri" pitchFamily="34" charset="0"/>
                <a:ea typeface="Calibri" pitchFamily="34" charset="-122"/>
                <a:cs typeface="Calibri" pitchFamily="34" charset="-120"/>
              </a:rPr>
              <a:t>▸ </a:t>
            </a:r>
            <a:r>
              <a:rPr lang="en-US" sz="1100" dirty="0">
                <a:solidFill>
                  <a:srgbClr val="B0C4DE"/>
                </a:solidFill>
                <a:latin typeface="Calibri" pitchFamily="34" charset="0"/>
                <a:ea typeface="Calibri" pitchFamily="34" charset="-122"/>
                <a:cs typeface="Calibri" pitchFamily="34" charset="-120"/>
              </a:rPr>
              <a:t>Frame-level is harder  video averaging smooths noise</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F1B2D"/>
        </a:solidFill>
        <a:effectLst/>
      </p:bgPr>
    </p:bg>
    <p:spTree>
      <p:nvGrpSpPr>
        <p:cNvPr id="1" name=""/>
        <p:cNvGrpSpPr/>
        <p:nvPr/>
      </p:nvGrpSpPr>
      <p:grpSpPr>
        <a:xfrm>
          <a:off x="0" y="0"/>
          <a:ext cx="0" cy="0"/>
          <a:chOff x="0" y="0"/>
          <a:chExt cx="0" cy="0"/>
        </a:xfrm>
      </p:grpSpPr>
      <p:sp>
        <p:nvSpPr>
          <p:cNvPr id="2" name="Text 0"/>
          <p:cNvSpPr/>
          <p:nvPr/>
        </p:nvSpPr>
        <p:spPr>
          <a:xfrm>
            <a:off x="457200" y="256032"/>
            <a:ext cx="8229600" cy="566928"/>
          </a:xfrm>
          <a:prstGeom prst="rect">
            <a:avLst/>
          </a:prstGeom>
          <a:noFill/>
          <a:ln/>
        </p:spPr>
        <p:txBody>
          <a:bodyPr wrap="square" rtlCol="0" anchor="ctr"/>
          <a:lstStyle/>
          <a:p>
            <a:pPr marL="0" indent="0">
              <a:buNone/>
            </a:pPr>
            <a:r>
              <a:rPr lang="en-US" sz="3200" b="1" dirty="0">
                <a:solidFill>
                  <a:srgbClr val="FFFFFF"/>
                </a:solidFill>
                <a:latin typeface="Cambria" pitchFamily="34" charset="0"/>
                <a:ea typeface="Cambria" pitchFamily="34" charset="-122"/>
                <a:cs typeface="Cambria" pitchFamily="34" charset="-120"/>
              </a:rPr>
              <a:t>Dataset — Celeb-DF v2</a:t>
            </a:r>
            <a:endParaRPr lang="en-US" sz="3200" dirty="0"/>
          </a:p>
        </p:txBody>
      </p:sp>
      <p:sp>
        <p:nvSpPr>
          <p:cNvPr id="3" name="Shape 1"/>
          <p:cNvSpPr/>
          <p:nvPr/>
        </p:nvSpPr>
        <p:spPr>
          <a:xfrm>
            <a:off x="457200" y="850392"/>
            <a:ext cx="8229600" cy="27432"/>
          </a:xfrm>
          <a:prstGeom prst="rect">
            <a:avLst/>
          </a:prstGeom>
          <a:solidFill>
            <a:srgbClr val="00C9A7"/>
          </a:solidFill>
          <a:ln/>
        </p:spPr>
      </p:sp>
      <p:sp>
        <p:nvSpPr>
          <p:cNvPr id="4" name="Shape 2"/>
          <p:cNvSpPr/>
          <p:nvPr/>
        </p:nvSpPr>
        <p:spPr>
          <a:xfrm>
            <a:off x="274320" y="987552"/>
            <a:ext cx="1572768" cy="1005840"/>
          </a:xfrm>
          <a:prstGeom prst="roundRect">
            <a:avLst>
              <a:gd name="adj" fmla="val 8182"/>
            </a:avLst>
          </a:prstGeom>
          <a:solidFill>
            <a:srgbClr val="1A2F4A"/>
          </a:solidFill>
          <a:ln/>
          <a:effectLst>
            <a:outerShdw blurRad="101600" dist="38100" dir="2700000" algn="bl" rotWithShape="0">
              <a:srgbClr val="000000">
                <a:alpha val="25000"/>
              </a:srgbClr>
            </a:outerShdw>
          </a:effectLst>
        </p:spPr>
      </p:sp>
      <p:sp>
        <p:nvSpPr>
          <p:cNvPr id="5" name="Text 3"/>
          <p:cNvSpPr/>
          <p:nvPr/>
        </p:nvSpPr>
        <p:spPr>
          <a:xfrm>
            <a:off x="274320" y="1024128"/>
            <a:ext cx="1572768" cy="502920"/>
          </a:xfrm>
          <a:prstGeom prst="rect">
            <a:avLst/>
          </a:prstGeom>
          <a:noFill/>
          <a:ln/>
        </p:spPr>
        <p:txBody>
          <a:bodyPr wrap="square" rtlCol="0" anchor="ctr"/>
          <a:lstStyle/>
          <a:p>
            <a:pPr marL="0" indent="0" algn="ctr">
              <a:buNone/>
            </a:pPr>
            <a:r>
              <a:rPr lang="en-US" sz="1900" b="1" dirty="0">
                <a:solidFill>
                  <a:srgbClr val="00C9A7"/>
                </a:solidFill>
                <a:latin typeface="Cambria" pitchFamily="34" charset="0"/>
                <a:ea typeface="Cambria" pitchFamily="34" charset="-122"/>
                <a:cs typeface="Cambria" pitchFamily="34" charset="-120"/>
              </a:rPr>
              <a:t>590</a:t>
            </a:r>
            <a:endParaRPr lang="en-US" sz="1900" dirty="0"/>
          </a:p>
        </p:txBody>
      </p:sp>
      <p:sp>
        <p:nvSpPr>
          <p:cNvPr id="6" name="Text 4"/>
          <p:cNvSpPr/>
          <p:nvPr/>
        </p:nvSpPr>
        <p:spPr>
          <a:xfrm>
            <a:off x="274320" y="1527048"/>
            <a:ext cx="1572768" cy="411480"/>
          </a:xfrm>
          <a:prstGeom prst="rect">
            <a:avLst/>
          </a:prstGeom>
          <a:noFill/>
          <a:ln/>
        </p:spPr>
        <p:txBody>
          <a:bodyPr wrap="square" rtlCol="0" anchor="ctr"/>
          <a:lstStyle/>
          <a:p>
            <a:pPr marL="0" indent="0" algn="ctr">
              <a:buNone/>
            </a:pPr>
            <a:r>
              <a:rPr lang="en-US" sz="1000" dirty="0">
                <a:solidFill>
                  <a:srgbClr val="B0C4DE"/>
                </a:solidFill>
                <a:latin typeface="Calibri" pitchFamily="34" charset="0"/>
                <a:ea typeface="Calibri" pitchFamily="34" charset="-122"/>
                <a:cs typeface="Calibri" pitchFamily="34" charset="-120"/>
              </a:rPr>
              <a:t>Real Videos</a:t>
            </a:r>
            <a:endParaRPr lang="en-US" sz="1000" dirty="0"/>
          </a:p>
        </p:txBody>
      </p:sp>
      <p:sp>
        <p:nvSpPr>
          <p:cNvPr id="7" name="Shape 5"/>
          <p:cNvSpPr/>
          <p:nvPr/>
        </p:nvSpPr>
        <p:spPr>
          <a:xfrm>
            <a:off x="2011680" y="987552"/>
            <a:ext cx="1572768" cy="1005840"/>
          </a:xfrm>
          <a:prstGeom prst="roundRect">
            <a:avLst>
              <a:gd name="adj" fmla="val 8182"/>
            </a:avLst>
          </a:prstGeom>
          <a:solidFill>
            <a:srgbClr val="1A2F4A"/>
          </a:solidFill>
          <a:ln/>
          <a:effectLst>
            <a:outerShdw blurRad="101600" dist="38100" dir="2700000" algn="bl" rotWithShape="0">
              <a:srgbClr val="000000">
                <a:alpha val="25000"/>
              </a:srgbClr>
            </a:outerShdw>
          </a:effectLst>
        </p:spPr>
      </p:sp>
      <p:sp>
        <p:nvSpPr>
          <p:cNvPr id="8" name="Text 6"/>
          <p:cNvSpPr/>
          <p:nvPr/>
        </p:nvSpPr>
        <p:spPr>
          <a:xfrm>
            <a:off x="2011680" y="1024128"/>
            <a:ext cx="1572768" cy="502920"/>
          </a:xfrm>
          <a:prstGeom prst="rect">
            <a:avLst/>
          </a:prstGeom>
          <a:noFill/>
          <a:ln/>
        </p:spPr>
        <p:txBody>
          <a:bodyPr wrap="square" rtlCol="0" anchor="ctr"/>
          <a:lstStyle/>
          <a:p>
            <a:pPr marL="0" indent="0" algn="ctr">
              <a:buNone/>
            </a:pPr>
            <a:r>
              <a:rPr lang="en-US" sz="1900" b="1" dirty="0">
                <a:solidFill>
                  <a:srgbClr val="FFD93D"/>
                </a:solidFill>
                <a:latin typeface="Cambria" pitchFamily="34" charset="0"/>
                <a:ea typeface="Cambria" pitchFamily="34" charset="-122"/>
                <a:cs typeface="Cambria" pitchFamily="34" charset="-120"/>
              </a:rPr>
              <a:t>590</a:t>
            </a:r>
            <a:endParaRPr lang="en-US" sz="1900" dirty="0"/>
          </a:p>
        </p:txBody>
      </p:sp>
      <p:sp>
        <p:nvSpPr>
          <p:cNvPr id="9" name="Text 7"/>
          <p:cNvSpPr/>
          <p:nvPr/>
        </p:nvSpPr>
        <p:spPr>
          <a:xfrm>
            <a:off x="2011680" y="1527048"/>
            <a:ext cx="1572768" cy="411480"/>
          </a:xfrm>
          <a:prstGeom prst="rect">
            <a:avLst/>
          </a:prstGeom>
          <a:noFill/>
          <a:ln/>
        </p:spPr>
        <p:txBody>
          <a:bodyPr wrap="square" rtlCol="0" anchor="ctr"/>
          <a:lstStyle/>
          <a:p>
            <a:pPr marL="0" indent="0" algn="ctr">
              <a:buNone/>
            </a:pPr>
            <a:r>
              <a:rPr lang="en-US" sz="1000" dirty="0">
                <a:solidFill>
                  <a:srgbClr val="B0C4DE"/>
                </a:solidFill>
                <a:latin typeface="Calibri" pitchFamily="34" charset="0"/>
                <a:ea typeface="Calibri" pitchFamily="34" charset="-122"/>
                <a:cs typeface="Calibri" pitchFamily="34" charset="-120"/>
              </a:rPr>
              <a:t>Fake Videos</a:t>
            </a:r>
            <a:endParaRPr lang="en-US" sz="1000" dirty="0"/>
          </a:p>
          <a:p>
            <a:pPr marL="0" indent="0" algn="ctr">
              <a:buNone/>
            </a:pPr>
            <a:r>
              <a:rPr lang="en-US" sz="1000" dirty="0">
                <a:solidFill>
                  <a:srgbClr val="B0C4DE"/>
                </a:solidFill>
                <a:latin typeface="Calibri" pitchFamily="34" charset="0"/>
                <a:ea typeface="Calibri" pitchFamily="34" charset="-122"/>
                <a:cs typeface="Calibri" pitchFamily="34" charset="-120"/>
              </a:rPr>
              <a:t>(balanced)</a:t>
            </a:r>
            <a:endParaRPr lang="en-US" sz="1000" dirty="0"/>
          </a:p>
        </p:txBody>
      </p:sp>
      <p:sp>
        <p:nvSpPr>
          <p:cNvPr id="10" name="Shape 8"/>
          <p:cNvSpPr/>
          <p:nvPr/>
        </p:nvSpPr>
        <p:spPr>
          <a:xfrm>
            <a:off x="3749040" y="987552"/>
            <a:ext cx="1572768" cy="1005840"/>
          </a:xfrm>
          <a:prstGeom prst="roundRect">
            <a:avLst>
              <a:gd name="adj" fmla="val 8182"/>
            </a:avLst>
          </a:prstGeom>
          <a:solidFill>
            <a:srgbClr val="1A2F4A"/>
          </a:solidFill>
          <a:ln/>
          <a:effectLst>
            <a:outerShdw blurRad="101600" dist="38100" dir="2700000" algn="bl" rotWithShape="0">
              <a:srgbClr val="000000">
                <a:alpha val="25000"/>
              </a:srgbClr>
            </a:outerShdw>
          </a:effectLst>
        </p:spPr>
      </p:sp>
      <p:sp>
        <p:nvSpPr>
          <p:cNvPr id="11" name="Text 9"/>
          <p:cNvSpPr/>
          <p:nvPr/>
        </p:nvSpPr>
        <p:spPr>
          <a:xfrm>
            <a:off x="3749040" y="1024128"/>
            <a:ext cx="1572768" cy="502920"/>
          </a:xfrm>
          <a:prstGeom prst="rect">
            <a:avLst/>
          </a:prstGeom>
          <a:noFill/>
          <a:ln/>
        </p:spPr>
        <p:txBody>
          <a:bodyPr wrap="square" rtlCol="0" anchor="ctr"/>
          <a:lstStyle/>
          <a:p>
            <a:pPr marL="0" indent="0" algn="ctr">
              <a:buNone/>
            </a:pPr>
            <a:r>
              <a:rPr lang="en-US" sz="1900" b="1" dirty="0">
                <a:solidFill>
                  <a:srgbClr val="7EC8E3"/>
                </a:solidFill>
                <a:latin typeface="Cambria" pitchFamily="34" charset="0"/>
                <a:ea typeface="Cambria" pitchFamily="34" charset="-122"/>
                <a:cs typeface="Cambria" pitchFamily="34" charset="-120"/>
              </a:rPr>
              <a:t>80 / 10 / 10</a:t>
            </a:r>
            <a:endParaRPr lang="en-US" sz="1900" dirty="0"/>
          </a:p>
        </p:txBody>
      </p:sp>
      <p:sp>
        <p:nvSpPr>
          <p:cNvPr id="12" name="Text 10"/>
          <p:cNvSpPr/>
          <p:nvPr/>
        </p:nvSpPr>
        <p:spPr>
          <a:xfrm>
            <a:off x="3749040" y="1527048"/>
            <a:ext cx="1572768" cy="411480"/>
          </a:xfrm>
          <a:prstGeom prst="rect">
            <a:avLst/>
          </a:prstGeom>
          <a:noFill/>
          <a:ln/>
        </p:spPr>
        <p:txBody>
          <a:bodyPr wrap="square" rtlCol="0" anchor="ctr"/>
          <a:lstStyle/>
          <a:p>
            <a:pPr marL="0" indent="0" algn="ctr">
              <a:buNone/>
            </a:pPr>
            <a:r>
              <a:rPr lang="en-US" sz="1000" dirty="0">
                <a:solidFill>
                  <a:srgbClr val="B0C4DE"/>
                </a:solidFill>
                <a:latin typeface="Calibri" pitchFamily="34" charset="0"/>
                <a:ea typeface="Calibri" pitchFamily="34" charset="-122"/>
                <a:cs typeface="Calibri" pitchFamily="34" charset="-120"/>
              </a:rPr>
              <a:t>Train / Val /</a:t>
            </a:r>
            <a:endParaRPr lang="en-US" sz="1000" dirty="0"/>
          </a:p>
          <a:p>
            <a:pPr marL="0" indent="0" algn="ctr">
              <a:buNone/>
            </a:pPr>
            <a:r>
              <a:rPr lang="en-US" sz="1000" dirty="0">
                <a:solidFill>
                  <a:srgbClr val="B0C4DE"/>
                </a:solidFill>
                <a:latin typeface="Calibri" pitchFamily="34" charset="0"/>
                <a:ea typeface="Calibri" pitchFamily="34" charset="-122"/>
                <a:cs typeface="Calibri" pitchFamily="34" charset="-120"/>
              </a:rPr>
              <a:t>Test Split</a:t>
            </a:r>
            <a:endParaRPr lang="en-US" sz="1000" dirty="0"/>
          </a:p>
        </p:txBody>
      </p:sp>
      <p:sp>
        <p:nvSpPr>
          <p:cNvPr id="13" name="Shape 11"/>
          <p:cNvSpPr/>
          <p:nvPr/>
        </p:nvSpPr>
        <p:spPr>
          <a:xfrm>
            <a:off x="5486400" y="987552"/>
            <a:ext cx="1572768" cy="1005840"/>
          </a:xfrm>
          <a:prstGeom prst="roundRect">
            <a:avLst>
              <a:gd name="adj" fmla="val 8182"/>
            </a:avLst>
          </a:prstGeom>
          <a:solidFill>
            <a:srgbClr val="1A2F4A"/>
          </a:solidFill>
          <a:ln/>
          <a:effectLst>
            <a:outerShdw blurRad="101600" dist="38100" dir="2700000" algn="bl" rotWithShape="0">
              <a:srgbClr val="000000">
                <a:alpha val="25000"/>
              </a:srgbClr>
            </a:outerShdw>
          </a:effectLst>
        </p:spPr>
      </p:sp>
      <p:sp>
        <p:nvSpPr>
          <p:cNvPr id="14" name="Text 12"/>
          <p:cNvSpPr/>
          <p:nvPr/>
        </p:nvSpPr>
        <p:spPr>
          <a:xfrm>
            <a:off x="5486400" y="1024128"/>
            <a:ext cx="1572768" cy="502920"/>
          </a:xfrm>
          <a:prstGeom prst="rect">
            <a:avLst/>
          </a:prstGeom>
          <a:noFill/>
          <a:ln/>
        </p:spPr>
        <p:txBody>
          <a:bodyPr wrap="square" rtlCol="0" anchor="ctr"/>
          <a:lstStyle/>
          <a:p>
            <a:pPr marL="0" indent="0" algn="ctr">
              <a:buNone/>
            </a:pPr>
            <a:r>
              <a:rPr lang="en-US" sz="1900" b="1" dirty="0">
                <a:solidFill>
                  <a:srgbClr val="FF9F40"/>
                </a:solidFill>
                <a:latin typeface="Cambria" pitchFamily="34" charset="0"/>
                <a:ea typeface="Cambria" pitchFamily="34" charset="-122"/>
                <a:cs typeface="Cambria" pitchFamily="34" charset="-120"/>
              </a:rPr>
              <a:t>≤ 5</a:t>
            </a:r>
            <a:endParaRPr lang="en-US" sz="1900" dirty="0"/>
          </a:p>
        </p:txBody>
      </p:sp>
      <p:sp>
        <p:nvSpPr>
          <p:cNvPr id="15" name="Text 13"/>
          <p:cNvSpPr/>
          <p:nvPr/>
        </p:nvSpPr>
        <p:spPr>
          <a:xfrm>
            <a:off x="5486400" y="1527048"/>
            <a:ext cx="1572768" cy="411480"/>
          </a:xfrm>
          <a:prstGeom prst="rect">
            <a:avLst/>
          </a:prstGeom>
          <a:noFill/>
          <a:ln/>
        </p:spPr>
        <p:txBody>
          <a:bodyPr wrap="square" rtlCol="0" anchor="ctr"/>
          <a:lstStyle/>
          <a:p>
            <a:pPr marL="0" indent="0" algn="ctr">
              <a:buNone/>
            </a:pPr>
            <a:r>
              <a:rPr lang="en-US" sz="1000" dirty="0">
                <a:solidFill>
                  <a:srgbClr val="B0C4DE"/>
                </a:solidFill>
                <a:latin typeface="Calibri" pitchFamily="34" charset="0"/>
                <a:ea typeface="Calibri" pitchFamily="34" charset="-122"/>
                <a:cs typeface="Calibri" pitchFamily="34" charset="-120"/>
              </a:rPr>
              <a:t>Frames</a:t>
            </a:r>
            <a:endParaRPr lang="en-US" sz="1000" dirty="0"/>
          </a:p>
          <a:p>
            <a:pPr marL="0" indent="0" algn="ctr">
              <a:buNone/>
            </a:pPr>
            <a:r>
              <a:rPr lang="en-US" sz="1000" dirty="0">
                <a:solidFill>
                  <a:srgbClr val="B0C4DE"/>
                </a:solidFill>
                <a:latin typeface="Calibri" pitchFamily="34" charset="0"/>
                <a:ea typeface="Calibri" pitchFamily="34" charset="-122"/>
                <a:cs typeface="Calibri" pitchFamily="34" charset="-120"/>
              </a:rPr>
              <a:t>per Video</a:t>
            </a:r>
            <a:endParaRPr lang="en-US" sz="1000" dirty="0"/>
          </a:p>
        </p:txBody>
      </p:sp>
      <p:sp>
        <p:nvSpPr>
          <p:cNvPr id="16" name="Shape 14"/>
          <p:cNvSpPr/>
          <p:nvPr/>
        </p:nvSpPr>
        <p:spPr>
          <a:xfrm>
            <a:off x="7223760" y="987552"/>
            <a:ext cx="1572768" cy="1005840"/>
          </a:xfrm>
          <a:prstGeom prst="roundRect">
            <a:avLst>
              <a:gd name="adj" fmla="val 8182"/>
            </a:avLst>
          </a:prstGeom>
          <a:solidFill>
            <a:srgbClr val="1A2F4A"/>
          </a:solidFill>
          <a:ln/>
          <a:effectLst>
            <a:outerShdw blurRad="101600" dist="38100" dir="2700000" algn="bl" rotWithShape="0">
              <a:srgbClr val="000000">
                <a:alpha val="25000"/>
              </a:srgbClr>
            </a:outerShdw>
          </a:effectLst>
        </p:spPr>
      </p:sp>
      <p:sp>
        <p:nvSpPr>
          <p:cNvPr id="17" name="Text 15"/>
          <p:cNvSpPr/>
          <p:nvPr/>
        </p:nvSpPr>
        <p:spPr>
          <a:xfrm>
            <a:off x="7223760" y="1024128"/>
            <a:ext cx="1572768" cy="502920"/>
          </a:xfrm>
          <a:prstGeom prst="rect">
            <a:avLst/>
          </a:prstGeom>
          <a:noFill/>
          <a:ln/>
        </p:spPr>
        <p:txBody>
          <a:bodyPr wrap="square" rtlCol="0" anchor="ctr"/>
          <a:lstStyle/>
          <a:p>
            <a:pPr marL="0" indent="0" algn="ctr">
              <a:buNone/>
            </a:pPr>
            <a:r>
              <a:rPr lang="en-US" sz="1900" b="1" dirty="0">
                <a:solidFill>
                  <a:srgbClr val="FF6B6B"/>
                </a:solidFill>
                <a:latin typeface="Cambria" pitchFamily="34" charset="0"/>
                <a:ea typeface="Cambria" pitchFamily="34" charset="-122"/>
                <a:cs typeface="Cambria" pitchFamily="34" charset="-120"/>
              </a:rPr>
              <a:t>224 × 224</a:t>
            </a:r>
            <a:endParaRPr lang="en-US" sz="1900" dirty="0"/>
          </a:p>
        </p:txBody>
      </p:sp>
      <p:sp>
        <p:nvSpPr>
          <p:cNvPr id="18" name="Text 16"/>
          <p:cNvSpPr/>
          <p:nvPr/>
        </p:nvSpPr>
        <p:spPr>
          <a:xfrm>
            <a:off x="7223760" y="1527048"/>
            <a:ext cx="1572768" cy="411480"/>
          </a:xfrm>
          <a:prstGeom prst="rect">
            <a:avLst/>
          </a:prstGeom>
          <a:noFill/>
          <a:ln/>
        </p:spPr>
        <p:txBody>
          <a:bodyPr wrap="square" rtlCol="0" anchor="ctr"/>
          <a:lstStyle/>
          <a:p>
            <a:pPr marL="0" indent="0" algn="ctr">
              <a:buNone/>
            </a:pPr>
            <a:r>
              <a:rPr lang="en-US" sz="1000" dirty="0">
                <a:solidFill>
                  <a:srgbClr val="B0C4DE"/>
                </a:solidFill>
                <a:latin typeface="Calibri" pitchFamily="34" charset="0"/>
                <a:ea typeface="Calibri" pitchFamily="34" charset="-122"/>
                <a:cs typeface="Calibri" pitchFamily="34" charset="-120"/>
              </a:rPr>
              <a:t>Face Crop</a:t>
            </a:r>
            <a:endParaRPr lang="en-US" sz="1000" dirty="0"/>
          </a:p>
          <a:p>
            <a:pPr marL="0" indent="0" algn="ctr">
              <a:buNone/>
            </a:pPr>
            <a:r>
              <a:rPr lang="en-US" sz="1000" dirty="0">
                <a:solidFill>
                  <a:srgbClr val="B0C4DE"/>
                </a:solidFill>
                <a:latin typeface="Calibri" pitchFamily="34" charset="0"/>
                <a:ea typeface="Calibri" pitchFamily="34" charset="-122"/>
                <a:cs typeface="Calibri" pitchFamily="34" charset="-120"/>
              </a:rPr>
              <a:t>Resolution</a:t>
            </a:r>
            <a:endParaRPr lang="en-US" sz="1000" dirty="0"/>
          </a:p>
        </p:txBody>
      </p:sp>
      <p:sp>
        <p:nvSpPr>
          <p:cNvPr id="19" name="Text 17"/>
          <p:cNvSpPr/>
          <p:nvPr/>
        </p:nvSpPr>
        <p:spPr>
          <a:xfrm>
            <a:off x="457200" y="2176272"/>
            <a:ext cx="5029200" cy="329184"/>
          </a:xfrm>
          <a:prstGeom prst="rect">
            <a:avLst/>
          </a:prstGeom>
          <a:noFill/>
          <a:ln/>
        </p:spPr>
        <p:txBody>
          <a:bodyPr wrap="square"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Preprocessing Pipeline</a:t>
            </a:r>
            <a:endParaRPr lang="en-US" sz="1400" dirty="0"/>
          </a:p>
        </p:txBody>
      </p:sp>
      <p:sp>
        <p:nvSpPr>
          <p:cNvPr id="20" name="Shape 18"/>
          <p:cNvSpPr/>
          <p:nvPr/>
        </p:nvSpPr>
        <p:spPr>
          <a:xfrm>
            <a:off x="457200" y="2660904"/>
            <a:ext cx="310896" cy="310896"/>
          </a:xfrm>
          <a:prstGeom prst="ellipse">
            <a:avLst/>
          </a:prstGeom>
          <a:solidFill>
            <a:srgbClr val="00C9A7">
              <a:alpha val="80000"/>
            </a:srgbClr>
          </a:solidFill>
          <a:ln/>
        </p:spPr>
      </p:sp>
      <p:sp>
        <p:nvSpPr>
          <p:cNvPr id="21" name="Text 19"/>
          <p:cNvSpPr/>
          <p:nvPr/>
        </p:nvSpPr>
        <p:spPr>
          <a:xfrm>
            <a:off x="457200" y="2660904"/>
            <a:ext cx="310896" cy="310896"/>
          </a:xfrm>
          <a:prstGeom prst="rect">
            <a:avLst/>
          </a:prstGeom>
          <a:noFill/>
          <a:ln/>
        </p:spPr>
        <p:txBody>
          <a:bodyPr wrap="square" lIns="0" tIns="0" rIns="0" bIns="0" rtlCol="0" anchor="ctr"/>
          <a:lstStyle/>
          <a:p>
            <a:pPr marL="0" indent="0" algn="ctr">
              <a:buNone/>
            </a:pPr>
            <a:r>
              <a:rPr lang="en-US" sz="1100" b="1" dirty="0">
                <a:solidFill>
                  <a:srgbClr val="0F1B2D"/>
                </a:solidFill>
              </a:rPr>
              <a:t>1</a:t>
            </a:r>
            <a:endParaRPr lang="en-US" sz="1100" dirty="0"/>
          </a:p>
        </p:txBody>
      </p:sp>
      <p:sp>
        <p:nvSpPr>
          <p:cNvPr id="22" name="Text 20"/>
          <p:cNvSpPr/>
          <p:nvPr/>
        </p:nvSpPr>
        <p:spPr>
          <a:xfrm>
            <a:off x="896112" y="2587752"/>
            <a:ext cx="1920240" cy="457200"/>
          </a:xfrm>
          <a:prstGeom prst="rect">
            <a:avLst/>
          </a:prstGeom>
          <a:noFill/>
          <a:ln/>
        </p:spPr>
        <p:txBody>
          <a:bodyPr wrap="square" rtlCol="0" anchor="ctr"/>
          <a:lstStyle/>
          <a:p>
            <a:pPr marL="0" indent="0">
              <a:buNone/>
            </a:pPr>
            <a:r>
              <a:rPr lang="en-US" sz="1200" b="1" dirty="0">
                <a:solidFill>
                  <a:srgbClr val="00C9A7"/>
                </a:solidFill>
                <a:latin typeface="Calibri" pitchFamily="34" charset="0"/>
                <a:ea typeface="Calibri" pitchFamily="34" charset="-122"/>
                <a:cs typeface="Calibri" pitchFamily="34" charset="-120"/>
              </a:rPr>
              <a:t>Load .mp4 files</a:t>
            </a:r>
            <a:endParaRPr lang="en-US" sz="1200" dirty="0"/>
          </a:p>
        </p:txBody>
      </p:sp>
      <p:sp>
        <p:nvSpPr>
          <p:cNvPr id="23" name="Text 21"/>
          <p:cNvSpPr/>
          <p:nvPr/>
        </p:nvSpPr>
        <p:spPr>
          <a:xfrm>
            <a:off x="2880360" y="2587752"/>
            <a:ext cx="2743200" cy="457200"/>
          </a:xfrm>
          <a:prstGeom prst="rect">
            <a:avLst/>
          </a:prstGeom>
          <a:noFill/>
          <a:ln/>
        </p:spPr>
        <p:txBody>
          <a:bodyPr wrap="square" rtlCol="0" anchor="ctr"/>
          <a:lstStyle/>
          <a:p>
            <a:pPr marL="0" indent="0">
              <a:buNone/>
            </a:pPr>
            <a:r>
              <a:rPr lang="en-US" sz="1100" dirty="0">
                <a:solidFill>
                  <a:srgbClr val="5A7A9A"/>
                </a:solidFill>
                <a:latin typeface="Calibri" pitchFamily="34" charset="0"/>
                <a:ea typeface="Calibri" pitchFamily="34" charset="-122"/>
                <a:cs typeface="Calibri" pitchFamily="34" charset="-120"/>
              </a:rPr>
              <a:t>590 real (Celeb-real) + 590 fake (Celeb-synthesis) videos</a:t>
            </a:r>
            <a:endParaRPr lang="en-US" sz="1100" dirty="0"/>
          </a:p>
        </p:txBody>
      </p:sp>
      <p:sp>
        <p:nvSpPr>
          <p:cNvPr id="24" name="Shape 22"/>
          <p:cNvSpPr/>
          <p:nvPr/>
        </p:nvSpPr>
        <p:spPr>
          <a:xfrm>
            <a:off x="457200" y="3136392"/>
            <a:ext cx="310896" cy="310896"/>
          </a:xfrm>
          <a:prstGeom prst="ellipse">
            <a:avLst/>
          </a:prstGeom>
          <a:solidFill>
            <a:srgbClr val="FFD93D">
              <a:alpha val="80000"/>
            </a:srgbClr>
          </a:solidFill>
          <a:ln/>
        </p:spPr>
      </p:sp>
      <p:sp>
        <p:nvSpPr>
          <p:cNvPr id="25" name="Text 23"/>
          <p:cNvSpPr/>
          <p:nvPr/>
        </p:nvSpPr>
        <p:spPr>
          <a:xfrm>
            <a:off x="457200" y="3136392"/>
            <a:ext cx="310896" cy="310896"/>
          </a:xfrm>
          <a:prstGeom prst="rect">
            <a:avLst/>
          </a:prstGeom>
          <a:noFill/>
          <a:ln/>
        </p:spPr>
        <p:txBody>
          <a:bodyPr wrap="square" lIns="0" tIns="0" rIns="0" bIns="0" rtlCol="0" anchor="ctr"/>
          <a:lstStyle/>
          <a:p>
            <a:pPr marL="0" indent="0" algn="ctr">
              <a:buNone/>
            </a:pPr>
            <a:r>
              <a:rPr lang="en-US" sz="1100" b="1" dirty="0">
                <a:solidFill>
                  <a:srgbClr val="0F1B2D"/>
                </a:solidFill>
              </a:rPr>
              <a:t>2</a:t>
            </a:r>
            <a:endParaRPr lang="en-US" sz="1100" dirty="0"/>
          </a:p>
        </p:txBody>
      </p:sp>
      <p:sp>
        <p:nvSpPr>
          <p:cNvPr id="26" name="Text 24"/>
          <p:cNvSpPr/>
          <p:nvPr/>
        </p:nvSpPr>
        <p:spPr>
          <a:xfrm>
            <a:off x="896112" y="3063240"/>
            <a:ext cx="1920240" cy="457200"/>
          </a:xfrm>
          <a:prstGeom prst="rect">
            <a:avLst/>
          </a:prstGeom>
          <a:noFill/>
          <a:ln/>
        </p:spPr>
        <p:txBody>
          <a:bodyPr wrap="square" rtlCol="0" anchor="ctr"/>
          <a:lstStyle/>
          <a:p>
            <a:pPr marL="0" indent="0">
              <a:buNone/>
            </a:pPr>
            <a:r>
              <a:rPr lang="en-US" sz="1200" b="1" dirty="0">
                <a:solidFill>
                  <a:srgbClr val="FFD93D"/>
                </a:solidFill>
                <a:latin typeface="Calibri" pitchFamily="34" charset="0"/>
                <a:ea typeface="Calibri" pitchFamily="34" charset="-122"/>
                <a:cs typeface="Calibri" pitchFamily="34" charset="-120"/>
              </a:rPr>
              <a:t>Balance &amp; Split</a:t>
            </a:r>
            <a:endParaRPr lang="en-US" sz="1200" dirty="0"/>
          </a:p>
        </p:txBody>
      </p:sp>
      <p:sp>
        <p:nvSpPr>
          <p:cNvPr id="27" name="Text 25"/>
          <p:cNvSpPr/>
          <p:nvPr/>
        </p:nvSpPr>
        <p:spPr>
          <a:xfrm>
            <a:off x="2880360" y="3063240"/>
            <a:ext cx="2743200" cy="457200"/>
          </a:xfrm>
          <a:prstGeom prst="rect">
            <a:avLst/>
          </a:prstGeom>
          <a:noFill/>
          <a:ln/>
        </p:spPr>
        <p:txBody>
          <a:bodyPr wrap="square" rtlCol="0" anchor="ctr"/>
          <a:lstStyle/>
          <a:p>
            <a:pPr marL="0" indent="0">
              <a:buNone/>
            </a:pPr>
            <a:r>
              <a:rPr lang="en-US" sz="1100" dirty="0">
                <a:solidFill>
                  <a:srgbClr val="5A7A9A"/>
                </a:solidFill>
                <a:latin typeface="Calibri" pitchFamily="34" charset="0"/>
                <a:ea typeface="Calibri" pitchFamily="34" charset="-122"/>
                <a:cs typeface="Calibri" pitchFamily="34" charset="-120"/>
              </a:rPr>
              <a:t>Fake videos randomly sampled; 80/10/10 stratified split</a:t>
            </a:r>
            <a:endParaRPr lang="en-US" sz="1100" dirty="0"/>
          </a:p>
        </p:txBody>
      </p:sp>
      <p:sp>
        <p:nvSpPr>
          <p:cNvPr id="28" name="Shape 26"/>
          <p:cNvSpPr/>
          <p:nvPr/>
        </p:nvSpPr>
        <p:spPr>
          <a:xfrm>
            <a:off x="457200" y="3611880"/>
            <a:ext cx="310896" cy="310896"/>
          </a:xfrm>
          <a:prstGeom prst="ellipse">
            <a:avLst/>
          </a:prstGeom>
          <a:solidFill>
            <a:srgbClr val="7EC8E3">
              <a:alpha val="80000"/>
            </a:srgbClr>
          </a:solidFill>
          <a:ln/>
        </p:spPr>
      </p:sp>
      <p:sp>
        <p:nvSpPr>
          <p:cNvPr id="29" name="Text 27"/>
          <p:cNvSpPr/>
          <p:nvPr/>
        </p:nvSpPr>
        <p:spPr>
          <a:xfrm>
            <a:off x="457200" y="3611880"/>
            <a:ext cx="310896" cy="310896"/>
          </a:xfrm>
          <a:prstGeom prst="rect">
            <a:avLst/>
          </a:prstGeom>
          <a:noFill/>
          <a:ln/>
        </p:spPr>
        <p:txBody>
          <a:bodyPr wrap="square" lIns="0" tIns="0" rIns="0" bIns="0" rtlCol="0" anchor="ctr"/>
          <a:lstStyle/>
          <a:p>
            <a:pPr marL="0" indent="0" algn="ctr">
              <a:buNone/>
            </a:pPr>
            <a:r>
              <a:rPr lang="en-US" sz="1100" b="1" dirty="0">
                <a:solidFill>
                  <a:srgbClr val="0F1B2D"/>
                </a:solidFill>
              </a:rPr>
              <a:t>3</a:t>
            </a:r>
            <a:endParaRPr lang="en-US" sz="1100" dirty="0"/>
          </a:p>
        </p:txBody>
      </p:sp>
      <p:sp>
        <p:nvSpPr>
          <p:cNvPr id="30" name="Text 28"/>
          <p:cNvSpPr/>
          <p:nvPr/>
        </p:nvSpPr>
        <p:spPr>
          <a:xfrm>
            <a:off x="896112" y="3538728"/>
            <a:ext cx="1920240" cy="457200"/>
          </a:xfrm>
          <a:prstGeom prst="rect">
            <a:avLst/>
          </a:prstGeom>
          <a:noFill/>
          <a:ln/>
        </p:spPr>
        <p:txBody>
          <a:bodyPr wrap="square" rtlCol="0" anchor="ctr"/>
          <a:lstStyle/>
          <a:p>
            <a:pPr marL="0" indent="0">
              <a:buNone/>
            </a:pPr>
            <a:r>
              <a:rPr lang="en-US" sz="1200" b="1" dirty="0">
                <a:solidFill>
                  <a:srgbClr val="7EC8E3"/>
                </a:solidFill>
                <a:latin typeface="Calibri" pitchFamily="34" charset="0"/>
                <a:ea typeface="Calibri" pitchFamily="34" charset="-122"/>
                <a:cs typeface="Calibri" pitchFamily="34" charset="-120"/>
              </a:rPr>
              <a:t>Frame Extraction</a:t>
            </a:r>
            <a:endParaRPr lang="en-US" sz="1200" dirty="0"/>
          </a:p>
        </p:txBody>
      </p:sp>
      <p:sp>
        <p:nvSpPr>
          <p:cNvPr id="31" name="Text 29"/>
          <p:cNvSpPr/>
          <p:nvPr/>
        </p:nvSpPr>
        <p:spPr>
          <a:xfrm>
            <a:off x="2880360" y="3538728"/>
            <a:ext cx="2743200" cy="457200"/>
          </a:xfrm>
          <a:prstGeom prst="rect">
            <a:avLst/>
          </a:prstGeom>
          <a:noFill/>
          <a:ln/>
        </p:spPr>
        <p:txBody>
          <a:bodyPr wrap="square" rtlCol="0" anchor="ctr"/>
          <a:lstStyle/>
          <a:p>
            <a:pPr marL="0" indent="0">
              <a:buNone/>
            </a:pPr>
            <a:r>
              <a:rPr lang="en-US" sz="1100" dirty="0">
                <a:solidFill>
                  <a:srgbClr val="5A7A9A"/>
                </a:solidFill>
                <a:latin typeface="Calibri" pitchFamily="34" charset="0"/>
                <a:ea typeface="Calibri" pitchFamily="34" charset="-122"/>
                <a:cs typeface="Calibri" pitchFamily="34" charset="-120"/>
              </a:rPr>
              <a:t>Sample every 15th frame; extract up to 5 faces per video</a:t>
            </a:r>
            <a:endParaRPr lang="en-US" sz="1100" dirty="0"/>
          </a:p>
        </p:txBody>
      </p:sp>
      <p:sp>
        <p:nvSpPr>
          <p:cNvPr id="32" name="Shape 30"/>
          <p:cNvSpPr/>
          <p:nvPr/>
        </p:nvSpPr>
        <p:spPr>
          <a:xfrm>
            <a:off x="457200" y="4087368"/>
            <a:ext cx="310896" cy="310896"/>
          </a:xfrm>
          <a:prstGeom prst="ellipse">
            <a:avLst/>
          </a:prstGeom>
          <a:solidFill>
            <a:srgbClr val="FF9F40">
              <a:alpha val="80000"/>
            </a:srgbClr>
          </a:solidFill>
          <a:ln/>
        </p:spPr>
      </p:sp>
      <p:sp>
        <p:nvSpPr>
          <p:cNvPr id="33" name="Text 31"/>
          <p:cNvSpPr/>
          <p:nvPr/>
        </p:nvSpPr>
        <p:spPr>
          <a:xfrm>
            <a:off x="457200" y="4087368"/>
            <a:ext cx="310896" cy="310896"/>
          </a:xfrm>
          <a:prstGeom prst="rect">
            <a:avLst/>
          </a:prstGeom>
          <a:noFill/>
          <a:ln/>
        </p:spPr>
        <p:txBody>
          <a:bodyPr wrap="square" lIns="0" tIns="0" rIns="0" bIns="0" rtlCol="0" anchor="ctr"/>
          <a:lstStyle/>
          <a:p>
            <a:pPr marL="0" indent="0" algn="ctr">
              <a:buNone/>
            </a:pPr>
            <a:r>
              <a:rPr lang="en-US" sz="1100" b="1" dirty="0">
                <a:solidFill>
                  <a:srgbClr val="0F1B2D"/>
                </a:solidFill>
              </a:rPr>
              <a:t>4</a:t>
            </a:r>
            <a:endParaRPr lang="en-US" sz="1100" dirty="0"/>
          </a:p>
        </p:txBody>
      </p:sp>
      <p:sp>
        <p:nvSpPr>
          <p:cNvPr id="34" name="Text 32"/>
          <p:cNvSpPr/>
          <p:nvPr/>
        </p:nvSpPr>
        <p:spPr>
          <a:xfrm>
            <a:off x="896112" y="4014216"/>
            <a:ext cx="1920240" cy="457200"/>
          </a:xfrm>
          <a:prstGeom prst="rect">
            <a:avLst/>
          </a:prstGeom>
          <a:noFill/>
          <a:ln/>
        </p:spPr>
        <p:txBody>
          <a:bodyPr wrap="square" rtlCol="0" anchor="ctr"/>
          <a:lstStyle/>
          <a:p>
            <a:pPr marL="0" indent="0">
              <a:buNone/>
            </a:pPr>
            <a:r>
              <a:rPr lang="en-US" sz="1200" b="1" dirty="0">
                <a:solidFill>
                  <a:srgbClr val="FF9F40"/>
                </a:solidFill>
                <a:latin typeface="Calibri" pitchFamily="34" charset="0"/>
                <a:ea typeface="Calibri" pitchFamily="34" charset="-122"/>
                <a:cs typeface="Calibri" pitchFamily="34" charset="-120"/>
              </a:rPr>
              <a:t>MTCNN Face Detection</a:t>
            </a:r>
            <a:endParaRPr lang="en-US" sz="1200" dirty="0"/>
          </a:p>
        </p:txBody>
      </p:sp>
      <p:sp>
        <p:nvSpPr>
          <p:cNvPr id="35" name="Text 33"/>
          <p:cNvSpPr/>
          <p:nvPr/>
        </p:nvSpPr>
        <p:spPr>
          <a:xfrm>
            <a:off x="2880360" y="4014216"/>
            <a:ext cx="2743200" cy="457200"/>
          </a:xfrm>
          <a:prstGeom prst="rect">
            <a:avLst/>
          </a:prstGeom>
          <a:noFill/>
          <a:ln/>
        </p:spPr>
        <p:txBody>
          <a:bodyPr wrap="square" rtlCol="0" anchor="ctr"/>
          <a:lstStyle/>
          <a:p>
            <a:pPr marL="0" indent="0">
              <a:buNone/>
            </a:pPr>
            <a:r>
              <a:rPr lang="en-US" sz="1100" dirty="0">
                <a:solidFill>
                  <a:srgbClr val="5A7A9A"/>
                </a:solidFill>
                <a:latin typeface="Calibri" pitchFamily="34" charset="0"/>
                <a:ea typeface="Calibri" pitchFamily="34" charset="-122"/>
                <a:cs typeface="Calibri" pitchFamily="34" charset="-120"/>
              </a:rPr>
              <a:t>Multi-task CNN localises &amp; crops face bounding box</a:t>
            </a:r>
            <a:endParaRPr lang="en-US" sz="1100" dirty="0"/>
          </a:p>
        </p:txBody>
      </p:sp>
      <p:sp>
        <p:nvSpPr>
          <p:cNvPr id="36" name="Shape 34"/>
          <p:cNvSpPr/>
          <p:nvPr/>
        </p:nvSpPr>
        <p:spPr>
          <a:xfrm>
            <a:off x="457200" y="4562856"/>
            <a:ext cx="310896" cy="310896"/>
          </a:xfrm>
          <a:prstGeom prst="ellipse">
            <a:avLst/>
          </a:prstGeom>
          <a:solidFill>
            <a:srgbClr val="FF6B6B">
              <a:alpha val="80000"/>
            </a:srgbClr>
          </a:solidFill>
          <a:ln/>
        </p:spPr>
      </p:sp>
      <p:sp>
        <p:nvSpPr>
          <p:cNvPr id="37" name="Text 35"/>
          <p:cNvSpPr/>
          <p:nvPr/>
        </p:nvSpPr>
        <p:spPr>
          <a:xfrm>
            <a:off x="457200" y="4562856"/>
            <a:ext cx="310896" cy="310896"/>
          </a:xfrm>
          <a:prstGeom prst="rect">
            <a:avLst/>
          </a:prstGeom>
          <a:noFill/>
          <a:ln/>
        </p:spPr>
        <p:txBody>
          <a:bodyPr wrap="square" lIns="0" tIns="0" rIns="0" bIns="0" rtlCol="0" anchor="ctr"/>
          <a:lstStyle/>
          <a:p>
            <a:pPr marL="0" indent="0" algn="ctr">
              <a:buNone/>
            </a:pPr>
            <a:r>
              <a:rPr lang="en-US" sz="1100" b="1" dirty="0">
                <a:solidFill>
                  <a:srgbClr val="0F1B2D"/>
                </a:solidFill>
              </a:rPr>
              <a:t>5</a:t>
            </a:r>
            <a:endParaRPr lang="en-US" sz="1100" dirty="0"/>
          </a:p>
        </p:txBody>
      </p:sp>
      <p:sp>
        <p:nvSpPr>
          <p:cNvPr id="38" name="Text 36"/>
          <p:cNvSpPr/>
          <p:nvPr/>
        </p:nvSpPr>
        <p:spPr>
          <a:xfrm>
            <a:off x="896112" y="4489704"/>
            <a:ext cx="1920240" cy="457200"/>
          </a:xfrm>
          <a:prstGeom prst="rect">
            <a:avLst/>
          </a:prstGeom>
          <a:noFill/>
          <a:ln/>
        </p:spPr>
        <p:txBody>
          <a:bodyPr wrap="square" rtlCol="0" anchor="ctr"/>
          <a:lstStyle/>
          <a:p>
            <a:pPr marL="0" indent="0">
              <a:buNone/>
            </a:pPr>
            <a:r>
              <a:rPr lang="en-US" sz="1200" b="1" dirty="0">
                <a:solidFill>
                  <a:srgbClr val="FF6B6B"/>
                </a:solidFill>
                <a:latin typeface="Calibri" pitchFamily="34" charset="0"/>
                <a:ea typeface="Calibri" pitchFamily="34" charset="-122"/>
                <a:cs typeface="Calibri" pitchFamily="34" charset="-120"/>
              </a:rPr>
              <a:t>Resize &amp; Save</a:t>
            </a:r>
            <a:endParaRPr lang="en-US" sz="1200" dirty="0"/>
          </a:p>
        </p:txBody>
      </p:sp>
      <p:sp>
        <p:nvSpPr>
          <p:cNvPr id="39" name="Text 37"/>
          <p:cNvSpPr/>
          <p:nvPr/>
        </p:nvSpPr>
        <p:spPr>
          <a:xfrm>
            <a:off x="2880360" y="4489704"/>
            <a:ext cx="2743200" cy="457200"/>
          </a:xfrm>
          <a:prstGeom prst="rect">
            <a:avLst/>
          </a:prstGeom>
          <a:noFill/>
          <a:ln/>
        </p:spPr>
        <p:txBody>
          <a:bodyPr wrap="square" rtlCol="0" anchor="ctr"/>
          <a:lstStyle/>
          <a:p>
            <a:pPr marL="0" indent="0">
              <a:buNone/>
            </a:pPr>
            <a:r>
              <a:rPr lang="en-US" sz="1100" dirty="0">
                <a:solidFill>
                  <a:srgbClr val="5A7A9A"/>
                </a:solidFill>
                <a:latin typeface="Calibri" pitchFamily="34" charset="0"/>
                <a:ea typeface="Calibri" pitchFamily="34" charset="-122"/>
                <a:cs typeface="Calibri" pitchFamily="34" charset="-120"/>
              </a:rPr>
              <a:t>Resize to 224×224, save as JPEG to processed/ folders</a:t>
            </a:r>
            <a:endParaRPr lang="en-US" sz="1100" dirty="0"/>
          </a:p>
        </p:txBody>
      </p:sp>
      <p:sp>
        <p:nvSpPr>
          <p:cNvPr id="40" name="Shape 38"/>
          <p:cNvSpPr/>
          <p:nvPr/>
        </p:nvSpPr>
        <p:spPr>
          <a:xfrm>
            <a:off x="5806440" y="2121408"/>
            <a:ext cx="2880360" cy="2743200"/>
          </a:xfrm>
          <a:prstGeom prst="roundRect">
            <a:avLst>
              <a:gd name="adj" fmla="val 3000"/>
            </a:avLst>
          </a:prstGeom>
          <a:solidFill>
            <a:srgbClr val="162638"/>
          </a:solidFill>
          <a:ln/>
          <a:effectLst>
            <a:outerShdw blurRad="101600" dist="38100" dir="2700000" algn="bl" rotWithShape="0">
              <a:srgbClr val="000000">
                <a:alpha val="25000"/>
              </a:srgbClr>
            </a:outerShdw>
          </a:effectLst>
        </p:spPr>
      </p:sp>
      <p:sp>
        <p:nvSpPr>
          <p:cNvPr id="41" name="Text 39"/>
          <p:cNvSpPr/>
          <p:nvPr/>
        </p:nvSpPr>
        <p:spPr>
          <a:xfrm>
            <a:off x="5897880" y="2176272"/>
            <a:ext cx="2697480" cy="384048"/>
          </a:xfrm>
          <a:prstGeom prst="rect">
            <a:avLst/>
          </a:prstGeom>
          <a:noFill/>
          <a:ln/>
        </p:spPr>
        <p:txBody>
          <a:bodyPr wrap="square" rtlCol="0" anchor="ctr"/>
          <a:lstStyle/>
          <a:p>
            <a:pPr marL="0" indent="0">
              <a:buNone/>
            </a:pPr>
            <a:r>
              <a:rPr lang="en-US" sz="1300" b="1" dirty="0">
                <a:solidFill>
                  <a:srgbClr val="00C9A7"/>
                </a:solidFill>
                <a:latin typeface="Calibri" pitchFamily="34" charset="0"/>
                <a:ea typeface="Calibri" pitchFamily="34" charset="-122"/>
                <a:cs typeface="Calibri" pitchFamily="34" charset="-120"/>
              </a:rPr>
              <a:t>Why Celeb-DF ?</a:t>
            </a:r>
            <a:endParaRPr lang="en-US" sz="1300" dirty="0"/>
          </a:p>
        </p:txBody>
      </p:sp>
      <p:sp>
        <p:nvSpPr>
          <p:cNvPr id="42" name="Text 40"/>
          <p:cNvSpPr/>
          <p:nvPr/>
        </p:nvSpPr>
        <p:spPr>
          <a:xfrm>
            <a:off x="5897880" y="2615184"/>
            <a:ext cx="2697480" cy="329184"/>
          </a:xfrm>
          <a:prstGeom prst="rect">
            <a:avLst/>
          </a:prstGeom>
          <a:noFill/>
          <a:ln/>
        </p:spPr>
        <p:txBody>
          <a:bodyPr wrap="square" rtlCol="0" anchor="ctr"/>
          <a:lstStyle/>
          <a:p>
            <a:pPr marL="0" indent="0">
              <a:buNone/>
            </a:pPr>
            <a:r>
              <a:rPr lang="en-US" sz="1100" b="1" dirty="0">
                <a:solidFill>
                  <a:srgbClr val="00C9A7"/>
                </a:solidFill>
                <a:latin typeface="Calibri" pitchFamily="34" charset="0"/>
                <a:ea typeface="Calibri" pitchFamily="34" charset="-122"/>
                <a:cs typeface="Calibri" pitchFamily="34" charset="-120"/>
              </a:rPr>
              <a:t>✔  </a:t>
            </a:r>
            <a:r>
              <a:rPr lang="en-US" sz="1100" dirty="0">
                <a:solidFill>
                  <a:srgbClr val="B0C4DE"/>
                </a:solidFill>
                <a:latin typeface="Calibri" pitchFamily="34" charset="0"/>
                <a:ea typeface="Calibri" pitchFamily="34" charset="-122"/>
                <a:cs typeface="Calibri" pitchFamily="34" charset="-120"/>
              </a:rPr>
              <a:t>High visual quality — hard to detect</a:t>
            </a:r>
            <a:endParaRPr lang="en-US" sz="1100" dirty="0"/>
          </a:p>
        </p:txBody>
      </p:sp>
      <p:sp>
        <p:nvSpPr>
          <p:cNvPr id="43" name="Text 41"/>
          <p:cNvSpPr/>
          <p:nvPr/>
        </p:nvSpPr>
        <p:spPr>
          <a:xfrm>
            <a:off x="5897880" y="2980944"/>
            <a:ext cx="2697480" cy="329184"/>
          </a:xfrm>
          <a:prstGeom prst="rect">
            <a:avLst/>
          </a:prstGeom>
          <a:noFill/>
          <a:ln/>
        </p:spPr>
        <p:txBody>
          <a:bodyPr wrap="square" rtlCol="0" anchor="ctr"/>
          <a:lstStyle/>
          <a:p>
            <a:pPr marL="0" indent="0">
              <a:buNone/>
            </a:pPr>
            <a:r>
              <a:rPr lang="en-US" sz="1100" b="1" dirty="0">
                <a:solidFill>
                  <a:srgbClr val="00C9A7"/>
                </a:solidFill>
                <a:latin typeface="Calibri" pitchFamily="34" charset="0"/>
                <a:ea typeface="Calibri" pitchFamily="34" charset="-122"/>
                <a:cs typeface="Calibri" pitchFamily="34" charset="-120"/>
              </a:rPr>
              <a:t>✔  </a:t>
            </a:r>
            <a:r>
              <a:rPr lang="en-US" sz="1100" dirty="0">
                <a:solidFill>
                  <a:srgbClr val="B0C4DE"/>
                </a:solidFill>
                <a:latin typeface="Calibri" pitchFamily="34" charset="0"/>
                <a:ea typeface="Calibri" pitchFamily="34" charset="-122"/>
                <a:cs typeface="Calibri" pitchFamily="34" charset="-120"/>
              </a:rPr>
              <a:t>Celebrity subjects, realistic poses</a:t>
            </a:r>
            <a:endParaRPr lang="en-US" sz="1100" dirty="0"/>
          </a:p>
        </p:txBody>
      </p:sp>
      <p:sp>
        <p:nvSpPr>
          <p:cNvPr id="44" name="Text 42"/>
          <p:cNvSpPr/>
          <p:nvPr/>
        </p:nvSpPr>
        <p:spPr>
          <a:xfrm>
            <a:off x="5897880" y="3346704"/>
            <a:ext cx="2697480" cy="329184"/>
          </a:xfrm>
          <a:prstGeom prst="rect">
            <a:avLst/>
          </a:prstGeom>
          <a:noFill/>
          <a:ln/>
        </p:spPr>
        <p:txBody>
          <a:bodyPr wrap="square" rtlCol="0" anchor="ctr"/>
          <a:lstStyle/>
          <a:p>
            <a:pPr marL="0" indent="0">
              <a:buNone/>
            </a:pPr>
            <a:r>
              <a:rPr lang="en-US" sz="1100" b="1" dirty="0">
                <a:solidFill>
                  <a:srgbClr val="00C9A7"/>
                </a:solidFill>
                <a:latin typeface="Calibri" pitchFamily="34" charset="0"/>
                <a:ea typeface="Calibri" pitchFamily="34" charset="-122"/>
                <a:cs typeface="Calibri" pitchFamily="34" charset="-120"/>
              </a:rPr>
              <a:t>✔  </a:t>
            </a:r>
            <a:r>
              <a:rPr lang="en-US" sz="1100" dirty="0">
                <a:solidFill>
                  <a:srgbClr val="B0C4DE"/>
                </a:solidFill>
                <a:latin typeface="Calibri" pitchFamily="34" charset="0"/>
                <a:ea typeface="Calibri" pitchFamily="34" charset="-122"/>
                <a:cs typeface="Calibri" pitchFamily="34" charset="-120"/>
              </a:rPr>
              <a:t>Autoencoder-based generation (GAN refinement)</a:t>
            </a:r>
            <a:endParaRPr lang="en-US" sz="1100" dirty="0"/>
          </a:p>
        </p:txBody>
      </p:sp>
      <p:sp>
        <p:nvSpPr>
          <p:cNvPr id="45" name="Text 43"/>
          <p:cNvSpPr/>
          <p:nvPr/>
        </p:nvSpPr>
        <p:spPr>
          <a:xfrm>
            <a:off x="5897880" y="3712464"/>
            <a:ext cx="2697480" cy="329184"/>
          </a:xfrm>
          <a:prstGeom prst="rect">
            <a:avLst/>
          </a:prstGeom>
          <a:noFill/>
          <a:ln/>
        </p:spPr>
        <p:txBody>
          <a:bodyPr wrap="square" rtlCol="0" anchor="ctr"/>
          <a:lstStyle/>
          <a:p>
            <a:pPr marL="0" indent="0">
              <a:buNone/>
            </a:pPr>
            <a:r>
              <a:rPr lang="en-US" sz="1100" b="1" dirty="0">
                <a:solidFill>
                  <a:srgbClr val="00C9A7"/>
                </a:solidFill>
                <a:latin typeface="Calibri" pitchFamily="34" charset="0"/>
                <a:ea typeface="Calibri" pitchFamily="34" charset="-122"/>
                <a:cs typeface="Calibri" pitchFamily="34" charset="-120"/>
              </a:rPr>
              <a:t>✔  </a:t>
            </a:r>
            <a:r>
              <a:rPr lang="en-US" sz="1100" dirty="0">
                <a:solidFill>
                  <a:srgbClr val="B0C4DE"/>
                </a:solidFill>
                <a:latin typeface="Calibri" pitchFamily="34" charset="0"/>
                <a:ea typeface="Calibri" pitchFamily="34" charset="-122"/>
                <a:cs typeface="Calibri" pitchFamily="34" charset="-120"/>
              </a:rPr>
              <a:t>Widely used in benchmarks</a:t>
            </a:r>
            <a:endParaRPr lang="en-US" sz="1100" dirty="0"/>
          </a:p>
        </p:txBody>
      </p:sp>
      <p:sp>
        <p:nvSpPr>
          <p:cNvPr id="46" name="Text 44"/>
          <p:cNvSpPr/>
          <p:nvPr/>
        </p:nvSpPr>
        <p:spPr>
          <a:xfrm>
            <a:off x="5897880" y="4078224"/>
            <a:ext cx="2697480" cy="329184"/>
          </a:xfrm>
          <a:prstGeom prst="rect">
            <a:avLst/>
          </a:prstGeom>
          <a:noFill/>
          <a:ln/>
        </p:spPr>
        <p:txBody>
          <a:bodyPr wrap="square" rtlCol="0" anchor="ctr"/>
          <a:lstStyle/>
          <a:p>
            <a:pPr marL="0" indent="0">
              <a:buNone/>
            </a:pPr>
            <a:r>
              <a:rPr lang="en-US" sz="1100" b="1" dirty="0">
                <a:solidFill>
                  <a:srgbClr val="00C9A7"/>
                </a:solidFill>
                <a:latin typeface="Calibri" pitchFamily="34" charset="0"/>
                <a:ea typeface="Calibri" pitchFamily="34" charset="-122"/>
                <a:cs typeface="Calibri" pitchFamily="34" charset="-120"/>
              </a:rPr>
              <a:t>✔  </a:t>
            </a:r>
            <a:r>
              <a:rPr lang="en-US" sz="1100" dirty="0">
                <a:solidFill>
                  <a:srgbClr val="B0C4DE"/>
                </a:solidFill>
                <a:latin typeface="Calibri" pitchFamily="34" charset="0"/>
                <a:ea typeface="Calibri" pitchFamily="34" charset="-122"/>
                <a:cs typeface="Calibri" pitchFamily="34" charset="-120"/>
              </a:rPr>
              <a:t>Controlled real/fake balance</a:t>
            </a:r>
            <a:endParaRPr lang="en-US" sz="1100" dirty="0"/>
          </a:p>
        </p:txBody>
      </p:sp>
      <p:sp>
        <p:nvSpPr>
          <p:cNvPr id="47" name="Text 45"/>
          <p:cNvSpPr/>
          <p:nvPr/>
        </p:nvSpPr>
        <p:spPr>
          <a:xfrm>
            <a:off x="5897880" y="4443984"/>
            <a:ext cx="2697480" cy="329184"/>
          </a:xfrm>
          <a:prstGeom prst="rect">
            <a:avLst/>
          </a:prstGeom>
          <a:noFill/>
          <a:ln/>
        </p:spPr>
        <p:txBody>
          <a:bodyPr wrap="square" rtlCol="0" anchor="ctr"/>
          <a:lstStyle/>
          <a:p>
            <a:pPr marL="0" indent="0">
              <a:buNone/>
            </a:pPr>
            <a:r>
              <a:rPr lang="en-US" sz="1100" b="1" dirty="0">
                <a:solidFill>
                  <a:srgbClr val="00C9A7"/>
                </a:solidFill>
                <a:latin typeface="Calibri" pitchFamily="34" charset="0"/>
                <a:ea typeface="Calibri" pitchFamily="34" charset="-122"/>
                <a:cs typeface="Calibri" pitchFamily="34" charset="-120"/>
              </a:rPr>
              <a:t>✔  </a:t>
            </a:r>
            <a:r>
              <a:rPr lang="en-US" sz="1100" dirty="0">
                <a:solidFill>
                  <a:srgbClr val="B0C4DE"/>
                </a:solidFill>
                <a:latin typeface="Calibri" pitchFamily="34" charset="0"/>
                <a:ea typeface="Calibri" pitchFamily="34" charset="-122"/>
                <a:cs typeface="Calibri" pitchFamily="34" charset="-120"/>
              </a:rPr>
              <a:t>Publicly available for research</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F1B2D"/>
        </a:solidFill>
        <a:effectLst/>
      </p:bgPr>
    </p:bg>
    <p:spTree>
      <p:nvGrpSpPr>
        <p:cNvPr id="1" name=""/>
        <p:cNvGrpSpPr/>
        <p:nvPr/>
      </p:nvGrpSpPr>
      <p:grpSpPr>
        <a:xfrm>
          <a:off x="0" y="0"/>
          <a:ext cx="0" cy="0"/>
          <a:chOff x="0" y="0"/>
          <a:chExt cx="0" cy="0"/>
        </a:xfrm>
      </p:grpSpPr>
      <p:sp>
        <p:nvSpPr>
          <p:cNvPr id="2" name="Text 0"/>
          <p:cNvSpPr/>
          <p:nvPr/>
        </p:nvSpPr>
        <p:spPr>
          <a:xfrm>
            <a:off x="457200" y="256032"/>
            <a:ext cx="8229600" cy="566928"/>
          </a:xfrm>
          <a:prstGeom prst="rect">
            <a:avLst/>
          </a:prstGeom>
          <a:noFill/>
          <a:ln/>
        </p:spPr>
        <p:txBody>
          <a:bodyPr wrap="square" rtlCol="0" anchor="ctr"/>
          <a:lstStyle/>
          <a:p>
            <a:pPr marL="0" indent="0">
              <a:buNone/>
            </a:pPr>
            <a:r>
              <a:rPr lang="en-US" sz="3200" b="1" dirty="0">
                <a:solidFill>
                  <a:srgbClr val="FFFFFF"/>
                </a:solidFill>
                <a:latin typeface="Cambria" pitchFamily="34" charset="0"/>
                <a:ea typeface="Cambria" pitchFamily="34" charset="-122"/>
                <a:cs typeface="Cambria" pitchFamily="34" charset="-120"/>
              </a:rPr>
              <a:t>Methodology — Detection Pipeline</a:t>
            </a:r>
            <a:endParaRPr lang="en-US" sz="3200" dirty="0"/>
          </a:p>
        </p:txBody>
      </p:sp>
      <p:sp>
        <p:nvSpPr>
          <p:cNvPr id="3" name="Shape 1"/>
          <p:cNvSpPr/>
          <p:nvPr/>
        </p:nvSpPr>
        <p:spPr>
          <a:xfrm>
            <a:off x="457200" y="850392"/>
            <a:ext cx="8229600" cy="27432"/>
          </a:xfrm>
          <a:prstGeom prst="rect">
            <a:avLst/>
          </a:prstGeom>
          <a:solidFill>
            <a:srgbClr val="00C9A7"/>
          </a:solidFill>
          <a:ln/>
        </p:spPr>
      </p:sp>
      <p:sp>
        <p:nvSpPr>
          <p:cNvPr id="4" name="Shape 2"/>
          <p:cNvSpPr/>
          <p:nvPr/>
        </p:nvSpPr>
        <p:spPr>
          <a:xfrm>
            <a:off x="228600" y="987552"/>
            <a:ext cx="1261872" cy="987552"/>
          </a:xfrm>
          <a:prstGeom prst="roundRect">
            <a:avLst>
              <a:gd name="adj" fmla="val 8333"/>
            </a:avLst>
          </a:prstGeom>
          <a:solidFill>
            <a:srgbClr val="1A2F4A"/>
          </a:solidFill>
          <a:ln/>
          <a:effectLst>
            <a:outerShdw blurRad="101600" dist="38100" dir="2700000" algn="bl" rotWithShape="0">
              <a:srgbClr val="000000">
                <a:alpha val="25000"/>
              </a:srgbClr>
            </a:outerShdw>
          </a:effectLst>
        </p:spPr>
      </p:sp>
      <p:sp>
        <p:nvSpPr>
          <p:cNvPr id="5" name="Text 3"/>
          <p:cNvSpPr/>
          <p:nvPr/>
        </p:nvSpPr>
        <p:spPr>
          <a:xfrm>
            <a:off x="228600" y="987552"/>
            <a:ext cx="1261872" cy="987552"/>
          </a:xfrm>
          <a:prstGeom prst="rect">
            <a:avLst/>
          </a:prstGeom>
          <a:noFill/>
          <a:ln/>
        </p:spPr>
        <p:txBody>
          <a:bodyPr wrap="square" rtlCol="0" anchor="ctr"/>
          <a:lstStyle/>
          <a:p>
            <a:pPr marL="0" indent="0" algn="ctr">
              <a:buNone/>
            </a:pPr>
            <a:r>
              <a:rPr lang="en-US" sz="1000" b="1" dirty="0">
                <a:solidFill>
                  <a:srgbClr val="00C9A7"/>
                </a:solidFill>
                <a:latin typeface="Calibri" pitchFamily="34" charset="0"/>
                <a:ea typeface="Calibri" pitchFamily="34" charset="-122"/>
                <a:cs typeface="Calibri" pitchFamily="34" charset="-120"/>
              </a:rPr>
              <a:t>Raw</a:t>
            </a:r>
            <a:endParaRPr lang="en-US" sz="1000" dirty="0"/>
          </a:p>
          <a:p>
            <a:pPr marL="0" indent="0" algn="ctr">
              <a:buNone/>
            </a:pPr>
            <a:r>
              <a:rPr lang="en-US" sz="1000" b="1" dirty="0">
                <a:solidFill>
                  <a:srgbClr val="00C9A7"/>
                </a:solidFill>
                <a:latin typeface="Calibri" pitchFamily="34" charset="0"/>
                <a:ea typeface="Calibri" pitchFamily="34" charset="-122"/>
                <a:cs typeface="Calibri" pitchFamily="34" charset="-120"/>
              </a:rPr>
              <a:t>Videos (.mp4)</a:t>
            </a:r>
            <a:endParaRPr lang="en-US" sz="1000" dirty="0"/>
          </a:p>
        </p:txBody>
      </p:sp>
      <p:sp>
        <p:nvSpPr>
          <p:cNvPr id="6" name="Shape 4"/>
          <p:cNvSpPr/>
          <p:nvPr/>
        </p:nvSpPr>
        <p:spPr>
          <a:xfrm>
            <a:off x="1490472" y="1490472"/>
            <a:ext cx="201168" cy="0"/>
          </a:xfrm>
          <a:prstGeom prst="line">
            <a:avLst/>
          </a:prstGeom>
          <a:noFill/>
          <a:ln w="25400">
            <a:solidFill>
              <a:srgbClr val="B0C4DE"/>
            </a:solidFill>
            <a:prstDash val="solid"/>
          </a:ln>
        </p:spPr>
      </p:sp>
      <p:sp>
        <p:nvSpPr>
          <p:cNvPr id="7" name="Shape 5"/>
          <p:cNvSpPr/>
          <p:nvPr/>
        </p:nvSpPr>
        <p:spPr>
          <a:xfrm>
            <a:off x="1691640" y="987552"/>
            <a:ext cx="1261872" cy="987552"/>
          </a:xfrm>
          <a:prstGeom prst="roundRect">
            <a:avLst>
              <a:gd name="adj" fmla="val 8333"/>
            </a:avLst>
          </a:prstGeom>
          <a:solidFill>
            <a:srgbClr val="1A2F4A"/>
          </a:solidFill>
          <a:ln/>
          <a:effectLst>
            <a:outerShdw blurRad="101600" dist="38100" dir="2700000" algn="bl" rotWithShape="0">
              <a:srgbClr val="000000">
                <a:alpha val="25000"/>
              </a:srgbClr>
            </a:outerShdw>
          </a:effectLst>
        </p:spPr>
      </p:sp>
      <p:sp>
        <p:nvSpPr>
          <p:cNvPr id="8" name="Text 6"/>
          <p:cNvSpPr/>
          <p:nvPr/>
        </p:nvSpPr>
        <p:spPr>
          <a:xfrm>
            <a:off x="1691640" y="987552"/>
            <a:ext cx="1261872" cy="987552"/>
          </a:xfrm>
          <a:prstGeom prst="rect">
            <a:avLst/>
          </a:prstGeom>
          <a:noFill/>
          <a:ln/>
        </p:spPr>
        <p:txBody>
          <a:bodyPr wrap="square" rtlCol="0" anchor="ctr"/>
          <a:lstStyle/>
          <a:p>
            <a:pPr marL="0" indent="0" algn="ctr">
              <a:buNone/>
            </a:pPr>
            <a:r>
              <a:rPr lang="en-US" sz="1000" b="1" dirty="0">
                <a:solidFill>
                  <a:srgbClr val="FFD93D"/>
                </a:solidFill>
                <a:latin typeface="Calibri" pitchFamily="34" charset="0"/>
                <a:ea typeface="Calibri" pitchFamily="34" charset="-122"/>
                <a:cs typeface="Calibri" pitchFamily="34" charset="-120"/>
              </a:rPr>
              <a:t>Frame</a:t>
            </a:r>
            <a:endParaRPr lang="en-US" sz="1000" dirty="0"/>
          </a:p>
          <a:p>
            <a:pPr marL="0" indent="0" algn="ctr">
              <a:buNone/>
            </a:pPr>
            <a:r>
              <a:rPr lang="en-US" sz="1000" b="1" dirty="0">
                <a:solidFill>
                  <a:srgbClr val="FFD93D"/>
                </a:solidFill>
                <a:latin typeface="Calibri" pitchFamily="34" charset="0"/>
                <a:ea typeface="Calibri" pitchFamily="34" charset="-122"/>
                <a:cs typeface="Calibri" pitchFamily="34" charset="-120"/>
              </a:rPr>
              <a:t>Extraction</a:t>
            </a:r>
            <a:endParaRPr lang="en-US" sz="1000" dirty="0"/>
          </a:p>
        </p:txBody>
      </p:sp>
      <p:sp>
        <p:nvSpPr>
          <p:cNvPr id="9" name="Shape 7"/>
          <p:cNvSpPr/>
          <p:nvPr/>
        </p:nvSpPr>
        <p:spPr>
          <a:xfrm>
            <a:off x="2953512" y="1490472"/>
            <a:ext cx="201168" cy="0"/>
          </a:xfrm>
          <a:prstGeom prst="line">
            <a:avLst/>
          </a:prstGeom>
          <a:noFill/>
          <a:ln w="25400">
            <a:solidFill>
              <a:srgbClr val="B0C4DE"/>
            </a:solidFill>
            <a:prstDash val="solid"/>
          </a:ln>
        </p:spPr>
      </p:sp>
      <p:sp>
        <p:nvSpPr>
          <p:cNvPr id="10" name="Shape 8"/>
          <p:cNvSpPr/>
          <p:nvPr/>
        </p:nvSpPr>
        <p:spPr>
          <a:xfrm>
            <a:off x="3154680" y="987552"/>
            <a:ext cx="1261872" cy="987552"/>
          </a:xfrm>
          <a:prstGeom prst="roundRect">
            <a:avLst>
              <a:gd name="adj" fmla="val 8333"/>
            </a:avLst>
          </a:prstGeom>
          <a:solidFill>
            <a:srgbClr val="1A2F4A"/>
          </a:solidFill>
          <a:ln/>
          <a:effectLst>
            <a:outerShdw blurRad="101600" dist="38100" dir="2700000" algn="bl" rotWithShape="0">
              <a:srgbClr val="000000">
                <a:alpha val="25000"/>
              </a:srgbClr>
            </a:outerShdw>
          </a:effectLst>
        </p:spPr>
      </p:sp>
      <p:sp>
        <p:nvSpPr>
          <p:cNvPr id="11" name="Text 9"/>
          <p:cNvSpPr/>
          <p:nvPr/>
        </p:nvSpPr>
        <p:spPr>
          <a:xfrm>
            <a:off x="3154680" y="987552"/>
            <a:ext cx="1261872" cy="987552"/>
          </a:xfrm>
          <a:prstGeom prst="rect">
            <a:avLst/>
          </a:prstGeom>
          <a:noFill/>
          <a:ln/>
        </p:spPr>
        <p:txBody>
          <a:bodyPr wrap="square" rtlCol="0" anchor="ctr"/>
          <a:lstStyle/>
          <a:p>
            <a:pPr marL="0" indent="0" algn="ctr">
              <a:buNone/>
            </a:pPr>
            <a:r>
              <a:rPr lang="en-US" sz="1000" b="1" dirty="0">
                <a:solidFill>
                  <a:srgbClr val="7EC8E3"/>
                </a:solidFill>
                <a:latin typeface="Calibri" pitchFamily="34" charset="0"/>
                <a:ea typeface="Calibri" pitchFamily="34" charset="-122"/>
                <a:cs typeface="Calibri" pitchFamily="34" charset="-120"/>
              </a:rPr>
              <a:t>MTCNN</a:t>
            </a:r>
            <a:endParaRPr lang="en-US" sz="1000" dirty="0"/>
          </a:p>
          <a:p>
            <a:pPr marL="0" indent="0" algn="ctr">
              <a:buNone/>
            </a:pPr>
            <a:r>
              <a:rPr lang="en-US" sz="1000" b="1" dirty="0">
                <a:solidFill>
                  <a:srgbClr val="7EC8E3"/>
                </a:solidFill>
                <a:latin typeface="Calibri" pitchFamily="34" charset="0"/>
                <a:ea typeface="Calibri" pitchFamily="34" charset="-122"/>
                <a:cs typeface="Calibri" pitchFamily="34" charset="-120"/>
              </a:rPr>
              <a:t>Face Detection</a:t>
            </a:r>
            <a:endParaRPr lang="en-US" sz="1000" dirty="0"/>
          </a:p>
        </p:txBody>
      </p:sp>
      <p:sp>
        <p:nvSpPr>
          <p:cNvPr id="12" name="Shape 10"/>
          <p:cNvSpPr/>
          <p:nvPr/>
        </p:nvSpPr>
        <p:spPr>
          <a:xfrm>
            <a:off x="4416552" y="1490472"/>
            <a:ext cx="201168" cy="0"/>
          </a:xfrm>
          <a:prstGeom prst="line">
            <a:avLst/>
          </a:prstGeom>
          <a:noFill/>
          <a:ln w="25400">
            <a:solidFill>
              <a:srgbClr val="B0C4DE"/>
            </a:solidFill>
            <a:prstDash val="solid"/>
          </a:ln>
        </p:spPr>
      </p:sp>
      <p:sp>
        <p:nvSpPr>
          <p:cNvPr id="13" name="Shape 11"/>
          <p:cNvSpPr/>
          <p:nvPr/>
        </p:nvSpPr>
        <p:spPr>
          <a:xfrm>
            <a:off x="4617720" y="987552"/>
            <a:ext cx="1261872" cy="987552"/>
          </a:xfrm>
          <a:prstGeom prst="roundRect">
            <a:avLst>
              <a:gd name="adj" fmla="val 8333"/>
            </a:avLst>
          </a:prstGeom>
          <a:solidFill>
            <a:srgbClr val="1A2F4A"/>
          </a:solidFill>
          <a:ln/>
          <a:effectLst>
            <a:outerShdw blurRad="101600" dist="38100" dir="2700000" algn="bl" rotWithShape="0">
              <a:srgbClr val="000000">
                <a:alpha val="25000"/>
              </a:srgbClr>
            </a:outerShdw>
          </a:effectLst>
        </p:spPr>
      </p:sp>
      <p:sp>
        <p:nvSpPr>
          <p:cNvPr id="14" name="Text 12"/>
          <p:cNvSpPr/>
          <p:nvPr/>
        </p:nvSpPr>
        <p:spPr>
          <a:xfrm>
            <a:off x="4617720" y="987552"/>
            <a:ext cx="1261872" cy="987552"/>
          </a:xfrm>
          <a:prstGeom prst="rect">
            <a:avLst/>
          </a:prstGeom>
          <a:noFill/>
          <a:ln/>
        </p:spPr>
        <p:txBody>
          <a:bodyPr wrap="square" rtlCol="0" anchor="ctr"/>
          <a:lstStyle/>
          <a:p>
            <a:pPr marL="0" indent="0" algn="ctr">
              <a:buNone/>
            </a:pPr>
            <a:r>
              <a:rPr lang="en-US" sz="1000" b="1" dirty="0">
                <a:solidFill>
                  <a:srgbClr val="FF9F40"/>
                </a:solidFill>
                <a:latin typeface="Calibri" pitchFamily="34" charset="0"/>
                <a:ea typeface="Calibri" pitchFamily="34" charset="-122"/>
                <a:cs typeface="Calibri" pitchFamily="34" charset="-120"/>
              </a:rPr>
              <a:t>Image</a:t>
            </a:r>
            <a:endParaRPr lang="en-US" sz="1000" dirty="0"/>
          </a:p>
          <a:p>
            <a:pPr marL="0" indent="0" algn="ctr">
              <a:buNone/>
            </a:pPr>
            <a:r>
              <a:rPr lang="en-US" sz="1000" b="1" dirty="0">
                <a:solidFill>
                  <a:srgbClr val="FF9F40"/>
                </a:solidFill>
                <a:latin typeface="Calibri" pitchFamily="34" charset="0"/>
                <a:ea typeface="Calibri" pitchFamily="34" charset="-122"/>
                <a:cs typeface="Calibri" pitchFamily="34" charset="-120"/>
              </a:rPr>
              <a:t>Preprocessing</a:t>
            </a:r>
            <a:endParaRPr lang="en-US" sz="1000" dirty="0"/>
          </a:p>
          <a:p>
            <a:pPr marL="0" indent="0" algn="ctr">
              <a:buNone/>
            </a:pPr>
            <a:r>
              <a:rPr lang="en-US" sz="1000" b="1" dirty="0">
                <a:solidFill>
                  <a:srgbClr val="FF9F40"/>
                </a:solidFill>
                <a:latin typeface="Calibri" pitchFamily="34" charset="0"/>
                <a:ea typeface="Calibri" pitchFamily="34" charset="-122"/>
                <a:cs typeface="Calibri" pitchFamily="34" charset="-120"/>
              </a:rPr>
              <a:t>224×224</a:t>
            </a:r>
            <a:endParaRPr lang="en-US" sz="1000" dirty="0"/>
          </a:p>
        </p:txBody>
      </p:sp>
      <p:sp>
        <p:nvSpPr>
          <p:cNvPr id="15" name="Shape 13"/>
          <p:cNvSpPr/>
          <p:nvPr/>
        </p:nvSpPr>
        <p:spPr>
          <a:xfrm>
            <a:off x="5879592" y="1490472"/>
            <a:ext cx="201168" cy="0"/>
          </a:xfrm>
          <a:prstGeom prst="line">
            <a:avLst/>
          </a:prstGeom>
          <a:noFill/>
          <a:ln w="25400">
            <a:solidFill>
              <a:srgbClr val="B0C4DE"/>
            </a:solidFill>
            <a:prstDash val="solid"/>
          </a:ln>
        </p:spPr>
      </p:sp>
      <p:sp>
        <p:nvSpPr>
          <p:cNvPr id="16" name="Shape 14"/>
          <p:cNvSpPr/>
          <p:nvPr/>
        </p:nvSpPr>
        <p:spPr>
          <a:xfrm>
            <a:off x="6080760" y="987552"/>
            <a:ext cx="1261872" cy="987552"/>
          </a:xfrm>
          <a:prstGeom prst="roundRect">
            <a:avLst>
              <a:gd name="adj" fmla="val 8333"/>
            </a:avLst>
          </a:prstGeom>
          <a:solidFill>
            <a:srgbClr val="1A2F4A"/>
          </a:solidFill>
          <a:ln/>
          <a:effectLst>
            <a:outerShdw blurRad="101600" dist="38100" dir="2700000" algn="bl" rotWithShape="0">
              <a:srgbClr val="000000">
                <a:alpha val="25000"/>
              </a:srgbClr>
            </a:outerShdw>
          </a:effectLst>
        </p:spPr>
      </p:sp>
      <p:sp>
        <p:nvSpPr>
          <p:cNvPr id="17" name="Text 15"/>
          <p:cNvSpPr/>
          <p:nvPr/>
        </p:nvSpPr>
        <p:spPr>
          <a:xfrm>
            <a:off x="6080760" y="987552"/>
            <a:ext cx="1261872" cy="987552"/>
          </a:xfrm>
          <a:prstGeom prst="rect">
            <a:avLst/>
          </a:prstGeom>
          <a:noFill/>
          <a:ln/>
        </p:spPr>
        <p:txBody>
          <a:bodyPr wrap="square" rtlCol="0" anchor="ctr"/>
          <a:lstStyle/>
          <a:p>
            <a:pPr marL="0" indent="0" algn="ctr">
              <a:buNone/>
            </a:pPr>
            <a:r>
              <a:rPr lang="en-US" sz="1000" b="1" dirty="0">
                <a:solidFill>
                  <a:srgbClr val="FF6B6B"/>
                </a:solidFill>
                <a:latin typeface="Calibri" pitchFamily="34" charset="0"/>
                <a:ea typeface="Calibri" pitchFamily="34" charset="-122"/>
                <a:cs typeface="Calibri" pitchFamily="34" charset="-120"/>
              </a:rPr>
              <a:t>EfficientNet-B0</a:t>
            </a:r>
            <a:endParaRPr lang="en-US" sz="1000" dirty="0"/>
          </a:p>
          <a:p>
            <a:pPr marL="0" indent="0" algn="ctr">
              <a:buNone/>
            </a:pPr>
            <a:r>
              <a:rPr lang="en-US" sz="1000" b="1" dirty="0">
                <a:solidFill>
                  <a:srgbClr val="FF6B6B"/>
                </a:solidFill>
                <a:latin typeface="Calibri" pitchFamily="34" charset="0"/>
                <a:ea typeface="Calibri" pitchFamily="34" charset="-122"/>
                <a:cs typeface="Calibri" pitchFamily="34" charset="-120"/>
              </a:rPr>
              <a:t>(Fine-tuned)</a:t>
            </a:r>
            <a:endParaRPr lang="en-US" sz="1000" dirty="0"/>
          </a:p>
        </p:txBody>
      </p:sp>
      <p:sp>
        <p:nvSpPr>
          <p:cNvPr id="18" name="Shape 16"/>
          <p:cNvSpPr/>
          <p:nvPr/>
        </p:nvSpPr>
        <p:spPr>
          <a:xfrm>
            <a:off x="7342632" y="1490472"/>
            <a:ext cx="201168" cy="0"/>
          </a:xfrm>
          <a:prstGeom prst="line">
            <a:avLst/>
          </a:prstGeom>
          <a:noFill/>
          <a:ln w="25400">
            <a:solidFill>
              <a:srgbClr val="B0C4DE"/>
            </a:solidFill>
            <a:prstDash val="solid"/>
          </a:ln>
        </p:spPr>
      </p:sp>
      <p:sp>
        <p:nvSpPr>
          <p:cNvPr id="19" name="Shape 17"/>
          <p:cNvSpPr/>
          <p:nvPr/>
        </p:nvSpPr>
        <p:spPr>
          <a:xfrm>
            <a:off x="7543800" y="987552"/>
            <a:ext cx="1261872" cy="987552"/>
          </a:xfrm>
          <a:prstGeom prst="roundRect">
            <a:avLst>
              <a:gd name="adj" fmla="val 8333"/>
            </a:avLst>
          </a:prstGeom>
          <a:solidFill>
            <a:srgbClr val="1A2F4A"/>
          </a:solidFill>
          <a:ln/>
          <a:effectLst>
            <a:outerShdw blurRad="101600" dist="38100" dir="2700000" algn="bl" rotWithShape="0">
              <a:srgbClr val="000000">
                <a:alpha val="25000"/>
              </a:srgbClr>
            </a:outerShdw>
          </a:effectLst>
        </p:spPr>
      </p:sp>
      <p:sp>
        <p:nvSpPr>
          <p:cNvPr id="20" name="Text 18"/>
          <p:cNvSpPr/>
          <p:nvPr/>
        </p:nvSpPr>
        <p:spPr>
          <a:xfrm>
            <a:off x="7543800" y="987552"/>
            <a:ext cx="1261872" cy="987552"/>
          </a:xfrm>
          <a:prstGeom prst="rect">
            <a:avLst/>
          </a:prstGeom>
          <a:noFill/>
          <a:ln/>
        </p:spPr>
        <p:txBody>
          <a:bodyPr wrap="square" rtlCol="0" anchor="ctr"/>
          <a:lstStyle/>
          <a:p>
            <a:pPr marL="0" indent="0" algn="ctr">
              <a:buNone/>
            </a:pPr>
            <a:r>
              <a:rPr lang="en-US" sz="1000" b="1" dirty="0">
                <a:solidFill>
                  <a:srgbClr val="A78BFA"/>
                </a:solidFill>
                <a:latin typeface="Calibri" pitchFamily="34" charset="0"/>
                <a:ea typeface="Calibri" pitchFamily="34" charset="-122"/>
                <a:cs typeface="Calibri" pitchFamily="34" charset="-120"/>
              </a:rPr>
              <a:t>Prediction</a:t>
            </a:r>
            <a:endParaRPr lang="en-US" sz="1000" dirty="0"/>
          </a:p>
          <a:p>
            <a:pPr marL="0" indent="0" algn="ctr">
              <a:buNone/>
            </a:pPr>
            <a:r>
              <a:rPr lang="en-US" sz="1000" b="1" dirty="0">
                <a:solidFill>
                  <a:srgbClr val="A78BFA"/>
                </a:solidFill>
                <a:latin typeface="Calibri" pitchFamily="34" charset="0"/>
                <a:ea typeface="Calibri" pitchFamily="34" charset="-122"/>
                <a:cs typeface="Calibri" pitchFamily="34" charset="-120"/>
              </a:rPr>
              <a:t>Real / Fake</a:t>
            </a:r>
            <a:endParaRPr lang="en-US" sz="1000" dirty="0"/>
          </a:p>
        </p:txBody>
      </p:sp>
      <p:sp>
        <p:nvSpPr>
          <p:cNvPr id="21" name="Shape 19"/>
          <p:cNvSpPr/>
          <p:nvPr/>
        </p:nvSpPr>
        <p:spPr>
          <a:xfrm>
            <a:off x="365760" y="2121408"/>
            <a:ext cx="4114800" cy="886968"/>
          </a:xfrm>
          <a:prstGeom prst="roundRect">
            <a:avLst>
              <a:gd name="adj" fmla="val 9278"/>
            </a:avLst>
          </a:prstGeom>
          <a:solidFill>
            <a:srgbClr val="162638"/>
          </a:solidFill>
          <a:ln/>
          <a:effectLst>
            <a:outerShdw blurRad="101600" dist="38100" dir="2700000" algn="bl" rotWithShape="0">
              <a:srgbClr val="000000">
                <a:alpha val="25000"/>
              </a:srgbClr>
            </a:outerShdw>
          </a:effectLst>
        </p:spPr>
      </p:sp>
      <p:sp>
        <p:nvSpPr>
          <p:cNvPr id="22" name="Text 20"/>
          <p:cNvSpPr/>
          <p:nvPr/>
        </p:nvSpPr>
        <p:spPr>
          <a:xfrm>
            <a:off x="457200" y="2176272"/>
            <a:ext cx="3931920" cy="274320"/>
          </a:xfrm>
          <a:prstGeom prst="rect">
            <a:avLst/>
          </a:prstGeom>
          <a:noFill/>
          <a:ln/>
        </p:spPr>
        <p:txBody>
          <a:bodyPr wrap="square" rtlCol="0" anchor="ctr"/>
          <a:lstStyle/>
          <a:p>
            <a:pPr marL="0" indent="0">
              <a:buNone/>
            </a:pPr>
            <a:r>
              <a:rPr lang="en-US" sz="1100" b="1" dirty="0">
                <a:solidFill>
                  <a:srgbClr val="00C9A7"/>
                </a:solidFill>
                <a:latin typeface="Calibri" pitchFamily="34" charset="0"/>
                <a:ea typeface="Calibri" pitchFamily="34" charset="-122"/>
                <a:cs typeface="Calibri" pitchFamily="34" charset="-120"/>
              </a:rPr>
              <a:t>Raw Videos</a:t>
            </a:r>
            <a:endParaRPr lang="en-US" sz="1100" dirty="0"/>
          </a:p>
        </p:txBody>
      </p:sp>
      <p:sp>
        <p:nvSpPr>
          <p:cNvPr id="23" name="Text 21"/>
          <p:cNvSpPr/>
          <p:nvPr/>
        </p:nvSpPr>
        <p:spPr>
          <a:xfrm>
            <a:off x="457200" y="2450592"/>
            <a:ext cx="3931920" cy="512064"/>
          </a:xfrm>
          <a:prstGeom prst="rect">
            <a:avLst/>
          </a:prstGeom>
          <a:noFill/>
          <a:ln/>
        </p:spPr>
        <p:txBody>
          <a:bodyPr wrap="square" rtlCol="0" anchor="ctr"/>
          <a:lstStyle/>
          <a:p>
            <a:pPr marL="0" indent="0">
              <a:buNone/>
            </a:pPr>
            <a:r>
              <a:rPr lang="en-US" sz="1000" dirty="0">
                <a:solidFill>
                  <a:srgbClr val="B0C4DE"/>
                </a:solidFill>
                <a:latin typeface="Calibri" pitchFamily="34" charset="0"/>
                <a:ea typeface="Calibri" pitchFamily="34" charset="-122"/>
                <a:cs typeface="Calibri" pitchFamily="34" charset="-120"/>
              </a:rPr>
              <a:t>590 real celebrity videos and 590 GAN-synthesized fake videos from Celeb-DF . Videos are loaded using cv2.VideoCapture to stream frames without full decompression.</a:t>
            </a:r>
            <a:endParaRPr lang="en-US" sz="1000" dirty="0"/>
          </a:p>
        </p:txBody>
      </p:sp>
      <p:sp>
        <p:nvSpPr>
          <p:cNvPr id="24" name="Shape 22"/>
          <p:cNvSpPr/>
          <p:nvPr/>
        </p:nvSpPr>
        <p:spPr>
          <a:xfrm>
            <a:off x="365760" y="3108960"/>
            <a:ext cx="4114800" cy="886968"/>
          </a:xfrm>
          <a:prstGeom prst="roundRect">
            <a:avLst>
              <a:gd name="adj" fmla="val 9278"/>
            </a:avLst>
          </a:prstGeom>
          <a:solidFill>
            <a:srgbClr val="162638"/>
          </a:solidFill>
          <a:ln/>
          <a:effectLst>
            <a:outerShdw blurRad="101600" dist="38100" dir="2700000" algn="bl" rotWithShape="0">
              <a:srgbClr val="000000">
                <a:alpha val="25000"/>
              </a:srgbClr>
            </a:outerShdw>
          </a:effectLst>
        </p:spPr>
      </p:sp>
      <p:sp>
        <p:nvSpPr>
          <p:cNvPr id="25" name="Text 23"/>
          <p:cNvSpPr/>
          <p:nvPr/>
        </p:nvSpPr>
        <p:spPr>
          <a:xfrm>
            <a:off x="457200" y="3163824"/>
            <a:ext cx="3931920" cy="274320"/>
          </a:xfrm>
          <a:prstGeom prst="rect">
            <a:avLst/>
          </a:prstGeom>
          <a:noFill/>
          <a:ln/>
        </p:spPr>
        <p:txBody>
          <a:bodyPr wrap="square" rtlCol="0" anchor="ctr"/>
          <a:lstStyle/>
          <a:p>
            <a:pPr marL="0" indent="0">
              <a:buNone/>
            </a:pPr>
            <a:r>
              <a:rPr lang="en-US" sz="1100" b="1" dirty="0">
                <a:solidFill>
                  <a:srgbClr val="FFD93D"/>
                </a:solidFill>
                <a:latin typeface="Calibri" pitchFamily="34" charset="0"/>
                <a:ea typeface="Calibri" pitchFamily="34" charset="-122"/>
                <a:cs typeface="Calibri" pitchFamily="34" charset="-120"/>
              </a:rPr>
              <a:t>Frame Extraction</a:t>
            </a:r>
            <a:endParaRPr lang="en-US" sz="1100" dirty="0"/>
          </a:p>
        </p:txBody>
      </p:sp>
      <p:sp>
        <p:nvSpPr>
          <p:cNvPr id="26" name="Text 24"/>
          <p:cNvSpPr/>
          <p:nvPr/>
        </p:nvSpPr>
        <p:spPr>
          <a:xfrm>
            <a:off x="457200" y="3438144"/>
            <a:ext cx="3931920" cy="512064"/>
          </a:xfrm>
          <a:prstGeom prst="rect">
            <a:avLst/>
          </a:prstGeom>
          <a:noFill/>
          <a:ln/>
        </p:spPr>
        <p:txBody>
          <a:bodyPr wrap="square" rtlCol="0" anchor="ctr"/>
          <a:lstStyle/>
          <a:p>
            <a:pPr marL="0" indent="0">
              <a:buNone/>
            </a:pPr>
            <a:r>
              <a:rPr lang="en-US" sz="1000" dirty="0">
                <a:solidFill>
                  <a:srgbClr val="B0C4DE"/>
                </a:solidFill>
                <a:latin typeface="Calibri" pitchFamily="34" charset="0"/>
                <a:ea typeface="Calibri" pitchFamily="34" charset="-122"/>
                <a:cs typeface="Calibri" pitchFamily="34" charset="-120"/>
              </a:rPr>
              <a:t>Frames are sampled every 15 frames (≈ 2 fps for 30 fps video). At most 5 face-containing frames are retained per video to balance coverage and redundancy.</a:t>
            </a:r>
            <a:endParaRPr lang="en-US" sz="1000" dirty="0"/>
          </a:p>
        </p:txBody>
      </p:sp>
      <p:sp>
        <p:nvSpPr>
          <p:cNvPr id="27" name="Shape 25"/>
          <p:cNvSpPr/>
          <p:nvPr/>
        </p:nvSpPr>
        <p:spPr>
          <a:xfrm>
            <a:off x="365760" y="4096512"/>
            <a:ext cx="4114800" cy="886968"/>
          </a:xfrm>
          <a:prstGeom prst="roundRect">
            <a:avLst>
              <a:gd name="adj" fmla="val 9278"/>
            </a:avLst>
          </a:prstGeom>
          <a:solidFill>
            <a:srgbClr val="162638"/>
          </a:solidFill>
          <a:ln/>
          <a:effectLst>
            <a:outerShdw blurRad="101600" dist="38100" dir="2700000" algn="bl" rotWithShape="0">
              <a:srgbClr val="000000">
                <a:alpha val="25000"/>
              </a:srgbClr>
            </a:outerShdw>
          </a:effectLst>
        </p:spPr>
      </p:sp>
      <p:sp>
        <p:nvSpPr>
          <p:cNvPr id="28" name="Text 26"/>
          <p:cNvSpPr/>
          <p:nvPr/>
        </p:nvSpPr>
        <p:spPr>
          <a:xfrm>
            <a:off x="457200" y="4151376"/>
            <a:ext cx="3931920" cy="274320"/>
          </a:xfrm>
          <a:prstGeom prst="rect">
            <a:avLst/>
          </a:prstGeom>
          <a:noFill/>
          <a:ln/>
        </p:spPr>
        <p:txBody>
          <a:bodyPr wrap="square" rtlCol="0" anchor="ctr"/>
          <a:lstStyle/>
          <a:p>
            <a:pPr marL="0" indent="0">
              <a:buNone/>
            </a:pPr>
            <a:r>
              <a:rPr lang="en-US" sz="1100" b="1" dirty="0">
                <a:solidFill>
                  <a:srgbClr val="7EC8E3"/>
                </a:solidFill>
                <a:latin typeface="Calibri" pitchFamily="34" charset="0"/>
                <a:ea typeface="Calibri" pitchFamily="34" charset="-122"/>
                <a:cs typeface="Calibri" pitchFamily="34" charset="-120"/>
              </a:rPr>
              <a:t>MTCNN Face Detection</a:t>
            </a:r>
            <a:endParaRPr lang="en-US" sz="1100" dirty="0"/>
          </a:p>
        </p:txBody>
      </p:sp>
      <p:sp>
        <p:nvSpPr>
          <p:cNvPr id="29" name="Text 27"/>
          <p:cNvSpPr/>
          <p:nvPr/>
        </p:nvSpPr>
        <p:spPr>
          <a:xfrm>
            <a:off x="457200" y="4425696"/>
            <a:ext cx="3931920" cy="512064"/>
          </a:xfrm>
          <a:prstGeom prst="rect">
            <a:avLst/>
          </a:prstGeom>
          <a:noFill/>
          <a:ln/>
        </p:spPr>
        <p:txBody>
          <a:bodyPr wrap="square" rtlCol="0" anchor="ctr"/>
          <a:lstStyle/>
          <a:p>
            <a:pPr marL="0" indent="0">
              <a:buNone/>
            </a:pPr>
            <a:r>
              <a:rPr lang="en-US" sz="1000" dirty="0">
                <a:solidFill>
                  <a:srgbClr val="B0C4DE"/>
                </a:solidFill>
                <a:latin typeface="Calibri" pitchFamily="34" charset="0"/>
                <a:ea typeface="Calibri" pitchFamily="34" charset="-122"/>
                <a:cs typeface="Calibri" pitchFamily="34" charset="-120"/>
              </a:rPr>
              <a:t>MTCNN (from facenet-pytorch) detects the primary face bounding box in each frame. The face region is cropped using the detected coordinates, clamped to frame boundaries.</a:t>
            </a:r>
            <a:endParaRPr lang="en-US" sz="1000" dirty="0"/>
          </a:p>
        </p:txBody>
      </p:sp>
      <p:sp>
        <p:nvSpPr>
          <p:cNvPr id="30" name="Shape 28"/>
          <p:cNvSpPr/>
          <p:nvPr/>
        </p:nvSpPr>
        <p:spPr>
          <a:xfrm>
            <a:off x="4663440" y="2121408"/>
            <a:ext cx="4114800" cy="886968"/>
          </a:xfrm>
          <a:prstGeom prst="roundRect">
            <a:avLst>
              <a:gd name="adj" fmla="val 9278"/>
            </a:avLst>
          </a:prstGeom>
          <a:solidFill>
            <a:srgbClr val="162638"/>
          </a:solidFill>
          <a:ln/>
          <a:effectLst>
            <a:outerShdw blurRad="101600" dist="38100" dir="2700000" algn="bl" rotWithShape="0">
              <a:srgbClr val="000000">
                <a:alpha val="25000"/>
              </a:srgbClr>
            </a:outerShdw>
          </a:effectLst>
        </p:spPr>
      </p:sp>
      <p:sp>
        <p:nvSpPr>
          <p:cNvPr id="31" name="Text 29"/>
          <p:cNvSpPr/>
          <p:nvPr/>
        </p:nvSpPr>
        <p:spPr>
          <a:xfrm>
            <a:off x="4754880" y="2176272"/>
            <a:ext cx="3931920" cy="274320"/>
          </a:xfrm>
          <a:prstGeom prst="rect">
            <a:avLst/>
          </a:prstGeom>
          <a:noFill/>
          <a:ln/>
        </p:spPr>
        <p:txBody>
          <a:bodyPr wrap="square" rtlCol="0" anchor="ctr"/>
          <a:lstStyle/>
          <a:p>
            <a:pPr marL="0" indent="0">
              <a:buNone/>
            </a:pPr>
            <a:r>
              <a:rPr lang="en-US" sz="1100" b="1" dirty="0">
                <a:solidFill>
                  <a:srgbClr val="FF9F40"/>
                </a:solidFill>
                <a:latin typeface="Calibri" pitchFamily="34" charset="0"/>
                <a:ea typeface="Calibri" pitchFamily="34" charset="-122"/>
                <a:cs typeface="Calibri" pitchFamily="34" charset="-120"/>
              </a:rPr>
              <a:t>Image Preprocessing</a:t>
            </a:r>
            <a:endParaRPr lang="en-US" sz="1100" dirty="0"/>
          </a:p>
        </p:txBody>
      </p:sp>
      <p:sp>
        <p:nvSpPr>
          <p:cNvPr id="32" name="Text 30"/>
          <p:cNvSpPr/>
          <p:nvPr/>
        </p:nvSpPr>
        <p:spPr>
          <a:xfrm>
            <a:off x="4754880" y="2450592"/>
            <a:ext cx="3931920" cy="512064"/>
          </a:xfrm>
          <a:prstGeom prst="rect">
            <a:avLst/>
          </a:prstGeom>
          <a:noFill/>
          <a:ln/>
        </p:spPr>
        <p:txBody>
          <a:bodyPr wrap="square" rtlCol="0" anchor="ctr"/>
          <a:lstStyle/>
          <a:p>
            <a:pPr marL="0" indent="0">
              <a:buNone/>
            </a:pPr>
            <a:r>
              <a:rPr lang="en-US" sz="1000" dirty="0">
                <a:solidFill>
                  <a:srgbClr val="B0C4DE"/>
                </a:solidFill>
                <a:latin typeface="Calibri" pitchFamily="34" charset="0"/>
                <a:ea typeface="Calibri" pitchFamily="34" charset="-122"/>
                <a:cs typeface="Calibri" pitchFamily="34" charset="-120"/>
              </a:rPr>
              <a:t>Cropped faces are resized to 224×224 pixels and saved as JPEG. During training, augmentations (RandomHorizontalFlip, ColorJitter, GaussianBlur, AddGaussianNoise) are applied. ImageNet normalisation is applied to all splits.</a:t>
            </a:r>
            <a:endParaRPr lang="en-US" sz="1000" dirty="0"/>
          </a:p>
        </p:txBody>
      </p:sp>
      <p:sp>
        <p:nvSpPr>
          <p:cNvPr id="33" name="Shape 31"/>
          <p:cNvSpPr/>
          <p:nvPr/>
        </p:nvSpPr>
        <p:spPr>
          <a:xfrm>
            <a:off x="4663440" y="3108960"/>
            <a:ext cx="4114800" cy="886968"/>
          </a:xfrm>
          <a:prstGeom prst="roundRect">
            <a:avLst>
              <a:gd name="adj" fmla="val 9278"/>
            </a:avLst>
          </a:prstGeom>
          <a:solidFill>
            <a:srgbClr val="162638"/>
          </a:solidFill>
          <a:ln/>
          <a:effectLst>
            <a:outerShdw blurRad="101600" dist="38100" dir="2700000" algn="bl" rotWithShape="0">
              <a:srgbClr val="000000">
                <a:alpha val="25000"/>
              </a:srgbClr>
            </a:outerShdw>
          </a:effectLst>
        </p:spPr>
      </p:sp>
      <p:sp>
        <p:nvSpPr>
          <p:cNvPr id="34" name="Text 32"/>
          <p:cNvSpPr/>
          <p:nvPr/>
        </p:nvSpPr>
        <p:spPr>
          <a:xfrm>
            <a:off x="4754880" y="3163824"/>
            <a:ext cx="3931920" cy="274320"/>
          </a:xfrm>
          <a:prstGeom prst="rect">
            <a:avLst/>
          </a:prstGeom>
          <a:noFill/>
          <a:ln/>
        </p:spPr>
        <p:txBody>
          <a:bodyPr wrap="square" rtlCol="0" anchor="ctr"/>
          <a:lstStyle/>
          <a:p>
            <a:pPr marL="0" indent="0">
              <a:buNone/>
            </a:pPr>
            <a:r>
              <a:rPr lang="en-US" sz="1100" b="1" dirty="0">
                <a:solidFill>
                  <a:srgbClr val="FF6B6B"/>
                </a:solidFill>
                <a:latin typeface="Calibri" pitchFamily="34" charset="0"/>
                <a:ea typeface="Calibri" pitchFamily="34" charset="-122"/>
                <a:cs typeface="Calibri" pitchFamily="34" charset="-120"/>
              </a:rPr>
              <a:t>EfficientNet-B0</a:t>
            </a:r>
            <a:endParaRPr lang="en-US" sz="1100" dirty="0"/>
          </a:p>
        </p:txBody>
      </p:sp>
      <p:sp>
        <p:nvSpPr>
          <p:cNvPr id="35" name="Text 33"/>
          <p:cNvSpPr/>
          <p:nvPr/>
        </p:nvSpPr>
        <p:spPr>
          <a:xfrm>
            <a:off x="4754880" y="3438144"/>
            <a:ext cx="3931920" cy="512064"/>
          </a:xfrm>
          <a:prstGeom prst="rect">
            <a:avLst/>
          </a:prstGeom>
          <a:noFill/>
          <a:ln/>
        </p:spPr>
        <p:txBody>
          <a:bodyPr wrap="square" rtlCol="0" anchor="ctr"/>
          <a:lstStyle/>
          <a:p>
            <a:pPr marL="0" indent="0">
              <a:buNone/>
            </a:pPr>
            <a:r>
              <a:rPr lang="en-US" sz="1000" dirty="0">
                <a:solidFill>
                  <a:srgbClr val="B0C4DE"/>
                </a:solidFill>
                <a:latin typeface="Calibri" pitchFamily="34" charset="0"/>
                <a:ea typeface="Calibri" pitchFamily="34" charset="-122"/>
                <a:cs typeface="Calibri" pitchFamily="34" charset="-120"/>
              </a:rPr>
              <a:t>Pretrained EfficientNet-B0 backbone (ImageNet weights) with the final 1000-class classifier replaced by a Linear(1280→2) layer. Feature extraction layers are fine-tuned end-to-end.</a:t>
            </a:r>
            <a:endParaRPr lang="en-US" sz="1000" dirty="0"/>
          </a:p>
        </p:txBody>
      </p:sp>
      <p:sp>
        <p:nvSpPr>
          <p:cNvPr id="36" name="Shape 34"/>
          <p:cNvSpPr/>
          <p:nvPr/>
        </p:nvSpPr>
        <p:spPr>
          <a:xfrm>
            <a:off x="4663440" y="4096512"/>
            <a:ext cx="4114800" cy="886968"/>
          </a:xfrm>
          <a:prstGeom prst="roundRect">
            <a:avLst>
              <a:gd name="adj" fmla="val 9278"/>
            </a:avLst>
          </a:prstGeom>
          <a:solidFill>
            <a:srgbClr val="162638"/>
          </a:solidFill>
          <a:ln/>
          <a:effectLst>
            <a:outerShdw blurRad="101600" dist="38100" dir="2700000" algn="bl" rotWithShape="0">
              <a:srgbClr val="000000">
                <a:alpha val="25000"/>
              </a:srgbClr>
            </a:outerShdw>
          </a:effectLst>
        </p:spPr>
      </p:sp>
      <p:sp>
        <p:nvSpPr>
          <p:cNvPr id="37" name="Text 35"/>
          <p:cNvSpPr/>
          <p:nvPr/>
        </p:nvSpPr>
        <p:spPr>
          <a:xfrm>
            <a:off x="4754880" y="4151376"/>
            <a:ext cx="3931920" cy="274320"/>
          </a:xfrm>
          <a:prstGeom prst="rect">
            <a:avLst/>
          </a:prstGeom>
          <a:noFill/>
          <a:ln/>
        </p:spPr>
        <p:txBody>
          <a:bodyPr wrap="square" rtlCol="0" anchor="ctr"/>
          <a:lstStyle/>
          <a:p>
            <a:pPr marL="0" indent="0">
              <a:buNone/>
            </a:pPr>
            <a:r>
              <a:rPr lang="en-US" sz="1100" b="1" dirty="0">
                <a:solidFill>
                  <a:srgbClr val="A78BFA"/>
                </a:solidFill>
                <a:latin typeface="Calibri" pitchFamily="34" charset="0"/>
                <a:ea typeface="Calibri" pitchFamily="34" charset="-122"/>
                <a:cs typeface="Calibri" pitchFamily="34" charset="-120"/>
              </a:rPr>
              <a:t>Prediction</a:t>
            </a:r>
            <a:endParaRPr lang="en-US" sz="1100" dirty="0"/>
          </a:p>
        </p:txBody>
      </p:sp>
      <p:sp>
        <p:nvSpPr>
          <p:cNvPr id="38" name="Text 36"/>
          <p:cNvSpPr/>
          <p:nvPr/>
        </p:nvSpPr>
        <p:spPr>
          <a:xfrm>
            <a:off x="4754880" y="4425696"/>
            <a:ext cx="3931920" cy="512064"/>
          </a:xfrm>
          <a:prstGeom prst="rect">
            <a:avLst/>
          </a:prstGeom>
          <a:noFill/>
          <a:ln/>
        </p:spPr>
        <p:txBody>
          <a:bodyPr wrap="square" rtlCol="0" anchor="ctr"/>
          <a:lstStyle/>
          <a:p>
            <a:pPr marL="0" indent="0">
              <a:buNone/>
            </a:pPr>
            <a:r>
              <a:rPr lang="en-US" sz="1000" dirty="0">
                <a:solidFill>
                  <a:srgbClr val="B0C4DE"/>
                </a:solidFill>
                <a:latin typeface="Calibri" pitchFamily="34" charset="0"/>
                <a:ea typeface="Calibri" pitchFamily="34" charset="-122"/>
                <a:cs typeface="Calibri" pitchFamily="34" charset="-120"/>
              </a:rPr>
              <a:t>Model outputs logits for two classes [Fake, Real]. Softmax converts logits to probabilities. The fake-class probability is used as the detection score for ROC/AUC computation.</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F1B2D"/>
        </a:solidFill>
        <a:effectLst/>
      </p:bgPr>
    </p:bg>
    <p:spTree>
      <p:nvGrpSpPr>
        <p:cNvPr id="1" name=""/>
        <p:cNvGrpSpPr/>
        <p:nvPr/>
      </p:nvGrpSpPr>
      <p:grpSpPr>
        <a:xfrm>
          <a:off x="0" y="0"/>
          <a:ext cx="0" cy="0"/>
          <a:chOff x="0" y="0"/>
          <a:chExt cx="0" cy="0"/>
        </a:xfrm>
      </p:grpSpPr>
      <p:sp>
        <p:nvSpPr>
          <p:cNvPr id="2" name="Text 0"/>
          <p:cNvSpPr/>
          <p:nvPr/>
        </p:nvSpPr>
        <p:spPr>
          <a:xfrm>
            <a:off x="457200" y="256032"/>
            <a:ext cx="8229600" cy="566928"/>
          </a:xfrm>
          <a:prstGeom prst="rect">
            <a:avLst/>
          </a:prstGeom>
          <a:noFill/>
          <a:ln/>
        </p:spPr>
        <p:txBody>
          <a:bodyPr wrap="square"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EfficientNet-B0 — Architecture &amp; Rationale</a:t>
            </a:r>
            <a:endParaRPr lang="en-US" sz="3000" dirty="0"/>
          </a:p>
        </p:txBody>
      </p:sp>
      <p:sp>
        <p:nvSpPr>
          <p:cNvPr id="3" name="Shape 1"/>
          <p:cNvSpPr/>
          <p:nvPr/>
        </p:nvSpPr>
        <p:spPr>
          <a:xfrm>
            <a:off x="457200" y="850392"/>
            <a:ext cx="8229600" cy="27432"/>
          </a:xfrm>
          <a:prstGeom prst="rect">
            <a:avLst/>
          </a:prstGeom>
          <a:solidFill>
            <a:srgbClr val="00C9A7"/>
          </a:solidFill>
          <a:ln/>
        </p:spPr>
      </p:sp>
      <p:sp>
        <p:nvSpPr>
          <p:cNvPr id="4" name="Text 2"/>
          <p:cNvSpPr/>
          <p:nvPr/>
        </p:nvSpPr>
        <p:spPr>
          <a:xfrm>
            <a:off x="457200" y="987552"/>
            <a:ext cx="4114800" cy="347472"/>
          </a:xfrm>
          <a:prstGeom prst="rect">
            <a:avLst/>
          </a:prstGeom>
          <a:noFill/>
          <a:ln/>
        </p:spPr>
        <p:txBody>
          <a:bodyPr wrap="square"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Why EfficientNet-B0?</a:t>
            </a:r>
            <a:endParaRPr lang="en-US" sz="1400" dirty="0"/>
          </a:p>
        </p:txBody>
      </p:sp>
      <p:sp>
        <p:nvSpPr>
          <p:cNvPr id="5" name="Shape 3"/>
          <p:cNvSpPr/>
          <p:nvPr/>
        </p:nvSpPr>
        <p:spPr>
          <a:xfrm>
            <a:off x="457200" y="1417320"/>
            <a:ext cx="4114800" cy="804672"/>
          </a:xfrm>
          <a:prstGeom prst="roundRect">
            <a:avLst>
              <a:gd name="adj" fmla="val 10227"/>
            </a:avLst>
          </a:prstGeom>
          <a:solidFill>
            <a:srgbClr val="162638"/>
          </a:solidFill>
          <a:ln/>
          <a:effectLst>
            <a:outerShdw blurRad="101600" dist="38100" dir="2700000" algn="bl" rotWithShape="0">
              <a:srgbClr val="000000">
                <a:alpha val="25000"/>
              </a:srgbClr>
            </a:outerShdw>
          </a:effectLst>
        </p:spPr>
      </p:sp>
      <p:sp>
        <p:nvSpPr>
          <p:cNvPr id="6" name="Shape 4"/>
          <p:cNvSpPr/>
          <p:nvPr/>
        </p:nvSpPr>
        <p:spPr>
          <a:xfrm>
            <a:off x="530352" y="1572768"/>
            <a:ext cx="256032" cy="256032"/>
          </a:xfrm>
          <a:prstGeom prst="ellipse">
            <a:avLst/>
          </a:prstGeom>
          <a:solidFill>
            <a:srgbClr val="00C9A7">
              <a:alpha val="80000"/>
            </a:srgbClr>
          </a:solidFill>
          <a:ln/>
        </p:spPr>
      </p:sp>
      <p:sp>
        <p:nvSpPr>
          <p:cNvPr id="7" name="Text 5"/>
          <p:cNvSpPr/>
          <p:nvPr/>
        </p:nvSpPr>
        <p:spPr>
          <a:xfrm>
            <a:off x="914400" y="1463040"/>
            <a:ext cx="3566160" cy="274320"/>
          </a:xfrm>
          <a:prstGeom prst="rect">
            <a:avLst/>
          </a:prstGeom>
          <a:noFill/>
          <a:ln/>
        </p:spPr>
        <p:txBody>
          <a:bodyPr wrap="square" rtlCol="0" anchor="ctr"/>
          <a:lstStyle/>
          <a:p>
            <a:pPr marL="0" indent="0">
              <a:buNone/>
            </a:pPr>
            <a:r>
              <a:rPr lang="en-US" sz="1200" b="1" dirty="0">
                <a:solidFill>
                  <a:srgbClr val="00C9A7"/>
                </a:solidFill>
                <a:latin typeface="Calibri" pitchFamily="34" charset="0"/>
                <a:ea typeface="Calibri" pitchFamily="34" charset="-122"/>
                <a:cs typeface="Calibri" pitchFamily="34" charset="-120"/>
              </a:rPr>
              <a:t>Compound Scaling</a:t>
            </a:r>
            <a:endParaRPr lang="en-US" sz="1200" dirty="0"/>
          </a:p>
        </p:txBody>
      </p:sp>
      <p:sp>
        <p:nvSpPr>
          <p:cNvPr id="8" name="Text 6"/>
          <p:cNvSpPr/>
          <p:nvPr/>
        </p:nvSpPr>
        <p:spPr>
          <a:xfrm>
            <a:off x="566928" y="1755648"/>
            <a:ext cx="3931920" cy="402336"/>
          </a:xfrm>
          <a:prstGeom prst="rect">
            <a:avLst/>
          </a:prstGeom>
          <a:noFill/>
          <a:ln/>
        </p:spPr>
        <p:txBody>
          <a:bodyPr wrap="square" rtlCol="0" anchor="ctr"/>
          <a:lstStyle/>
          <a:p>
            <a:pPr marL="0" indent="0">
              <a:buNone/>
            </a:pPr>
            <a:r>
              <a:rPr lang="en-US" sz="1050" dirty="0">
                <a:solidFill>
                  <a:srgbClr val="B0C4DE"/>
                </a:solidFill>
                <a:latin typeface="Calibri" pitchFamily="34" charset="0"/>
                <a:ea typeface="Calibri" pitchFamily="34" charset="-122"/>
                <a:cs typeface="Calibri" pitchFamily="34" charset="-120"/>
              </a:rPr>
              <a:t>Scales depth, width &amp; resolution together using a fixed coefficient — more principled than scaling one dimension alone.</a:t>
            </a:r>
            <a:endParaRPr lang="en-US" sz="1050" dirty="0"/>
          </a:p>
        </p:txBody>
      </p:sp>
      <p:sp>
        <p:nvSpPr>
          <p:cNvPr id="9" name="Shape 7"/>
          <p:cNvSpPr/>
          <p:nvPr/>
        </p:nvSpPr>
        <p:spPr>
          <a:xfrm>
            <a:off x="457200" y="2331720"/>
            <a:ext cx="4114800" cy="804672"/>
          </a:xfrm>
          <a:prstGeom prst="roundRect">
            <a:avLst>
              <a:gd name="adj" fmla="val 10227"/>
            </a:avLst>
          </a:prstGeom>
          <a:solidFill>
            <a:srgbClr val="162638"/>
          </a:solidFill>
          <a:ln/>
          <a:effectLst>
            <a:outerShdw blurRad="101600" dist="38100" dir="2700000" algn="bl" rotWithShape="0">
              <a:srgbClr val="000000">
                <a:alpha val="25000"/>
              </a:srgbClr>
            </a:outerShdw>
          </a:effectLst>
        </p:spPr>
      </p:sp>
      <p:sp>
        <p:nvSpPr>
          <p:cNvPr id="10" name="Shape 8"/>
          <p:cNvSpPr/>
          <p:nvPr/>
        </p:nvSpPr>
        <p:spPr>
          <a:xfrm>
            <a:off x="530352" y="2487168"/>
            <a:ext cx="256032" cy="256032"/>
          </a:xfrm>
          <a:prstGeom prst="ellipse">
            <a:avLst/>
          </a:prstGeom>
          <a:solidFill>
            <a:srgbClr val="FFD93D">
              <a:alpha val="80000"/>
            </a:srgbClr>
          </a:solidFill>
          <a:ln/>
        </p:spPr>
      </p:sp>
      <p:sp>
        <p:nvSpPr>
          <p:cNvPr id="11" name="Text 9"/>
          <p:cNvSpPr/>
          <p:nvPr/>
        </p:nvSpPr>
        <p:spPr>
          <a:xfrm>
            <a:off x="914400" y="2377440"/>
            <a:ext cx="3566160" cy="274320"/>
          </a:xfrm>
          <a:prstGeom prst="rect">
            <a:avLst/>
          </a:prstGeom>
          <a:noFill/>
          <a:ln/>
        </p:spPr>
        <p:txBody>
          <a:bodyPr wrap="square" rtlCol="0" anchor="ctr"/>
          <a:lstStyle/>
          <a:p>
            <a:pPr marL="0" indent="0">
              <a:buNone/>
            </a:pPr>
            <a:r>
              <a:rPr lang="en-US" sz="1200" b="1" dirty="0">
                <a:solidFill>
                  <a:srgbClr val="FFD93D"/>
                </a:solidFill>
                <a:latin typeface="Calibri" pitchFamily="34" charset="0"/>
                <a:ea typeface="Calibri" pitchFamily="34" charset="-122"/>
                <a:cs typeface="Calibri" pitchFamily="34" charset="-120"/>
              </a:rPr>
              <a:t>Efficiency</a:t>
            </a:r>
            <a:endParaRPr lang="en-US" sz="1200" dirty="0"/>
          </a:p>
        </p:txBody>
      </p:sp>
      <p:sp>
        <p:nvSpPr>
          <p:cNvPr id="12" name="Text 10"/>
          <p:cNvSpPr/>
          <p:nvPr/>
        </p:nvSpPr>
        <p:spPr>
          <a:xfrm>
            <a:off x="566928" y="2670048"/>
            <a:ext cx="3931920" cy="402336"/>
          </a:xfrm>
          <a:prstGeom prst="rect">
            <a:avLst/>
          </a:prstGeom>
          <a:noFill/>
          <a:ln/>
        </p:spPr>
        <p:txBody>
          <a:bodyPr wrap="square" rtlCol="0" anchor="ctr"/>
          <a:lstStyle/>
          <a:p>
            <a:pPr marL="0" indent="0">
              <a:buNone/>
            </a:pPr>
            <a:r>
              <a:rPr lang="en-US" sz="1050" dirty="0">
                <a:solidFill>
                  <a:srgbClr val="B0C4DE"/>
                </a:solidFill>
                <a:latin typeface="Calibri" pitchFamily="34" charset="0"/>
                <a:ea typeface="Calibri" pitchFamily="34" charset="-122"/>
                <a:cs typeface="Calibri" pitchFamily="34" charset="-120"/>
              </a:rPr>
              <a:t>B0 achieves ImageNet top-1 accuracy comparable to ResNet-50 at 5× fewer parameters (5.3M vs 25M).</a:t>
            </a:r>
            <a:endParaRPr lang="en-US" sz="1050" dirty="0"/>
          </a:p>
        </p:txBody>
      </p:sp>
      <p:sp>
        <p:nvSpPr>
          <p:cNvPr id="13" name="Shape 11"/>
          <p:cNvSpPr/>
          <p:nvPr/>
        </p:nvSpPr>
        <p:spPr>
          <a:xfrm>
            <a:off x="457200" y="3246120"/>
            <a:ext cx="4114800" cy="804672"/>
          </a:xfrm>
          <a:prstGeom prst="roundRect">
            <a:avLst>
              <a:gd name="adj" fmla="val 10227"/>
            </a:avLst>
          </a:prstGeom>
          <a:solidFill>
            <a:srgbClr val="162638"/>
          </a:solidFill>
          <a:ln/>
          <a:effectLst>
            <a:outerShdw blurRad="101600" dist="38100" dir="2700000" algn="bl" rotWithShape="0">
              <a:srgbClr val="000000">
                <a:alpha val="25000"/>
              </a:srgbClr>
            </a:outerShdw>
          </a:effectLst>
        </p:spPr>
      </p:sp>
      <p:sp>
        <p:nvSpPr>
          <p:cNvPr id="14" name="Shape 12"/>
          <p:cNvSpPr/>
          <p:nvPr/>
        </p:nvSpPr>
        <p:spPr>
          <a:xfrm>
            <a:off x="530352" y="3401568"/>
            <a:ext cx="256032" cy="256032"/>
          </a:xfrm>
          <a:prstGeom prst="ellipse">
            <a:avLst/>
          </a:prstGeom>
          <a:solidFill>
            <a:srgbClr val="7EC8E3">
              <a:alpha val="80000"/>
            </a:srgbClr>
          </a:solidFill>
          <a:ln/>
        </p:spPr>
      </p:sp>
      <p:sp>
        <p:nvSpPr>
          <p:cNvPr id="15" name="Text 13"/>
          <p:cNvSpPr/>
          <p:nvPr/>
        </p:nvSpPr>
        <p:spPr>
          <a:xfrm>
            <a:off x="914400" y="3291840"/>
            <a:ext cx="3566160" cy="274320"/>
          </a:xfrm>
          <a:prstGeom prst="rect">
            <a:avLst/>
          </a:prstGeom>
          <a:noFill/>
          <a:ln/>
        </p:spPr>
        <p:txBody>
          <a:bodyPr wrap="square" rtlCol="0" anchor="ctr"/>
          <a:lstStyle/>
          <a:p>
            <a:pPr marL="0" indent="0">
              <a:buNone/>
            </a:pPr>
            <a:r>
              <a:rPr lang="en-US" sz="1200" b="1" dirty="0">
                <a:solidFill>
                  <a:srgbClr val="7EC8E3"/>
                </a:solidFill>
                <a:latin typeface="Calibri" pitchFamily="34" charset="0"/>
                <a:ea typeface="Calibri" pitchFamily="34" charset="-122"/>
                <a:cs typeface="Calibri" pitchFamily="34" charset="-120"/>
              </a:rPr>
              <a:t>Transfer Learning</a:t>
            </a:r>
            <a:endParaRPr lang="en-US" sz="1200" dirty="0"/>
          </a:p>
        </p:txBody>
      </p:sp>
      <p:sp>
        <p:nvSpPr>
          <p:cNvPr id="16" name="Text 14"/>
          <p:cNvSpPr/>
          <p:nvPr/>
        </p:nvSpPr>
        <p:spPr>
          <a:xfrm>
            <a:off x="566928" y="3584448"/>
            <a:ext cx="3931920" cy="402336"/>
          </a:xfrm>
          <a:prstGeom prst="rect">
            <a:avLst/>
          </a:prstGeom>
          <a:noFill/>
          <a:ln/>
        </p:spPr>
        <p:txBody>
          <a:bodyPr wrap="square" rtlCol="0" anchor="ctr"/>
          <a:lstStyle/>
          <a:p>
            <a:pPr marL="0" indent="0">
              <a:buNone/>
            </a:pPr>
            <a:r>
              <a:rPr lang="en-US" sz="1050" dirty="0">
                <a:solidFill>
                  <a:srgbClr val="B0C4DE"/>
                </a:solidFill>
                <a:latin typeface="Calibri" pitchFamily="34" charset="0"/>
                <a:ea typeface="Calibri" pitchFamily="34" charset="-122"/>
                <a:cs typeface="Calibri" pitchFamily="34" charset="-120"/>
              </a:rPr>
              <a:t>ImageNet pretrained weights provide rich low-level texture features — exactly the kind of clues deepfakes corrupt.</a:t>
            </a:r>
            <a:endParaRPr lang="en-US" sz="1050" dirty="0"/>
          </a:p>
        </p:txBody>
      </p:sp>
      <p:sp>
        <p:nvSpPr>
          <p:cNvPr id="17" name="Shape 15"/>
          <p:cNvSpPr/>
          <p:nvPr/>
        </p:nvSpPr>
        <p:spPr>
          <a:xfrm>
            <a:off x="457200" y="4160520"/>
            <a:ext cx="4114800" cy="804672"/>
          </a:xfrm>
          <a:prstGeom prst="roundRect">
            <a:avLst>
              <a:gd name="adj" fmla="val 10227"/>
            </a:avLst>
          </a:prstGeom>
          <a:solidFill>
            <a:srgbClr val="162638"/>
          </a:solidFill>
          <a:ln/>
          <a:effectLst>
            <a:outerShdw blurRad="101600" dist="38100" dir="2700000" algn="bl" rotWithShape="0">
              <a:srgbClr val="000000">
                <a:alpha val="25000"/>
              </a:srgbClr>
            </a:outerShdw>
          </a:effectLst>
        </p:spPr>
      </p:sp>
      <p:sp>
        <p:nvSpPr>
          <p:cNvPr id="18" name="Shape 16"/>
          <p:cNvSpPr/>
          <p:nvPr/>
        </p:nvSpPr>
        <p:spPr>
          <a:xfrm>
            <a:off x="530352" y="4315968"/>
            <a:ext cx="256032" cy="256032"/>
          </a:xfrm>
          <a:prstGeom prst="ellipse">
            <a:avLst/>
          </a:prstGeom>
          <a:solidFill>
            <a:srgbClr val="FF6B6B">
              <a:alpha val="80000"/>
            </a:srgbClr>
          </a:solidFill>
          <a:ln/>
        </p:spPr>
      </p:sp>
      <p:sp>
        <p:nvSpPr>
          <p:cNvPr id="19" name="Text 17"/>
          <p:cNvSpPr/>
          <p:nvPr/>
        </p:nvSpPr>
        <p:spPr>
          <a:xfrm>
            <a:off x="914400" y="4206240"/>
            <a:ext cx="3566160" cy="274320"/>
          </a:xfrm>
          <a:prstGeom prst="rect">
            <a:avLst/>
          </a:prstGeom>
          <a:noFill/>
          <a:ln/>
        </p:spPr>
        <p:txBody>
          <a:bodyPr wrap="square" rtlCol="0" anchor="ctr"/>
          <a:lstStyle/>
          <a:p>
            <a:pPr marL="0" indent="0">
              <a:buNone/>
            </a:pPr>
            <a:r>
              <a:rPr lang="en-US" sz="1200" b="1" dirty="0">
                <a:solidFill>
                  <a:srgbClr val="FF6B6B"/>
                </a:solidFill>
                <a:latin typeface="Calibri" pitchFamily="34" charset="0"/>
                <a:ea typeface="Calibri" pitchFamily="34" charset="-122"/>
                <a:cs typeface="Calibri" pitchFamily="34" charset="-120"/>
              </a:rPr>
              <a:t>Fine-Tuning</a:t>
            </a:r>
            <a:endParaRPr lang="en-US" sz="1200" dirty="0"/>
          </a:p>
        </p:txBody>
      </p:sp>
      <p:sp>
        <p:nvSpPr>
          <p:cNvPr id="20" name="Text 18"/>
          <p:cNvSpPr/>
          <p:nvPr/>
        </p:nvSpPr>
        <p:spPr>
          <a:xfrm>
            <a:off x="566928" y="4498848"/>
            <a:ext cx="3931920" cy="402336"/>
          </a:xfrm>
          <a:prstGeom prst="rect">
            <a:avLst/>
          </a:prstGeom>
          <a:noFill/>
          <a:ln/>
        </p:spPr>
        <p:txBody>
          <a:bodyPr wrap="square" rtlCol="0" anchor="ctr"/>
          <a:lstStyle/>
          <a:p>
            <a:pPr marL="0" indent="0">
              <a:buNone/>
            </a:pPr>
            <a:r>
              <a:rPr lang="en-US" sz="1050" dirty="0">
                <a:solidFill>
                  <a:srgbClr val="B0C4DE"/>
                </a:solidFill>
                <a:latin typeface="Calibri" pitchFamily="34" charset="0"/>
                <a:ea typeface="Calibri" pitchFamily="34" charset="-122"/>
                <a:cs typeface="Calibri" pitchFamily="34" charset="-120"/>
              </a:rPr>
              <a:t>Final Linear(1280→2) classifier replaces 1000-class head. All layers trained end-to-end with lr = 1e-4.</a:t>
            </a:r>
            <a:endParaRPr lang="en-US" sz="1050" dirty="0"/>
          </a:p>
        </p:txBody>
      </p:sp>
      <p:sp>
        <p:nvSpPr>
          <p:cNvPr id="21" name="Text 19"/>
          <p:cNvSpPr/>
          <p:nvPr/>
        </p:nvSpPr>
        <p:spPr>
          <a:xfrm>
            <a:off x="4846320" y="987552"/>
            <a:ext cx="3840480" cy="347472"/>
          </a:xfrm>
          <a:prstGeom prst="rect">
            <a:avLst/>
          </a:prstGeom>
          <a:noFill/>
          <a:ln/>
        </p:spPr>
        <p:txBody>
          <a:bodyPr wrap="square"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Model Architecture</a:t>
            </a:r>
            <a:endParaRPr lang="en-US" sz="1400" dirty="0"/>
          </a:p>
        </p:txBody>
      </p:sp>
      <p:sp>
        <p:nvSpPr>
          <p:cNvPr id="22" name="Shape 20"/>
          <p:cNvSpPr/>
          <p:nvPr/>
        </p:nvSpPr>
        <p:spPr>
          <a:xfrm>
            <a:off x="4846320" y="1417320"/>
            <a:ext cx="3840480" cy="429768"/>
          </a:xfrm>
          <a:prstGeom prst="roundRect">
            <a:avLst>
              <a:gd name="adj" fmla="val 19149"/>
            </a:avLst>
          </a:prstGeom>
          <a:solidFill>
            <a:srgbClr val="162638"/>
          </a:solidFill>
          <a:ln/>
          <a:effectLst>
            <a:outerShdw blurRad="101600" dist="38100" dir="2700000" algn="bl" rotWithShape="0">
              <a:srgbClr val="000000">
                <a:alpha val="25000"/>
              </a:srgbClr>
            </a:outerShdw>
          </a:effectLst>
        </p:spPr>
      </p:sp>
      <p:sp>
        <p:nvSpPr>
          <p:cNvPr id="23" name="Text 21"/>
          <p:cNvSpPr/>
          <p:nvPr/>
        </p:nvSpPr>
        <p:spPr>
          <a:xfrm>
            <a:off x="4919472" y="1435608"/>
            <a:ext cx="2560320" cy="384048"/>
          </a:xfrm>
          <a:prstGeom prst="rect">
            <a:avLst/>
          </a:prstGeom>
          <a:noFill/>
          <a:ln/>
        </p:spPr>
        <p:txBody>
          <a:bodyPr wrap="square" rtlCol="0" anchor="ctr"/>
          <a:lstStyle/>
          <a:p>
            <a:pPr marL="0" indent="0">
              <a:buNone/>
            </a:pPr>
            <a:r>
              <a:rPr lang="en-US" sz="1100" b="1" dirty="0">
                <a:solidFill>
                  <a:srgbClr val="028090"/>
                </a:solidFill>
                <a:latin typeface="Calibri" pitchFamily="34" charset="0"/>
                <a:ea typeface="Calibri" pitchFamily="34" charset="-122"/>
                <a:cs typeface="Calibri" pitchFamily="34" charset="-120"/>
              </a:rPr>
              <a:t>Input: 224×224×3</a:t>
            </a:r>
            <a:endParaRPr lang="en-US" sz="1100" dirty="0"/>
          </a:p>
        </p:txBody>
      </p:sp>
      <p:sp>
        <p:nvSpPr>
          <p:cNvPr id="24" name="Text 22"/>
          <p:cNvSpPr/>
          <p:nvPr/>
        </p:nvSpPr>
        <p:spPr>
          <a:xfrm>
            <a:off x="7406640" y="1435608"/>
            <a:ext cx="1234440" cy="384048"/>
          </a:xfrm>
          <a:prstGeom prst="rect">
            <a:avLst/>
          </a:prstGeom>
          <a:noFill/>
          <a:ln/>
        </p:spPr>
        <p:txBody>
          <a:bodyPr wrap="square" rtlCol="0" anchor="ctr"/>
          <a:lstStyle/>
          <a:p>
            <a:pPr marL="0" indent="0">
              <a:buNone/>
            </a:pPr>
            <a:r>
              <a:rPr lang="en-US" sz="950" i="1" dirty="0">
                <a:solidFill>
                  <a:srgbClr val="5A7A9A"/>
                </a:solidFill>
                <a:latin typeface="Calibri" pitchFamily="34" charset="0"/>
                <a:ea typeface="Calibri" pitchFamily="34" charset="-122"/>
                <a:cs typeface="Calibri" pitchFamily="34" charset="-120"/>
              </a:rPr>
              <a:t>Face crop (normalised)</a:t>
            </a:r>
            <a:endParaRPr lang="en-US" sz="950" dirty="0"/>
          </a:p>
        </p:txBody>
      </p:sp>
      <p:sp>
        <p:nvSpPr>
          <p:cNvPr id="25" name="Shape 23"/>
          <p:cNvSpPr/>
          <p:nvPr/>
        </p:nvSpPr>
        <p:spPr>
          <a:xfrm>
            <a:off x="6766560" y="1847088"/>
            <a:ext cx="0" cy="109728"/>
          </a:xfrm>
          <a:prstGeom prst="line">
            <a:avLst/>
          </a:prstGeom>
          <a:noFill/>
          <a:ln w="12700">
            <a:solidFill>
              <a:srgbClr val="B0C4DE"/>
            </a:solidFill>
            <a:prstDash val="solid"/>
          </a:ln>
        </p:spPr>
      </p:sp>
      <p:sp>
        <p:nvSpPr>
          <p:cNvPr id="26" name="Shape 24"/>
          <p:cNvSpPr/>
          <p:nvPr/>
        </p:nvSpPr>
        <p:spPr>
          <a:xfrm>
            <a:off x="4846320" y="1956816"/>
            <a:ext cx="3840480" cy="612648"/>
          </a:xfrm>
          <a:prstGeom prst="roundRect">
            <a:avLst>
              <a:gd name="adj" fmla="val 13433"/>
            </a:avLst>
          </a:prstGeom>
          <a:solidFill>
            <a:srgbClr val="162638"/>
          </a:solidFill>
          <a:ln/>
          <a:effectLst>
            <a:outerShdw blurRad="101600" dist="38100" dir="2700000" algn="bl" rotWithShape="0">
              <a:srgbClr val="000000">
                <a:alpha val="25000"/>
              </a:srgbClr>
            </a:outerShdw>
          </a:effectLst>
        </p:spPr>
      </p:sp>
      <p:sp>
        <p:nvSpPr>
          <p:cNvPr id="27" name="Text 25"/>
          <p:cNvSpPr/>
          <p:nvPr/>
        </p:nvSpPr>
        <p:spPr>
          <a:xfrm>
            <a:off x="4919472" y="1975104"/>
            <a:ext cx="2560320" cy="566928"/>
          </a:xfrm>
          <a:prstGeom prst="rect">
            <a:avLst/>
          </a:prstGeom>
          <a:noFill/>
          <a:ln/>
        </p:spPr>
        <p:txBody>
          <a:bodyPr wrap="square" rtlCol="0" anchor="ctr"/>
          <a:lstStyle/>
          <a:p>
            <a:pPr marL="0" indent="0">
              <a:buNone/>
            </a:pPr>
            <a:r>
              <a:rPr lang="en-US" sz="1100" b="1" dirty="0">
                <a:solidFill>
                  <a:srgbClr val="02C39A"/>
                </a:solidFill>
                <a:latin typeface="Calibri" pitchFamily="34" charset="0"/>
                <a:ea typeface="Calibri" pitchFamily="34" charset="-122"/>
                <a:cs typeface="Calibri" pitchFamily="34" charset="-120"/>
              </a:rPr>
              <a:t>MBConv Blocks ×16</a:t>
            </a:r>
            <a:endParaRPr lang="en-US" sz="1100" dirty="0"/>
          </a:p>
          <a:p>
            <a:pPr marL="0" indent="0">
              <a:buNone/>
            </a:pPr>
            <a:r>
              <a:rPr lang="en-US" sz="1100" b="1" dirty="0">
                <a:solidFill>
                  <a:srgbClr val="02C39A"/>
                </a:solidFill>
                <a:latin typeface="Calibri" pitchFamily="34" charset="0"/>
                <a:ea typeface="Calibri" pitchFamily="34" charset="-122"/>
                <a:cs typeface="Calibri" pitchFamily="34" charset="-120"/>
              </a:rPr>
              <a:t>(depthwise separable)</a:t>
            </a:r>
            <a:endParaRPr lang="en-US" sz="1100" dirty="0"/>
          </a:p>
        </p:txBody>
      </p:sp>
      <p:sp>
        <p:nvSpPr>
          <p:cNvPr id="28" name="Text 26"/>
          <p:cNvSpPr/>
          <p:nvPr/>
        </p:nvSpPr>
        <p:spPr>
          <a:xfrm>
            <a:off x="7406640" y="1975104"/>
            <a:ext cx="1234440" cy="566928"/>
          </a:xfrm>
          <a:prstGeom prst="rect">
            <a:avLst/>
          </a:prstGeom>
          <a:noFill/>
          <a:ln/>
        </p:spPr>
        <p:txBody>
          <a:bodyPr wrap="square" rtlCol="0" anchor="ctr"/>
          <a:lstStyle/>
          <a:p>
            <a:pPr marL="0" indent="0">
              <a:buNone/>
            </a:pPr>
            <a:r>
              <a:rPr lang="en-US" sz="950" i="1" dirty="0">
                <a:solidFill>
                  <a:srgbClr val="5A7A9A"/>
                </a:solidFill>
                <a:latin typeface="Calibri" pitchFamily="34" charset="0"/>
                <a:ea typeface="Calibri" pitchFamily="34" charset="-122"/>
                <a:cs typeface="Calibri" pitchFamily="34" charset="-120"/>
              </a:rPr>
              <a:t>Backbone feature extractor</a:t>
            </a:r>
            <a:endParaRPr lang="en-US" sz="950" dirty="0"/>
          </a:p>
        </p:txBody>
      </p:sp>
      <p:sp>
        <p:nvSpPr>
          <p:cNvPr id="29" name="Shape 27"/>
          <p:cNvSpPr/>
          <p:nvPr/>
        </p:nvSpPr>
        <p:spPr>
          <a:xfrm>
            <a:off x="6766560" y="2569464"/>
            <a:ext cx="0" cy="109728"/>
          </a:xfrm>
          <a:prstGeom prst="line">
            <a:avLst/>
          </a:prstGeom>
          <a:noFill/>
          <a:ln w="12700">
            <a:solidFill>
              <a:srgbClr val="B0C4DE"/>
            </a:solidFill>
            <a:prstDash val="solid"/>
          </a:ln>
        </p:spPr>
      </p:sp>
      <p:sp>
        <p:nvSpPr>
          <p:cNvPr id="30" name="Shape 28"/>
          <p:cNvSpPr/>
          <p:nvPr/>
        </p:nvSpPr>
        <p:spPr>
          <a:xfrm>
            <a:off x="4846320" y="2679192"/>
            <a:ext cx="3840480" cy="521208"/>
          </a:xfrm>
          <a:prstGeom prst="roundRect">
            <a:avLst>
              <a:gd name="adj" fmla="val 15789"/>
            </a:avLst>
          </a:prstGeom>
          <a:solidFill>
            <a:srgbClr val="162638"/>
          </a:solidFill>
          <a:ln/>
          <a:effectLst>
            <a:outerShdw blurRad="101600" dist="38100" dir="2700000" algn="bl" rotWithShape="0">
              <a:srgbClr val="000000">
                <a:alpha val="25000"/>
              </a:srgbClr>
            </a:outerShdw>
          </a:effectLst>
        </p:spPr>
      </p:sp>
      <p:sp>
        <p:nvSpPr>
          <p:cNvPr id="31" name="Text 29"/>
          <p:cNvSpPr/>
          <p:nvPr/>
        </p:nvSpPr>
        <p:spPr>
          <a:xfrm>
            <a:off x="4919472" y="2697480"/>
            <a:ext cx="2560320" cy="475488"/>
          </a:xfrm>
          <a:prstGeom prst="rect">
            <a:avLst/>
          </a:prstGeom>
          <a:noFill/>
          <a:ln/>
        </p:spPr>
        <p:txBody>
          <a:bodyPr wrap="square" rtlCol="0" anchor="ctr"/>
          <a:lstStyle/>
          <a:p>
            <a:pPr marL="0" indent="0">
              <a:buNone/>
            </a:pPr>
            <a:r>
              <a:rPr lang="en-US" sz="1100" b="1" dirty="0">
                <a:solidFill>
                  <a:srgbClr val="00C9A7"/>
                </a:solidFill>
                <a:latin typeface="Calibri" pitchFamily="34" charset="0"/>
                <a:ea typeface="Calibri" pitchFamily="34" charset="-122"/>
                <a:cs typeface="Calibri" pitchFamily="34" charset="-120"/>
              </a:rPr>
              <a:t>Global Avg Pool</a:t>
            </a:r>
            <a:endParaRPr lang="en-US" sz="1100" dirty="0"/>
          </a:p>
          <a:p>
            <a:pPr marL="0" indent="0">
              <a:buNone/>
            </a:pPr>
            <a:r>
              <a:rPr lang="en-US" sz="1100" b="1" dirty="0">
                <a:solidFill>
                  <a:srgbClr val="00C9A7"/>
                </a:solidFill>
                <a:latin typeface="Calibri" pitchFamily="34" charset="0"/>
                <a:ea typeface="Calibri" pitchFamily="34" charset="-122"/>
                <a:cs typeface="Calibri" pitchFamily="34" charset="-120"/>
              </a:rPr>
              <a:t>→ 1280-d vector</a:t>
            </a:r>
            <a:endParaRPr lang="en-US" sz="1100" dirty="0"/>
          </a:p>
        </p:txBody>
      </p:sp>
      <p:sp>
        <p:nvSpPr>
          <p:cNvPr id="32" name="Text 30"/>
          <p:cNvSpPr/>
          <p:nvPr/>
        </p:nvSpPr>
        <p:spPr>
          <a:xfrm>
            <a:off x="7406640" y="2697480"/>
            <a:ext cx="1234440" cy="475488"/>
          </a:xfrm>
          <a:prstGeom prst="rect">
            <a:avLst/>
          </a:prstGeom>
          <a:noFill/>
          <a:ln/>
        </p:spPr>
        <p:txBody>
          <a:bodyPr wrap="square" rtlCol="0" anchor="ctr"/>
          <a:lstStyle/>
          <a:p>
            <a:pPr marL="0" indent="0">
              <a:buNone/>
            </a:pPr>
            <a:r>
              <a:rPr lang="en-US" sz="950" i="1" dirty="0">
                <a:solidFill>
                  <a:srgbClr val="5A7A9A"/>
                </a:solidFill>
                <a:latin typeface="Calibri" pitchFamily="34" charset="0"/>
                <a:ea typeface="Calibri" pitchFamily="34" charset="-122"/>
                <a:cs typeface="Calibri" pitchFamily="34" charset="-120"/>
              </a:rPr>
              <a:t>Spatial aggregation</a:t>
            </a:r>
            <a:endParaRPr lang="en-US" sz="950" dirty="0"/>
          </a:p>
        </p:txBody>
      </p:sp>
      <p:sp>
        <p:nvSpPr>
          <p:cNvPr id="33" name="Shape 31"/>
          <p:cNvSpPr/>
          <p:nvPr/>
        </p:nvSpPr>
        <p:spPr>
          <a:xfrm>
            <a:off x="6766560" y="3200400"/>
            <a:ext cx="0" cy="109728"/>
          </a:xfrm>
          <a:prstGeom prst="line">
            <a:avLst/>
          </a:prstGeom>
          <a:noFill/>
          <a:ln w="12700">
            <a:solidFill>
              <a:srgbClr val="B0C4DE"/>
            </a:solidFill>
            <a:prstDash val="solid"/>
          </a:ln>
        </p:spPr>
      </p:sp>
      <p:sp>
        <p:nvSpPr>
          <p:cNvPr id="34" name="Shape 32"/>
          <p:cNvSpPr/>
          <p:nvPr/>
        </p:nvSpPr>
        <p:spPr>
          <a:xfrm>
            <a:off x="4846320" y="3310128"/>
            <a:ext cx="3840480" cy="384048"/>
          </a:xfrm>
          <a:prstGeom prst="roundRect">
            <a:avLst>
              <a:gd name="adj" fmla="val 21429"/>
            </a:avLst>
          </a:prstGeom>
          <a:solidFill>
            <a:srgbClr val="162638"/>
          </a:solidFill>
          <a:ln/>
          <a:effectLst>
            <a:outerShdw blurRad="101600" dist="38100" dir="2700000" algn="bl" rotWithShape="0">
              <a:srgbClr val="000000">
                <a:alpha val="25000"/>
              </a:srgbClr>
            </a:outerShdw>
          </a:effectLst>
        </p:spPr>
      </p:sp>
      <p:sp>
        <p:nvSpPr>
          <p:cNvPr id="35" name="Text 33"/>
          <p:cNvSpPr/>
          <p:nvPr/>
        </p:nvSpPr>
        <p:spPr>
          <a:xfrm>
            <a:off x="4919472" y="3328416"/>
            <a:ext cx="2560320" cy="338328"/>
          </a:xfrm>
          <a:prstGeom prst="rect">
            <a:avLst/>
          </a:prstGeom>
          <a:noFill/>
          <a:ln/>
        </p:spPr>
        <p:txBody>
          <a:bodyPr wrap="square" rtlCol="0" anchor="ctr"/>
          <a:lstStyle/>
          <a:p>
            <a:pPr marL="0" indent="0">
              <a:buNone/>
            </a:pPr>
            <a:r>
              <a:rPr lang="en-US" sz="1100" b="1" dirty="0">
                <a:solidFill>
                  <a:srgbClr val="5A7A9A"/>
                </a:solidFill>
                <a:latin typeface="Calibri" pitchFamily="34" charset="0"/>
                <a:ea typeface="Calibri" pitchFamily="34" charset="-122"/>
                <a:cs typeface="Calibri" pitchFamily="34" charset="-120"/>
              </a:rPr>
              <a:t>Dropout (p=0.2)</a:t>
            </a:r>
            <a:endParaRPr lang="en-US" sz="1100" dirty="0"/>
          </a:p>
        </p:txBody>
      </p:sp>
      <p:sp>
        <p:nvSpPr>
          <p:cNvPr id="36" name="Text 34"/>
          <p:cNvSpPr/>
          <p:nvPr/>
        </p:nvSpPr>
        <p:spPr>
          <a:xfrm>
            <a:off x="7406640" y="3328416"/>
            <a:ext cx="1234440" cy="338328"/>
          </a:xfrm>
          <a:prstGeom prst="rect">
            <a:avLst/>
          </a:prstGeom>
          <a:noFill/>
          <a:ln/>
        </p:spPr>
        <p:txBody>
          <a:bodyPr wrap="square" rtlCol="0" anchor="ctr"/>
          <a:lstStyle/>
          <a:p>
            <a:pPr marL="0" indent="0">
              <a:buNone/>
            </a:pPr>
            <a:r>
              <a:rPr lang="en-US" sz="950" i="1" dirty="0">
                <a:solidFill>
                  <a:srgbClr val="5A7A9A"/>
                </a:solidFill>
                <a:latin typeface="Calibri" pitchFamily="34" charset="0"/>
                <a:ea typeface="Calibri" pitchFamily="34" charset="-122"/>
                <a:cs typeface="Calibri" pitchFamily="34" charset="-120"/>
              </a:rPr>
              <a:t>Regularisation</a:t>
            </a:r>
            <a:endParaRPr lang="en-US" sz="950" dirty="0"/>
          </a:p>
        </p:txBody>
      </p:sp>
      <p:sp>
        <p:nvSpPr>
          <p:cNvPr id="37" name="Shape 35"/>
          <p:cNvSpPr/>
          <p:nvPr/>
        </p:nvSpPr>
        <p:spPr>
          <a:xfrm>
            <a:off x="6766560" y="3694176"/>
            <a:ext cx="0" cy="109728"/>
          </a:xfrm>
          <a:prstGeom prst="line">
            <a:avLst/>
          </a:prstGeom>
          <a:noFill/>
          <a:ln w="12700">
            <a:solidFill>
              <a:srgbClr val="B0C4DE"/>
            </a:solidFill>
            <a:prstDash val="solid"/>
          </a:ln>
        </p:spPr>
      </p:sp>
      <p:sp>
        <p:nvSpPr>
          <p:cNvPr id="38" name="Shape 36"/>
          <p:cNvSpPr/>
          <p:nvPr/>
        </p:nvSpPr>
        <p:spPr>
          <a:xfrm>
            <a:off x="4846320" y="3803904"/>
            <a:ext cx="3840480" cy="429768"/>
          </a:xfrm>
          <a:prstGeom prst="roundRect">
            <a:avLst>
              <a:gd name="adj" fmla="val 19149"/>
            </a:avLst>
          </a:prstGeom>
          <a:solidFill>
            <a:srgbClr val="162638"/>
          </a:solidFill>
          <a:ln/>
          <a:effectLst>
            <a:outerShdw blurRad="101600" dist="38100" dir="2700000" algn="bl" rotWithShape="0">
              <a:srgbClr val="000000">
                <a:alpha val="25000"/>
              </a:srgbClr>
            </a:outerShdw>
          </a:effectLst>
        </p:spPr>
      </p:sp>
      <p:sp>
        <p:nvSpPr>
          <p:cNvPr id="39" name="Text 37"/>
          <p:cNvSpPr/>
          <p:nvPr/>
        </p:nvSpPr>
        <p:spPr>
          <a:xfrm>
            <a:off x="4919472" y="3822192"/>
            <a:ext cx="2560320" cy="384048"/>
          </a:xfrm>
          <a:prstGeom prst="rect">
            <a:avLst/>
          </a:prstGeom>
          <a:noFill/>
          <a:ln/>
        </p:spPr>
        <p:txBody>
          <a:bodyPr wrap="square" rtlCol="0" anchor="ctr"/>
          <a:lstStyle/>
          <a:p>
            <a:pPr marL="0" indent="0">
              <a:buNone/>
            </a:pPr>
            <a:r>
              <a:rPr lang="en-US" sz="1100" b="1" dirty="0">
                <a:solidFill>
                  <a:srgbClr val="FFD93D"/>
                </a:solidFill>
                <a:latin typeface="Calibri" pitchFamily="34" charset="0"/>
                <a:ea typeface="Calibri" pitchFamily="34" charset="-122"/>
                <a:cs typeface="Calibri" pitchFamily="34" charset="-120"/>
              </a:rPr>
              <a:t>Linear (1280 → 2)</a:t>
            </a:r>
            <a:endParaRPr lang="en-US" sz="1100" dirty="0"/>
          </a:p>
        </p:txBody>
      </p:sp>
      <p:sp>
        <p:nvSpPr>
          <p:cNvPr id="40" name="Text 38"/>
          <p:cNvSpPr/>
          <p:nvPr/>
        </p:nvSpPr>
        <p:spPr>
          <a:xfrm>
            <a:off x="7406640" y="3822192"/>
            <a:ext cx="1234440" cy="384048"/>
          </a:xfrm>
          <a:prstGeom prst="rect">
            <a:avLst/>
          </a:prstGeom>
          <a:noFill/>
          <a:ln/>
        </p:spPr>
        <p:txBody>
          <a:bodyPr wrap="square" rtlCol="0" anchor="ctr"/>
          <a:lstStyle/>
          <a:p>
            <a:pPr marL="0" indent="0">
              <a:buNone/>
            </a:pPr>
            <a:r>
              <a:rPr lang="en-US" sz="950" i="1" dirty="0">
                <a:solidFill>
                  <a:srgbClr val="5A7A9A"/>
                </a:solidFill>
                <a:latin typeface="Calibri" pitchFamily="34" charset="0"/>
                <a:ea typeface="Calibri" pitchFamily="34" charset="-122"/>
                <a:cs typeface="Calibri" pitchFamily="34" charset="-120"/>
              </a:rPr>
              <a:t>Replaced final layer</a:t>
            </a:r>
            <a:endParaRPr lang="en-US" sz="950" dirty="0"/>
          </a:p>
        </p:txBody>
      </p:sp>
      <p:sp>
        <p:nvSpPr>
          <p:cNvPr id="41" name="Shape 39"/>
          <p:cNvSpPr/>
          <p:nvPr/>
        </p:nvSpPr>
        <p:spPr>
          <a:xfrm>
            <a:off x="6766560" y="4233672"/>
            <a:ext cx="0" cy="109728"/>
          </a:xfrm>
          <a:prstGeom prst="line">
            <a:avLst/>
          </a:prstGeom>
          <a:noFill/>
          <a:ln w="12700">
            <a:solidFill>
              <a:srgbClr val="B0C4DE"/>
            </a:solidFill>
            <a:prstDash val="solid"/>
          </a:ln>
        </p:spPr>
      </p:sp>
      <p:sp>
        <p:nvSpPr>
          <p:cNvPr id="42" name="Shape 40"/>
          <p:cNvSpPr/>
          <p:nvPr/>
        </p:nvSpPr>
        <p:spPr>
          <a:xfrm>
            <a:off x="4846320" y="4343400"/>
            <a:ext cx="3840480" cy="384048"/>
          </a:xfrm>
          <a:prstGeom prst="roundRect">
            <a:avLst>
              <a:gd name="adj" fmla="val 21429"/>
            </a:avLst>
          </a:prstGeom>
          <a:solidFill>
            <a:srgbClr val="162638"/>
          </a:solidFill>
          <a:ln/>
          <a:effectLst>
            <a:outerShdw blurRad="101600" dist="38100" dir="2700000" algn="bl" rotWithShape="0">
              <a:srgbClr val="000000">
                <a:alpha val="25000"/>
              </a:srgbClr>
            </a:outerShdw>
          </a:effectLst>
        </p:spPr>
      </p:sp>
      <p:sp>
        <p:nvSpPr>
          <p:cNvPr id="43" name="Text 41"/>
          <p:cNvSpPr/>
          <p:nvPr/>
        </p:nvSpPr>
        <p:spPr>
          <a:xfrm>
            <a:off x="4919472" y="4361688"/>
            <a:ext cx="2560320" cy="338328"/>
          </a:xfrm>
          <a:prstGeom prst="rect">
            <a:avLst/>
          </a:prstGeom>
          <a:noFill/>
          <a:ln/>
        </p:spPr>
        <p:txBody>
          <a:bodyPr wrap="square" rtlCol="0" anchor="ctr"/>
          <a:lstStyle/>
          <a:p>
            <a:pPr marL="0" indent="0">
              <a:buNone/>
            </a:pPr>
            <a:r>
              <a:rPr lang="en-US" sz="1100" b="1" dirty="0">
                <a:solidFill>
                  <a:srgbClr val="FF6B6B"/>
                </a:solidFill>
                <a:latin typeface="Calibri" pitchFamily="34" charset="0"/>
                <a:ea typeface="Calibri" pitchFamily="34" charset="-122"/>
                <a:cs typeface="Calibri" pitchFamily="34" charset="-120"/>
              </a:rPr>
              <a:t>Softmax → [Fake, Real]</a:t>
            </a:r>
            <a:endParaRPr lang="en-US" sz="1100" dirty="0"/>
          </a:p>
        </p:txBody>
      </p:sp>
      <p:sp>
        <p:nvSpPr>
          <p:cNvPr id="44" name="Text 42"/>
          <p:cNvSpPr/>
          <p:nvPr/>
        </p:nvSpPr>
        <p:spPr>
          <a:xfrm>
            <a:off x="7406640" y="4361688"/>
            <a:ext cx="1234440" cy="338328"/>
          </a:xfrm>
          <a:prstGeom prst="rect">
            <a:avLst/>
          </a:prstGeom>
          <a:noFill/>
          <a:ln/>
        </p:spPr>
        <p:txBody>
          <a:bodyPr wrap="square" rtlCol="0" anchor="ctr"/>
          <a:lstStyle/>
          <a:p>
            <a:pPr marL="0" indent="0">
              <a:buNone/>
            </a:pPr>
            <a:r>
              <a:rPr lang="en-US" sz="950" i="1" dirty="0">
                <a:solidFill>
                  <a:srgbClr val="5A7A9A"/>
                </a:solidFill>
                <a:latin typeface="Calibri" pitchFamily="34" charset="0"/>
                <a:ea typeface="Calibri" pitchFamily="34" charset="-122"/>
                <a:cs typeface="Calibri" pitchFamily="34" charset="-120"/>
              </a:rPr>
              <a:t>Binary prediction</a:t>
            </a: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F1B2D"/>
        </a:solidFill>
        <a:effectLst/>
      </p:bgPr>
    </p:bg>
    <p:spTree>
      <p:nvGrpSpPr>
        <p:cNvPr id="1" name=""/>
        <p:cNvGrpSpPr/>
        <p:nvPr/>
      </p:nvGrpSpPr>
      <p:grpSpPr>
        <a:xfrm>
          <a:off x="0" y="0"/>
          <a:ext cx="0" cy="0"/>
          <a:chOff x="0" y="0"/>
          <a:chExt cx="0" cy="0"/>
        </a:xfrm>
      </p:grpSpPr>
      <p:sp>
        <p:nvSpPr>
          <p:cNvPr id="2" name="Text 0"/>
          <p:cNvSpPr/>
          <p:nvPr/>
        </p:nvSpPr>
        <p:spPr>
          <a:xfrm>
            <a:off x="457200" y="256032"/>
            <a:ext cx="8229600" cy="566928"/>
          </a:xfrm>
          <a:prstGeom prst="rect">
            <a:avLst/>
          </a:prstGeom>
          <a:noFill/>
          <a:ln/>
        </p:spPr>
        <p:txBody>
          <a:bodyPr wrap="square" rtlCol="0" anchor="ctr"/>
          <a:lstStyle/>
          <a:p>
            <a:pPr marL="0" indent="0">
              <a:buNone/>
            </a:pPr>
            <a:r>
              <a:rPr lang="en-US" sz="3200" b="1" dirty="0">
                <a:solidFill>
                  <a:srgbClr val="FFFFFF"/>
                </a:solidFill>
                <a:latin typeface="Cambria" pitchFamily="34" charset="0"/>
                <a:ea typeface="Cambria" pitchFamily="34" charset="-122"/>
                <a:cs typeface="Cambria" pitchFamily="34" charset="-120"/>
              </a:rPr>
              <a:t>Training Details</a:t>
            </a:r>
            <a:endParaRPr lang="en-US" sz="3200" dirty="0"/>
          </a:p>
        </p:txBody>
      </p:sp>
      <p:sp>
        <p:nvSpPr>
          <p:cNvPr id="3" name="Shape 1"/>
          <p:cNvSpPr/>
          <p:nvPr/>
        </p:nvSpPr>
        <p:spPr>
          <a:xfrm>
            <a:off x="457200" y="850392"/>
            <a:ext cx="8229600" cy="27432"/>
          </a:xfrm>
          <a:prstGeom prst="rect">
            <a:avLst/>
          </a:prstGeom>
          <a:solidFill>
            <a:srgbClr val="00C9A7"/>
          </a:solidFill>
          <a:ln/>
        </p:spPr>
      </p:sp>
      <p:sp>
        <p:nvSpPr>
          <p:cNvPr id="4" name="Shape 2"/>
          <p:cNvSpPr/>
          <p:nvPr/>
        </p:nvSpPr>
        <p:spPr>
          <a:xfrm>
            <a:off x="274320" y="987552"/>
            <a:ext cx="1572768" cy="896112"/>
          </a:xfrm>
          <a:prstGeom prst="roundRect">
            <a:avLst>
              <a:gd name="adj" fmla="val 9184"/>
            </a:avLst>
          </a:prstGeom>
          <a:solidFill>
            <a:srgbClr val="1A2F4A"/>
          </a:solidFill>
          <a:ln/>
          <a:effectLst>
            <a:outerShdw blurRad="101600" dist="38100" dir="2700000" algn="bl" rotWithShape="0">
              <a:srgbClr val="000000">
                <a:alpha val="25000"/>
              </a:srgbClr>
            </a:outerShdw>
          </a:effectLst>
        </p:spPr>
      </p:sp>
      <p:sp>
        <p:nvSpPr>
          <p:cNvPr id="5" name="Text 3"/>
          <p:cNvSpPr/>
          <p:nvPr/>
        </p:nvSpPr>
        <p:spPr>
          <a:xfrm>
            <a:off x="274320" y="1005840"/>
            <a:ext cx="1572768" cy="475488"/>
          </a:xfrm>
          <a:prstGeom prst="rect">
            <a:avLst/>
          </a:prstGeom>
          <a:noFill/>
          <a:ln/>
        </p:spPr>
        <p:txBody>
          <a:bodyPr wrap="square" rtlCol="0" anchor="ctr"/>
          <a:lstStyle/>
          <a:p>
            <a:pPr marL="0" indent="0" algn="ctr">
              <a:buNone/>
            </a:pPr>
            <a:r>
              <a:rPr lang="en-US" sz="1800" b="1" dirty="0">
                <a:solidFill>
                  <a:srgbClr val="00C9A7"/>
                </a:solidFill>
                <a:latin typeface="Cambria" pitchFamily="34" charset="0"/>
                <a:ea typeface="Cambria" pitchFamily="34" charset="-122"/>
                <a:cs typeface="Cambria" pitchFamily="34" charset="-120"/>
              </a:rPr>
              <a:t>Adam</a:t>
            </a:r>
            <a:endParaRPr lang="en-US" sz="1800" dirty="0"/>
          </a:p>
        </p:txBody>
      </p:sp>
      <p:sp>
        <p:nvSpPr>
          <p:cNvPr id="6" name="Text 4"/>
          <p:cNvSpPr/>
          <p:nvPr/>
        </p:nvSpPr>
        <p:spPr>
          <a:xfrm>
            <a:off x="274320" y="1481328"/>
            <a:ext cx="1572768" cy="347472"/>
          </a:xfrm>
          <a:prstGeom prst="rect">
            <a:avLst/>
          </a:prstGeom>
          <a:noFill/>
          <a:ln/>
        </p:spPr>
        <p:txBody>
          <a:bodyPr wrap="square" rtlCol="0" anchor="ctr"/>
          <a:lstStyle/>
          <a:p>
            <a:pPr marL="0" indent="0" algn="ctr">
              <a:buNone/>
            </a:pPr>
            <a:r>
              <a:rPr lang="en-US" sz="1000" dirty="0">
                <a:solidFill>
                  <a:srgbClr val="B0C4DE"/>
                </a:solidFill>
                <a:latin typeface="Calibri" pitchFamily="34" charset="0"/>
                <a:ea typeface="Calibri" pitchFamily="34" charset="-122"/>
                <a:cs typeface="Calibri" pitchFamily="34" charset="-120"/>
              </a:rPr>
              <a:t>Optimiser</a:t>
            </a:r>
            <a:endParaRPr lang="en-US" sz="1000" dirty="0"/>
          </a:p>
        </p:txBody>
      </p:sp>
      <p:sp>
        <p:nvSpPr>
          <p:cNvPr id="7" name="Shape 5"/>
          <p:cNvSpPr/>
          <p:nvPr/>
        </p:nvSpPr>
        <p:spPr>
          <a:xfrm>
            <a:off x="2011680" y="987552"/>
            <a:ext cx="1572768" cy="896112"/>
          </a:xfrm>
          <a:prstGeom prst="roundRect">
            <a:avLst>
              <a:gd name="adj" fmla="val 9184"/>
            </a:avLst>
          </a:prstGeom>
          <a:solidFill>
            <a:srgbClr val="1A2F4A"/>
          </a:solidFill>
          <a:ln/>
          <a:effectLst>
            <a:outerShdw blurRad="101600" dist="38100" dir="2700000" algn="bl" rotWithShape="0">
              <a:srgbClr val="000000">
                <a:alpha val="25000"/>
              </a:srgbClr>
            </a:outerShdw>
          </a:effectLst>
        </p:spPr>
      </p:sp>
      <p:sp>
        <p:nvSpPr>
          <p:cNvPr id="8" name="Text 6"/>
          <p:cNvSpPr/>
          <p:nvPr/>
        </p:nvSpPr>
        <p:spPr>
          <a:xfrm>
            <a:off x="2011680" y="1005840"/>
            <a:ext cx="1572768" cy="475488"/>
          </a:xfrm>
          <a:prstGeom prst="rect">
            <a:avLst/>
          </a:prstGeom>
          <a:noFill/>
          <a:ln/>
        </p:spPr>
        <p:txBody>
          <a:bodyPr wrap="square" rtlCol="0" anchor="ctr"/>
          <a:lstStyle/>
          <a:p>
            <a:pPr marL="0" indent="0" algn="ctr">
              <a:buNone/>
            </a:pPr>
            <a:r>
              <a:rPr lang="en-US" sz="1800" b="1" dirty="0">
                <a:solidFill>
                  <a:srgbClr val="00C9A7"/>
                </a:solidFill>
                <a:latin typeface="Cambria" pitchFamily="34" charset="0"/>
                <a:ea typeface="Cambria" pitchFamily="34" charset="-122"/>
                <a:cs typeface="Cambria" pitchFamily="34" charset="-120"/>
              </a:rPr>
              <a:t>1e-4</a:t>
            </a:r>
            <a:endParaRPr lang="en-US" sz="1800" dirty="0"/>
          </a:p>
        </p:txBody>
      </p:sp>
      <p:sp>
        <p:nvSpPr>
          <p:cNvPr id="9" name="Text 7"/>
          <p:cNvSpPr/>
          <p:nvPr/>
        </p:nvSpPr>
        <p:spPr>
          <a:xfrm>
            <a:off x="2011680" y="1481328"/>
            <a:ext cx="1572768" cy="347472"/>
          </a:xfrm>
          <a:prstGeom prst="rect">
            <a:avLst/>
          </a:prstGeom>
          <a:noFill/>
          <a:ln/>
        </p:spPr>
        <p:txBody>
          <a:bodyPr wrap="square" rtlCol="0" anchor="ctr"/>
          <a:lstStyle/>
          <a:p>
            <a:pPr marL="0" indent="0" algn="ctr">
              <a:buNone/>
            </a:pPr>
            <a:r>
              <a:rPr lang="en-US" sz="1000" dirty="0">
                <a:solidFill>
                  <a:srgbClr val="B0C4DE"/>
                </a:solidFill>
                <a:latin typeface="Calibri" pitchFamily="34" charset="0"/>
                <a:ea typeface="Calibri" pitchFamily="34" charset="-122"/>
                <a:cs typeface="Calibri" pitchFamily="34" charset="-120"/>
              </a:rPr>
              <a:t>Learning Rate</a:t>
            </a:r>
            <a:endParaRPr lang="en-US" sz="1000" dirty="0"/>
          </a:p>
        </p:txBody>
      </p:sp>
      <p:sp>
        <p:nvSpPr>
          <p:cNvPr id="10" name="Shape 8"/>
          <p:cNvSpPr/>
          <p:nvPr/>
        </p:nvSpPr>
        <p:spPr>
          <a:xfrm>
            <a:off x="3749040" y="987552"/>
            <a:ext cx="1572768" cy="896112"/>
          </a:xfrm>
          <a:prstGeom prst="roundRect">
            <a:avLst>
              <a:gd name="adj" fmla="val 9184"/>
            </a:avLst>
          </a:prstGeom>
          <a:solidFill>
            <a:srgbClr val="1A2F4A"/>
          </a:solidFill>
          <a:ln/>
          <a:effectLst>
            <a:outerShdw blurRad="101600" dist="38100" dir="2700000" algn="bl" rotWithShape="0">
              <a:srgbClr val="000000">
                <a:alpha val="25000"/>
              </a:srgbClr>
            </a:outerShdw>
          </a:effectLst>
        </p:spPr>
      </p:sp>
      <p:sp>
        <p:nvSpPr>
          <p:cNvPr id="11" name="Text 9"/>
          <p:cNvSpPr/>
          <p:nvPr/>
        </p:nvSpPr>
        <p:spPr>
          <a:xfrm>
            <a:off x="3749040" y="1005840"/>
            <a:ext cx="1572768" cy="475488"/>
          </a:xfrm>
          <a:prstGeom prst="rect">
            <a:avLst/>
          </a:prstGeom>
          <a:noFill/>
          <a:ln/>
        </p:spPr>
        <p:txBody>
          <a:bodyPr wrap="square" rtlCol="0" anchor="ctr"/>
          <a:lstStyle/>
          <a:p>
            <a:pPr marL="0" indent="0" algn="ctr">
              <a:buNone/>
            </a:pPr>
            <a:r>
              <a:rPr lang="en-US" sz="1800" b="1" dirty="0">
                <a:solidFill>
                  <a:srgbClr val="00C9A7"/>
                </a:solidFill>
                <a:latin typeface="Cambria" pitchFamily="34" charset="0"/>
                <a:ea typeface="Cambria" pitchFamily="34" charset="-122"/>
                <a:cs typeface="Cambria" pitchFamily="34" charset="-120"/>
              </a:rPr>
              <a:t>32</a:t>
            </a:r>
            <a:endParaRPr lang="en-US" sz="1800" dirty="0"/>
          </a:p>
        </p:txBody>
      </p:sp>
      <p:sp>
        <p:nvSpPr>
          <p:cNvPr id="12" name="Text 10"/>
          <p:cNvSpPr/>
          <p:nvPr/>
        </p:nvSpPr>
        <p:spPr>
          <a:xfrm>
            <a:off x="3749040" y="1481328"/>
            <a:ext cx="1572768" cy="347472"/>
          </a:xfrm>
          <a:prstGeom prst="rect">
            <a:avLst/>
          </a:prstGeom>
          <a:noFill/>
          <a:ln/>
        </p:spPr>
        <p:txBody>
          <a:bodyPr wrap="square" rtlCol="0" anchor="ctr"/>
          <a:lstStyle/>
          <a:p>
            <a:pPr marL="0" indent="0" algn="ctr">
              <a:buNone/>
            </a:pPr>
            <a:r>
              <a:rPr lang="en-US" sz="1000" dirty="0">
                <a:solidFill>
                  <a:srgbClr val="B0C4DE"/>
                </a:solidFill>
                <a:latin typeface="Calibri" pitchFamily="34" charset="0"/>
                <a:ea typeface="Calibri" pitchFamily="34" charset="-122"/>
                <a:cs typeface="Calibri" pitchFamily="34" charset="-120"/>
              </a:rPr>
              <a:t>Batch Size</a:t>
            </a:r>
            <a:endParaRPr lang="en-US" sz="1000" dirty="0"/>
          </a:p>
        </p:txBody>
      </p:sp>
      <p:sp>
        <p:nvSpPr>
          <p:cNvPr id="13" name="Shape 11"/>
          <p:cNvSpPr/>
          <p:nvPr/>
        </p:nvSpPr>
        <p:spPr>
          <a:xfrm>
            <a:off x="5486400" y="987552"/>
            <a:ext cx="1572768" cy="896112"/>
          </a:xfrm>
          <a:prstGeom prst="roundRect">
            <a:avLst>
              <a:gd name="adj" fmla="val 9184"/>
            </a:avLst>
          </a:prstGeom>
          <a:solidFill>
            <a:srgbClr val="1A2F4A"/>
          </a:solidFill>
          <a:ln/>
          <a:effectLst>
            <a:outerShdw blurRad="101600" dist="38100" dir="2700000" algn="bl" rotWithShape="0">
              <a:srgbClr val="000000">
                <a:alpha val="25000"/>
              </a:srgbClr>
            </a:outerShdw>
          </a:effectLst>
        </p:spPr>
      </p:sp>
      <p:sp>
        <p:nvSpPr>
          <p:cNvPr id="14" name="Text 12"/>
          <p:cNvSpPr/>
          <p:nvPr/>
        </p:nvSpPr>
        <p:spPr>
          <a:xfrm>
            <a:off x="5486400" y="1005840"/>
            <a:ext cx="1572768" cy="475488"/>
          </a:xfrm>
          <a:prstGeom prst="rect">
            <a:avLst/>
          </a:prstGeom>
          <a:noFill/>
          <a:ln/>
        </p:spPr>
        <p:txBody>
          <a:bodyPr wrap="square" rtlCol="0" anchor="ctr"/>
          <a:lstStyle/>
          <a:p>
            <a:pPr marL="0" indent="0" algn="ctr">
              <a:buNone/>
            </a:pPr>
            <a:r>
              <a:rPr lang="en-US" sz="1800" b="1" dirty="0">
                <a:solidFill>
                  <a:srgbClr val="00C9A7"/>
                </a:solidFill>
                <a:latin typeface="Cambria" pitchFamily="34" charset="0"/>
                <a:ea typeface="Cambria" pitchFamily="34" charset="-122"/>
                <a:cs typeface="Cambria" pitchFamily="34" charset="-120"/>
              </a:rPr>
              <a:t>20</a:t>
            </a:r>
            <a:endParaRPr lang="en-US" sz="1800" dirty="0"/>
          </a:p>
        </p:txBody>
      </p:sp>
      <p:sp>
        <p:nvSpPr>
          <p:cNvPr id="15" name="Text 13"/>
          <p:cNvSpPr/>
          <p:nvPr/>
        </p:nvSpPr>
        <p:spPr>
          <a:xfrm>
            <a:off x="5486400" y="1481328"/>
            <a:ext cx="1572768" cy="347472"/>
          </a:xfrm>
          <a:prstGeom prst="rect">
            <a:avLst/>
          </a:prstGeom>
          <a:noFill/>
          <a:ln/>
        </p:spPr>
        <p:txBody>
          <a:bodyPr wrap="square" rtlCol="0" anchor="ctr"/>
          <a:lstStyle/>
          <a:p>
            <a:pPr marL="0" indent="0" algn="ctr">
              <a:buNone/>
            </a:pPr>
            <a:r>
              <a:rPr lang="en-US" sz="1000" dirty="0">
                <a:solidFill>
                  <a:srgbClr val="B0C4DE"/>
                </a:solidFill>
                <a:latin typeface="Calibri" pitchFamily="34" charset="0"/>
                <a:ea typeface="Calibri" pitchFamily="34" charset="-122"/>
                <a:cs typeface="Calibri" pitchFamily="34" charset="-120"/>
              </a:rPr>
              <a:t>Epochs</a:t>
            </a:r>
            <a:endParaRPr lang="en-US" sz="1000" dirty="0"/>
          </a:p>
        </p:txBody>
      </p:sp>
      <p:sp>
        <p:nvSpPr>
          <p:cNvPr id="16" name="Shape 14"/>
          <p:cNvSpPr/>
          <p:nvPr/>
        </p:nvSpPr>
        <p:spPr>
          <a:xfrm>
            <a:off x="7223760" y="987552"/>
            <a:ext cx="1572768" cy="896112"/>
          </a:xfrm>
          <a:prstGeom prst="roundRect">
            <a:avLst>
              <a:gd name="adj" fmla="val 9184"/>
            </a:avLst>
          </a:prstGeom>
          <a:solidFill>
            <a:srgbClr val="1A2F4A"/>
          </a:solidFill>
          <a:ln/>
          <a:effectLst>
            <a:outerShdw blurRad="101600" dist="38100" dir="2700000" algn="bl" rotWithShape="0">
              <a:srgbClr val="000000">
                <a:alpha val="25000"/>
              </a:srgbClr>
            </a:outerShdw>
          </a:effectLst>
        </p:spPr>
      </p:sp>
      <p:sp>
        <p:nvSpPr>
          <p:cNvPr id="17" name="Text 15"/>
          <p:cNvSpPr/>
          <p:nvPr/>
        </p:nvSpPr>
        <p:spPr>
          <a:xfrm>
            <a:off x="7223760" y="1005840"/>
            <a:ext cx="1572768" cy="475488"/>
          </a:xfrm>
          <a:prstGeom prst="rect">
            <a:avLst/>
          </a:prstGeom>
          <a:noFill/>
          <a:ln/>
        </p:spPr>
        <p:txBody>
          <a:bodyPr wrap="square" rtlCol="0" anchor="ctr"/>
          <a:lstStyle/>
          <a:p>
            <a:pPr marL="0" indent="0" algn="ctr">
              <a:buNone/>
            </a:pPr>
            <a:r>
              <a:rPr lang="en-US" sz="1600" b="1" dirty="0">
                <a:solidFill>
                  <a:srgbClr val="00C9A7"/>
                </a:solidFill>
                <a:latin typeface="Cambria" pitchFamily="34" charset="0"/>
                <a:ea typeface="Cambria" pitchFamily="34" charset="-122"/>
                <a:cs typeface="Cambria" pitchFamily="34" charset="-120"/>
              </a:rPr>
              <a:t>Cross Entropy</a:t>
            </a:r>
            <a:endParaRPr lang="en-US" sz="1600" dirty="0"/>
          </a:p>
        </p:txBody>
      </p:sp>
      <p:sp>
        <p:nvSpPr>
          <p:cNvPr id="18" name="Text 16"/>
          <p:cNvSpPr/>
          <p:nvPr/>
        </p:nvSpPr>
        <p:spPr>
          <a:xfrm>
            <a:off x="7223760" y="1481328"/>
            <a:ext cx="1572768" cy="347472"/>
          </a:xfrm>
          <a:prstGeom prst="rect">
            <a:avLst/>
          </a:prstGeom>
          <a:noFill/>
          <a:ln/>
        </p:spPr>
        <p:txBody>
          <a:bodyPr wrap="square" rtlCol="0" anchor="ctr"/>
          <a:lstStyle/>
          <a:p>
            <a:pPr marL="0" indent="0" algn="ctr">
              <a:buNone/>
            </a:pPr>
            <a:r>
              <a:rPr lang="en-US" sz="1000" dirty="0">
                <a:solidFill>
                  <a:srgbClr val="B0C4DE"/>
                </a:solidFill>
                <a:latin typeface="Calibri" pitchFamily="34" charset="0"/>
                <a:ea typeface="Calibri" pitchFamily="34" charset="-122"/>
                <a:cs typeface="Calibri" pitchFamily="34" charset="-120"/>
              </a:rPr>
              <a:t>Loss Function</a:t>
            </a:r>
            <a:endParaRPr lang="en-US" sz="1000" dirty="0"/>
          </a:p>
        </p:txBody>
      </p:sp>
      <p:sp>
        <p:nvSpPr>
          <p:cNvPr id="19" name="Text 17"/>
          <p:cNvSpPr/>
          <p:nvPr/>
        </p:nvSpPr>
        <p:spPr>
          <a:xfrm>
            <a:off x="457200" y="2057400"/>
            <a:ext cx="4114800" cy="347472"/>
          </a:xfrm>
          <a:prstGeom prst="rect">
            <a:avLst/>
          </a:prstGeom>
          <a:noFill/>
          <a:ln/>
        </p:spPr>
        <p:txBody>
          <a:bodyPr wrap="square"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Data Augmentation Strategy</a:t>
            </a:r>
            <a:endParaRPr lang="en-US" sz="1400" dirty="0"/>
          </a:p>
        </p:txBody>
      </p:sp>
      <p:sp>
        <p:nvSpPr>
          <p:cNvPr id="20" name="Shape 18"/>
          <p:cNvSpPr/>
          <p:nvPr/>
        </p:nvSpPr>
        <p:spPr>
          <a:xfrm>
            <a:off x="457200" y="2468880"/>
            <a:ext cx="4114800" cy="457200"/>
          </a:xfrm>
          <a:prstGeom prst="roundRect">
            <a:avLst>
              <a:gd name="adj" fmla="val 18000"/>
            </a:avLst>
          </a:prstGeom>
          <a:solidFill>
            <a:srgbClr val="162638"/>
          </a:solidFill>
          <a:ln/>
          <a:effectLst>
            <a:outerShdw blurRad="101600" dist="38100" dir="2700000" algn="bl" rotWithShape="0">
              <a:srgbClr val="000000">
                <a:alpha val="25000"/>
              </a:srgbClr>
            </a:outerShdw>
          </a:effectLst>
        </p:spPr>
      </p:sp>
      <p:sp>
        <p:nvSpPr>
          <p:cNvPr id="21" name="Text 19"/>
          <p:cNvSpPr/>
          <p:nvPr/>
        </p:nvSpPr>
        <p:spPr>
          <a:xfrm>
            <a:off x="566928" y="2505456"/>
            <a:ext cx="3895344" cy="219456"/>
          </a:xfrm>
          <a:prstGeom prst="rect">
            <a:avLst/>
          </a:prstGeom>
          <a:noFill/>
          <a:ln/>
        </p:spPr>
        <p:txBody>
          <a:bodyPr wrap="square" rtlCol="0" anchor="ctr"/>
          <a:lstStyle/>
          <a:p>
            <a:pPr marL="0" indent="0">
              <a:buNone/>
            </a:pPr>
            <a:r>
              <a:rPr lang="en-US" sz="1100" b="1" dirty="0">
                <a:solidFill>
                  <a:srgbClr val="00C9A7"/>
                </a:solidFill>
                <a:latin typeface="Calibri" pitchFamily="34" charset="0"/>
                <a:ea typeface="Calibri" pitchFamily="34" charset="-122"/>
                <a:cs typeface="Calibri" pitchFamily="34" charset="-120"/>
              </a:rPr>
              <a:t>RandomHorizontalFlip (p=0.5)</a:t>
            </a:r>
            <a:endParaRPr lang="en-US" sz="1100" dirty="0"/>
          </a:p>
        </p:txBody>
      </p:sp>
      <p:sp>
        <p:nvSpPr>
          <p:cNvPr id="22" name="Text 20"/>
          <p:cNvSpPr/>
          <p:nvPr/>
        </p:nvSpPr>
        <p:spPr>
          <a:xfrm>
            <a:off x="566928" y="2724912"/>
            <a:ext cx="3895344" cy="164592"/>
          </a:xfrm>
          <a:prstGeom prst="rect">
            <a:avLst/>
          </a:prstGeom>
          <a:noFill/>
          <a:ln/>
        </p:spPr>
        <p:txBody>
          <a:bodyPr wrap="square" rtlCol="0" anchor="ctr"/>
          <a:lstStyle/>
          <a:p>
            <a:pPr marL="0" indent="0">
              <a:buNone/>
            </a:pPr>
            <a:r>
              <a:rPr lang="en-US" sz="1000" dirty="0">
                <a:solidFill>
                  <a:srgbClr val="5A7A9A"/>
                </a:solidFill>
                <a:latin typeface="Calibri" pitchFamily="34" charset="0"/>
                <a:ea typeface="Calibri" pitchFamily="34" charset="-122"/>
                <a:cs typeface="Calibri" pitchFamily="34" charset="-120"/>
              </a:rPr>
              <a:t>Simulates mirrored deepfake footage</a:t>
            </a:r>
            <a:endParaRPr lang="en-US" sz="1000" dirty="0"/>
          </a:p>
        </p:txBody>
      </p:sp>
      <p:sp>
        <p:nvSpPr>
          <p:cNvPr id="23" name="Shape 21"/>
          <p:cNvSpPr/>
          <p:nvPr/>
        </p:nvSpPr>
        <p:spPr>
          <a:xfrm>
            <a:off x="457200" y="2990088"/>
            <a:ext cx="4114800" cy="457200"/>
          </a:xfrm>
          <a:prstGeom prst="roundRect">
            <a:avLst>
              <a:gd name="adj" fmla="val 18000"/>
            </a:avLst>
          </a:prstGeom>
          <a:solidFill>
            <a:srgbClr val="162638"/>
          </a:solidFill>
          <a:ln/>
          <a:effectLst>
            <a:outerShdw blurRad="101600" dist="38100" dir="2700000" algn="bl" rotWithShape="0">
              <a:srgbClr val="000000">
                <a:alpha val="25000"/>
              </a:srgbClr>
            </a:outerShdw>
          </a:effectLst>
        </p:spPr>
      </p:sp>
      <p:sp>
        <p:nvSpPr>
          <p:cNvPr id="24" name="Text 22"/>
          <p:cNvSpPr/>
          <p:nvPr/>
        </p:nvSpPr>
        <p:spPr>
          <a:xfrm>
            <a:off x="566928" y="3026664"/>
            <a:ext cx="3895344" cy="219456"/>
          </a:xfrm>
          <a:prstGeom prst="rect">
            <a:avLst/>
          </a:prstGeom>
          <a:noFill/>
          <a:ln/>
        </p:spPr>
        <p:txBody>
          <a:bodyPr wrap="square" rtlCol="0" anchor="ctr"/>
          <a:lstStyle/>
          <a:p>
            <a:pPr marL="0" indent="0">
              <a:buNone/>
            </a:pPr>
            <a:r>
              <a:rPr lang="en-US" sz="1100" b="1" dirty="0">
                <a:solidFill>
                  <a:srgbClr val="FFD93D"/>
                </a:solidFill>
                <a:latin typeface="Calibri" pitchFamily="34" charset="0"/>
                <a:ea typeface="Calibri" pitchFamily="34" charset="-122"/>
                <a:cs typeface="Calibri" pitchFamily="34" charset="-120"/>
              </a:rPr>
              <a:t>ColorJitter (b=0.3, c=0.3, s=0.2)</a:t>
            </a:r>
            <a:endParaRPr lang="en-US" sz="1100" dirty="0"/>
          </a:p>
        </p:txBody>
      </p:sp>
      <p:sp>
        <p:nvSpPr>
          <p:cNvPr id="25" name="Text 23"/>
          <p:cNvSpPr/>
          <p:nvPr/>
        </p:nvSpPr>
        <p:spPr>
          <a:xfrm>
            <a:off x="566928" y="3246120"/>
            <a:ext cx="3895344" cy="164592"/>
          </a:xfrm>
          <a:prstGeom prst="rect">
            <a:avLst/>
          </a:prstGeom>
          <a:noFill/>
          <a:ln/>
        </p:spPr>
        <p:txBody>
          <a:bodyPr wrap="square" rtlCol="0" anchor="ctr"/>
          <a:lstStyle/>
          <a:p>
            <a:pPr marL="0" indent="0">
              <a:buNone/>
            </a:pPr>
            <a:r>
              <a:rPr lang="en-US" sz="1000" dirty="0">
                <a:solidFill>
                  <a:srgbClr val="5A7A9A"/>
                </a:solidFill>
                <a:latin typeface="Calibri" pitchFamily="34" charset="0"/>
                <a:ea typeface="Calibri" pitchFamily="34" charset="-122"/>
                <a:cs typeface="Calibri" pitchFamily="34" charset="-120"/>
              </a:rPr>
              <a:t>Robustness to brightness &amp; colour shifts</a:t>
            </a:r>
            <a:endParaRPr lang="en-US" sz="1000" dirty="0"/>
          </a:p>
        </p:txBody>
      </p:sp>
      <p:sp>
        <p:nvSpPr>
          <p:cNvPr id="26" name="Shape 24"/>
          <p:cNvSpPr/>
          <p:nvPr/>
        </p:nvSpPr>
        <p:spPr>
          <a:xfrm>
            <a:off x="457200" y="3511296"/>
            <a:ext cx="4114800" cy="457200"/>
          </a:xfrm>
          <a:prstGeom prst="roundRect">
            <a:avLst>
              <a:gd name="adj" fmla="val 18000"/>
            </a:avLst>
          </a:prstGeom>
          <a:solidFill>
            <a:srgbClr val="162638"/>
          </a:solidFill>
          <a:ln/>
          <a:effectLst>
            <a:outerShdw blurRad="101600" dist="38100" dir="2700000" algn="bl" rotWithShape="0">
              <a:srgbClr val="000000">
                <a:alpha val="25000"/>
              </a:srgbClr>
            </a:outerShdw>
          </a:effectLst>
        </p:spPr>
      </p:sp>
      <p:sp>
        <p:nvSpPr>
          <p:cNvPr id="27" name="Text 25"/>
          <p:cNvSpPr/>
          <p:nvPr/>
        </p:nvSpPr>
        <p:spPr>
          <a:xfrm>
            <a:off x="566928" y="3547872"/>
            <a:ext cx="3895344" cy="219456"/>
          </a:xfrm>
          <a:prstGeom prst="rect">
            <a:avLst/>
          </a:prstGeom>
          <a:noFill/>
          <a:ln/>
        </p:spPr>
        <p:txBody>
          <a:bodyPr wrap="square" rtlCol="0" anchor="ctr"/>
          <a:lstStyle/>
          <a:p>
            <a:pPr marL="0" indent="0">
              <a:buNone/>
            </a:pPr>
            <a:r>
              <a:rPr lang="en-US" sz="1100" b="1" dirty="0">
                <a:solidFill>
                  <a:srgbClr val="7EC8E3"/>
                </a:solidFill>
                <a:latin typeface="Calibri" pitchFamily="34" charset="0"/>
                <a:ea typeface="Calibri" pitchFamily="34" charset="-122"/>
                <a:cs typeface="Calibri" pitchFamily="34" charset="-120"/>
              </a:rPr>
              <a:t>GaussianBlur (k=3, σ∈[0.1, 1.5])</a:t>
            </a:r>
            <a:endParaRPr lang="en-US" sz="1100" dirty="0"/>
          </a:p>
        </p:txBody>
      </p:sp>
      <p:sp>
        <p:nvSpPr>
          <p:cNvPr id="28" name="Text 26"/>
          <p:cNvSpPr/>
          <p:nvPr/>
        </p:nvSpPr>
        <p:spPr>
          <a:xfrm>
            <a:off x="566928" y="3767328"/>
            <a:ext cx="3895344" cy="164592"/>
          </a:xfrm>
          <a:prstGeom prst="rect">
            <a:avLst/>
          </a:prstGeom>
          <a:noFill/>
          <a:ln/>
        </p:spPr>
        <p:txBody>
          <a:bodyPr wrap="square" rtlCol="0" anchor="ctr"/>
          <a:lstStyle/>
          <a:p>
            <a:pPr marL="0" indent="0">
              <a:buNone/>
            </a:pPr>
            <a:r>
              <a:rPr lang="en-US" sz="1000" dirty="0">
                <a:solidFill>
                  <a:srgbClr val="5A7A9A"/>
                </a:solidFill>
                <a:latin typeface="Calibri" pitchFamily="34" charset="0"/>
                <a:ea typeface="Calibri" pitchFamily="34" charset="-122"/>
                <a:cs typeface="Calibri" pitchFamily="34" charset="-120"/>
              </a:rPr>
              <a:t>Smooths over compression artefacts</a:t>
            </a:r>
            <a:endParaRPr lang="en-US" sz="1000" dirty="0"/>
          </a:p>
        </p:txBody>
      </p:sp>
      <p:sp>
        <p:nvSpPr>
          <p:cNvPr id="29" name="Shape 27"/>
          <p:cNvSpPr/>
          <p:nvPr/>
        </p:nvSpPr>
        <p:spPr>
          <a:xfrm>
            <a:off x="457200" y="4032504"/>
            <a:ext cx="4114800" cy="457200"/>
          </a:xfrm>
          <a:prstGeom prst="roundRect">
            <a:avLst>
              <a:gd name="adj" fmla="val 18000"/>
            </a:avLst>
          </a:prstGeom>
          <a:solidFill>
            <a:srgbClr val="162638"/>
          </a:solidFill>
          <a:ln/>
          <a:effectLst>
            <a:outerShdw blurRad="101600" dist="38100" dir="2700000" algn="bl" rotWithShape="0">
              <a:srgbClr val="000000">
                <a:alpha val="25000"/>
              </a:srgbClr>
            </a:outerShdw>
          </a:effectLst>
        </p:spPr>
      </p:sp>
      <p:sp>
        <p:nvSpPr>
          <p:cNvPr id="30" name="Text 28"/>
          <p:cNvSpPr/>
          <p:nvPr/>
        </p:nvSpPr>
        <p:spPr>
          <a:xfrm>
            <a:off x="566928" y="4069080"/>
            <a:ext cx="3895344" cy="219456"/>
          </a:xfrm>
          <a:prstGeom prst="rect">
            <a:avLst/>
          </a:prstGeom>
          <a:noFill/>
          <a:ln/>
        </p:spPr>
        <p:txBody>
          <a:bodyPr wrap="square" rtlCol="0" anchor="ctr"/>
          <a:lstStyle/>
          <a:p>
            <a:pPr marL="0" indent="0">
              <a:buNone/>
            </a:pPr>
            <a:r>
              <a:rPr lang="en-US" sz="1100" b="1" dirty="0">
                <a:solidFill>
                  <a:srgbClr val="FF9F40"/>
                </a:solidFill>
                <a:latin typeface="Calibri" pitchFamily="34" charset="0"/>
                <a:ea typeface="Calibri" pitchFamily="34" charset="-122"/>
                <a:cs typeface="Calibri" pitchFamily="34" charset="-120"/>
              </a:rPr>
              <a:t>AddGaussianNoise (std=0.03)</a:t>
            </a:r>
            <a:endParaRPr lang="en-US" sz="1100" dirty="0"/>
          </a:p>
        </p:txBody>
      </p:sp>
      <p:sp>
        <p:nvSpPr>
          <p:cNvPr id="31" name="Text 29"/>
          <p:cNvSpPr/>
          <p:nvPr/>
        </p:nvSpPr>
        <p:spPr>
          <a:xfrm>
            <a:off x="566928" y="4288536"/>
            <a:ext cx="3895344" cy="164592"/>
          </a:xfrm>
          <a:prstGeom prst="rect">
            <a:avLst/>
          </a:prstGeom>
          <a:noFill/>
          <a:ln/>
        </p:spPr>
        <p:txBody>
          <a:bodyPr wrap="square" rtlCol="0" anchor="ctr"/>
          <a:lstStyle/>
          <a:p>
            <a:pPr marL="0" indent="0">
              <a:buNone/>
            </a:pPr>
            <a:r>
              <a:rPr lang="en-US" sz="1000" dirty="0">
                <a:solidFill>
                  <a:srgbClr val="5A7A9A"/>
                </a:solidFill>
                <a:latin typeface="Calibri" pitchFamily="34" charset="0"/>
                <a:ea typeface="Calibri" pitchFamily="34" charset="-122"/>
                <a:cs typeface="Calibri" pitchFamily="34" charset="-120"/>
              </a:rPr>
              <a:t>Simulates sensor noise at pixel level</a:t>
            </a:r>
            <a:endParaRPr lang="en-US" sz="1000" dirty="0"/>
          </a:p>
        </p:txBody>
      </p:sp>
      <p:sp>
        <p:nvSpPr>
          <p:cNvPr id="32" name="Shape 30"/>
          <p:cNvSpPr/>
          <p:nvPr/>
        </p:nvSpPr>
        <p:spPr>
          <a:xfrm>
            <a:off x="457200" y="4553712"/>
            <a:ext cx="4114800" cy="457200"/>
          </a:xfrm>
          <a:prstGeom prst="roundRect">
            <a:avLst>
              <a:gd name="adj" fmla="val 18000"/>
            </a:avLst>
          </a:prstGeom>
          <a:solidFill>
            <a:srgbClr val="162638"/>
          </a:solidFill>
          <a:ln/>
          <a:effectLst>
            <a:outerShdw blurRad="101600" dist="38100" dir="2700000" algn="bl" rotWithShape="0">
              <a:srgbClr val="000000">
                <a:alpha val="25000"/>
              </a:srgbClr>
            </a:outerShdw>
          </a:effectLst>
        </p:spPr>
      </p:sp>
      <p:sp>
        <p:nvSpPr>
          <p:cNvPr id="33" name="Text 31"/>
          <p:cNvSpPr/>
          <p:nvPr/>
        </p:nvSpPr>
        <p:spPr>
          <a:xfrm>
            <a:off x="566928" y="4590288"/>
            <a:ext cx="3895344" cy="219456"/>
          </a:xfrm>
          <a:prstGeom prst="rect">
            <a:avLst/>
          </a:prstGeom>
          <a:noFill/>
          <a:ln/>
        </p:spPr>
        <p:txBody>
          <a:bodyPr wrap="square" rtlCol="0" anchor="ctr"/>
          <a:lstStyle/>
          <a:p>
            <a:pPr marL="0" indent="0">
              <a:buNone/>
            </a:pPr>
            <a:r>
              <a:rPr lang="en-US" sz="1100" b="1" dirty="0">
                <a:solidFill>
                  <a:srgbClr val="FF6B6B"/>
                </a:solidFill>
                <a:latin typeface="Calibri" pitchFamily="34" charset="0"/>
                <a:ea typeface="Calibri" pitchFamily="34" charset="-122"/>
                <a:cs typeface="Calibri" pitchFamily="34" charset="-120"/>
              </a:rPr>
              <a:t>ImageNet Normalisation</a:t>
            </a:r>
            <a:endParaRPr lang="en-US" sz="1100" dirty="0"/>
          </a:p>
        </p:txBody>
      </p:sp>
      <p:sp>
        <p:nvSpPr>
          <p:cNvPr id="34" name="Text 32"/>
          <p:cNvSpPr/>
          <p:nvPr/>
        </p:nvSpPr>
        <p:spPr>
          <a:xfrm>
            <a:off x="566928" y="4809744"/>
            <a:ext cx="3895344" cy="164592"/>
          </a:xfrm>
          <a:prstGeom prst="rect">
            <a:avLst/>
          </a:prstGeom>
          <a:noFill/>
          <a:ln/>
        </p:spPr>
        <p:txBody>
          <a:bodyPr wrap="square" rtlCol="0" anchor="ctr"/>
          <a:lstStyle/>
          <a:p>
            <a:pPr marL="0" indent="0">
              <a:buNone/>
            </a:pPr>
            <a:r>
              <a:rPr lang="en-US" sz="1000" dirty="0">
                <a:solidFill>
                  <a:srgbClr val="5A7A9A"/>
                </a:solidFill>
                <a:latin typeface="Calibri" pitchFamily="34" charset="0"/>
                <a:ea typeface="Calibri" pitchFamily="34" charset="-122"/>
                <a:cs typeface="Calibri" pitchFamily="34" charset="-120"/>
              </a:rPr>
              <a:t>Mean [0.485, 0.456, 0.406], Std [0.229, 0.224, 0.225]</a:t>
            </a:r>
            <a:endParaRPr lang="en-US" sz="1000" dirty="0"/>
          </a:p>
        </p:txBody>
      </p:sp>
      <p:sp>
        <p:nvSpPr>
          <p:cNvPr id="35" name="Text 33"/>
          <p:cNvSpPr/>
          <p:nvPr/>
        </p:nvSpPr>
        <p:spPr>
          <a:xfrm>
            <a:off x="4754880" y="2057400"/>
            <a:ext cx="3931920" cy="347472"/>
          </a:xfrm>
          <a:prstGeom prst="rect">
            <a:avLst/>
          </a:prstGeom>
          <a:noFill/>
          <a:ln/>
        </p:spPr>
        <p:txBody>
          <a:bodyPr wrap="square"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Why ImageNet Pretrained Weights?</a:t>
            </a:r>
            <a:endParaRPr lang="en-US" sz="1400" dirty="0"/>
          </a:p>
        </p:txBody>
      </p:sp>
      <p:sp>
        <p:nvSpPr>
          <p:cNvPr id="36" name="Shape 34"/>
          <p:cNvSpPr/>
          <p:nvPr/>
        </p:nvSpPr>
        <p:spPr>
          <a:xfrm>
            <a:off x="4754880" y="2468880"/>
            <a:ext cx="3931920" cy="1417320"/>
          </a:xfrm>
          <a:prstGeom prst="roundRect">
            <a:avLst>
              <a:gd name="adj" fmla="val 5806"/>
            </a:avLst>
          </a:prstGeom>
          <a:solidFill>
            <a:srgbClr val="162638"/>
          </a:solidFill>
          <a:ln/>
          <a:effectLst>
            <a:outerShdw blurRad="101600" dist="38100" dir="2700000" algn="bl" rotWithShape="0">
              <a:srgbClr val="000000">
                <a:alpha val="25000"/>
              </a:srgbClr>
            </a:outerShdw>
          </a:effectLst>
        </p:spPr>
      </p:sp>
      <p:sp>
        <p:nvSpPr>
          <p:cNvPr id="37" name="Text 35"/>
          <p:cNvSpPr/>
          <p:nvPr/>
        </p:nvSpPr>
        <p:spPr>
          <a:xfrm>
            <a:off x="4846320" y="2523744"/>
            <a:ext cx="3749040" cy="1298448"/>
          </a:xfrm>
          <a:prstGeom prst="rect">
            <a:avLst/>
          </a:prstGeom>
          <a:noFill/>
          <a:ln/>
        </p:spPr>
        <p:txBody>
          <a:bodyPr wrap="square" rtlCol="0" anchor="ctr"/>
          <a:lstStyle/>
          <a:p>
            <a:pPr marL="0" indent="0">
              <a:buNone/>
            </a:pPr>
            <a:r>
              <a:rPr lang="en-US" sz="1100" dirty="0">
                <a:solidFill>
                  <a:srgbClr val="B0C4DE"/>
                </a:solidFill>
                <a:latin typeface="Calibri" pitchFamily="34" charset="0"/>
                <a:ea typeface="Calibri" pitchFamily="34" charset="-122"/>
                <a:cs typeface="Calibri" pitchFamily="34" charset="-120"/>
              </a:rPr>
              <a:t>ImageNet training exposes the network to millions of real photographs, encoding rich low-level texture and edge detectors. Deepfakes introduce subtle frequency-domain artefacts in these exact low-level features. Starting from ImageNet weights allows the model to leverage pre-learned feature hierarchies rather than learning from scratch on a small dataset, dramatically reducing overfitting risk and training time.</a:t>
            </a:r>
            <a:endParaRPr lang="en-US" sz="1100" dirty="0"/>
          </a:p>
        </p:txBody>
      </p:sp>
      <p:sp>
        <p:nvSpPr>
          <p:cNvPr id="38" name="Text 36"/>
          <p:cNvSpPr/>
          <p:nvPr/>
        </p:nvSpPr>
        <p:spPr>
          <a:xfrm>
            <a:off x="4754880" y="3950208"/>
            <a:ext cx="3931920" cy="320040"/>
          </a:xfrm>
          <a:prstGeom prst="rect">
            <a:avLst/>
          </a:prstGeom>
          <a:noFill/>
          <a:ln/>
        </p:spPr>
        <p:txBody>
          <a:bodyPr wrap="square"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Best Checkpoint Strategy</a:t>
            </a:r>
            <a:endParaRPr lang="en-US" sz="1300" dirty="0"/>
          </a:p>
        </p:txBody>
      </p:sp>
      <p:sp>
        <p:nvSpPr>
          <p:cNvPr id="39" name="Shape 37"/>
          <p:cNvSpPr/>
          <p:nvPr/>
        </p:nvSpPr>
        <p:spPr>
          <a:xfrm>
            <a:off x="4754880" y="4315968"/>
            <a:ext cx="3931920" cy="621792"/>
          </a:xfrm>
          <a:prstGeom prst="roundRect">
            <a:avLst>
              <a:gd name="adj" fmla="val 13235"/>
            </a:avLst>
          </a:prstGeom>
          <a:solidFill>
            <a:srgbClr val="162638"/>
          </a:solidFill>
          <a:ln/>
          <a:effectLst>
            <a:outerShdw blurRad="101600" dist="38100" dir="2700000" algn="bl" rotWithShape="0">
              <a:srgbClr val="000000">
                <a:alpha val="25000"/>
              </a:srgbClr>
            </a:outerShdw>
          </a:effectLst>
        </p:spPr>
      </p:sp>
      <p:sp>
        <p:nvSpPr>
          <p:cNvPr id="40" name="Text 38"/>
          <p:cNvSpPr/>
          <p:nvPr/>
        </p:nvSpPr>
        <p:spPr>
          <a:xfrm>
            <a:off x="4846320" y="4352544"/>
            <a:ext cx="3749040" cy="548640"/>
          </a:xfrm>
          <a:prstGeom prst="rect">
            <a:avLst/>
          </a:prstGeom>
          <a:noFill/>
          <a:ln/>
        </p:spPr>
        <p:txBody>
          <a:bodyPr wrap="square" rtlCol="0" anchor="ctr"/>
          <a:lstStyle/>
          <a:p>
            <a:pPr marL="0" indent="0">
              <a:buNone/>
            </a:pPr>
            <a:r>
              <a:rPr lang="en-US" sz="1100" dirty="0">
                <a:solidFill>
                  <a:srgbClr val="B0C4DE"/>
                </a:solidFill>
                <a:latin typeface="Calibri" pitchFamily="34" charset="0"/>
                <a:ea typeface="Calibri" pitchFamily="34" charset="-122"/>
                <a:cs typeface="Calibri" pitchFamily="34" charset="-120"/>
              </a:rPr>
              <a:t>Model weights are saved whenever validation accuracy improves (best_model.pth). Final evaluation uses the best-val checkpoint — not the last epoch — preventing overfitting contamination.</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F1B2D"/>
        </a:solidFill>
        <a:effectLst/>
      </p:bgPr>
    </p:bg>
    <p:spTree>
      <p:nvGrpSpPr>
        <p:cNvPr id="1" name=""/>
        <p:cNvGrpSpPr/>
        <p:nvPr/>
      </p:nvGrpSpPr>
      <p:grpSpPr>
        <a:xfrm>
          <a:off x="0" y="0"/>
          <a:ext cx="0" cy="0"/>
          <a:chOff x="0" y="0"/>
          <a:chExt cx="0" cy="0"/>
        </a:xfrm>
      </p:grpSpPr>
      <p:sp>
        <p:nvSpPr>
          <p:cNvPr id="2" name="Text 0"/>
          <p:cNvSpPr/>
          <p:nvPr/>
        </p:nvSpPr>
        <p:spPr>
          <a:xfrm>
            <a:off x="457200" y="256032"/>
            <a:ext cx="8229600" cy="566928"/>
          </a:xfrm>
          <a:prstGeom prst="rect">
            <a:avLst/>
          </a:prstGeom>
          <a:noFill/>
          <a:ln/>
        </p:spPr>
        <p:txBody>
          <a:bodyPr wrap="square" rtlCol="0" anchor="ctr"/>
          <a:lstStyle/>
          <a:p>
            <a:pPr marL="0" indent="0">
              <a:buNone/>
            </a:pPr>
            <a:r>
              <a:rPr lang="en-US" sz="3200" b="1" dirty="0">
                <a:solidFill>
                  <a:srgbClr val="FFFFFF"/>
                </a:solidFill>
                <a:latin typeface="Cambria" pitchFamily="34" charset="0"/>
                <a:ea typeface="Cambria" pitchFamily="34" charset="-122"/>
                <a:cs typeface="Cambria" pitchFamily="34" charset="-120"/>
              </a:rPr>
              <a:t>Evaluation Methodology</a:t>
            </a:r>
            <a:endParaRPr lang="en-US" sz="3200" dirty="0"/>
          </a:p>
        </p:txBody>
      </p:sp>
      <p:sp>
        <p:nvSpPr>
          <p:cNvPr id="3" name="Shape 1"/>
          <p:cNvSpPr/>
          <p:nvPr/>
        </p:nvSpPr>
        <p:spPr>
          <a:xfrm>
            <a:off x="457200" y="850392"/>
            <a:ext cx="8229600" cy="27432"/>
          </a:xfrm>
          <a:prstGeom prst="rect">
            <a:avLst/>
          </a:prstGeom>
          <a:solidFill>
            <a:srgbClr val="00C9A7"/>
          </a:solidFill>
          <a:ln/>
        </p:spPr>
      </p:sp>
      <p:sp>
        <p:nvSpPr>
          <p:cNvPr id="4" name="Text 2"/>
          <p:cNvSpPr/>
          <p:nvPr/>
        </p:nvSpPr>
        <p:spPr>
          <a:xfrm>
            <a:off x="457200" y="987552"/>
            <a:ext cx="4206240" cy="347472"/>
          </a:xfrm>
          <a:prstGeom prst="rect">
            <a:avLst/>
          </a:prstGeom>
          <a:noFill/>
          <a:ln/>
        </p:spPr>
        <p:txBody>
          <a:bodyPr wrap="square"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Frame-Level AUC &amp; ROC Curve</a:t>
            </a:r>
            <a:endParaRPr lang="en-US" sz="1400" dirty="0"/>
          </a:p>
        </p:txBody>
      </p:sp>
      <p:sp>
        <p:nvSpPr>
          <p:cNvPr id="5" name="Shape 3"/>
          <p:cNvSpPr/>
          <p:nvPr/>
        </p:nvSpPr>
        <p:spPr>
          <a:xfrm>
            <a:off x="457200" y="1389888"/>
            <a:ext cx="4206240" cy="1371600"/>
          </a:xfrm>
          <a:prstGeom prst="roundRect">
            <a:avLst>
              <a:gd name="adj" fmla="val 6000"/>
            </a:avLst>
          </a:prstGeom>
          <a:solidFill>
            <a:srgbClr val="162638"/>
          </a:solidFill>
          <a:ln/>
          <a:effectLst>
            <a:outerShdw blurRad="101600" dist="38100" dir="2700000" algn="bl" rotWithShape="0">
              <a:srgbClr val="000000">
                <a:alpha val="25000"/>
              </a:srgbClr>
            </a:outerShdw>
          </a:effectLst>
        </p:spPr>
      </p:sp>
      <p:sp>
        <p:nvSpPr>
          <p:cNvPr id="6" name="Text 4"/>
          <p:cNvSpPr/>
          <p:nvPr/>
        </p:nvSpPr>
        <p:spPr>
          <a:xfrm>
            <a:off x="566928" y="1463040"/>
            <a:ext cx="3986784" cy="347472"/>
          </a:xfrm>
          <a:prstGeom prst="rect">
            <a:avLst/>
          </a:prstGeom>
          <a:noFill/>
          <a:ln/>
        </p:spPr>
        <p:txBody>
          <a:bodyPr wrap="square" rtlCol="0" anchor="ctr"/>
          <a:lstStyle/>
          <a:p>
            <a:pPr marL="0" indent="0">
              <a:buNone/>
            </a:pPr>
            <a:r>
              <a:rPr lang="en-US" sz="1300" b="1" dirty="0">
                <a:solidFill>
                  <a:srgbClr val="00C9A7"/>
                </a:solidFill>
                <a:latin typeface="Calibri" pitchFamily="34" charset="0"/>
                <a:ea typeface="Calibri" pitchFamily="34" charset="-122"/>
                <a:cs typeface="Calibri" pitchFamily="34" charset="-120"/>
              </a:rPr>
              <a:t>TPR (Sensitivity) = TP / (TP + FN)</a:t>
            </a:r>
            <a:endParaRPr lang="en-US" sz="1300" dirty="0"/>
          </a:p>
        </p:txBody>
      </p:sp>
      <p:sp>
        <p:nvSpPr>
          <p:cNvPr id="7" name="Text 5"/>
          <p:cNvSpPr/>
          <p:nvPr/>
        </p:nvSpPr>
        <p:spPr>
          <a:xfrm>
            <a:off x="566928" y="1828800"/>
            <a:ext cx="3986784" cy="347472"/>
          </a:xfrm>
          <a:prstGeom prst="rect">
            <a:avLst/>
          </a:prstGeom>
          <a:noFill/>
          <a:ln/>
        </p:spPr>
        <p:txBody>
          <a:bodyPr wrap="square" rtlCol="0" anchor="ctr"/>
          <a:lstStyle/>
          <a:p>
            <a:pPr marL="0" indent="0">
              <a:buNone/>
            </a:pPr>
            <a:r>
              <a:rPr lang="en-US" sz="1300" b="1" dirty="0">
                <a:solidFill>
                  <a:srgbClr val="FF6B6B"/>
                </a:solidFill>
                <a:latin typeface="Calibri" pitchFamily="34" charset="0"/>
                <a:ea typeface="Calibri" pitchFamily="34" charset="-122"/>
                <a:cs typeface="Calibri" pitchFamily="34" charset="-120"/>
              </a:rPr>
              <a:t>FPR (False Alarm) = FP / (FP + TN)</a:t>
            </a:r>
            <a:endParaRPr lang="en-US" sz="1300" dirty="0"/>
          </a:p>
        </p:txBody>
      </p:sp>
      <p:sp>
        <p:nvSpPr>
          <p:cNvPr id="8" name="Text 6"/>
          <p:cNvSpPr/>
          <p:nvPr/>
        </p:nvSpPr>
        <p:spPr>
          <a:xfrm>
            <a:off x="566928" y="2212848"/>
            <a:ext cx="3986784" cy="502920"/>
          </a:xfrm>
          <a:prstGeom prst="rect">
            <a:avLst/>
          </a:prstGeom>
          <a:noFill/>
          <a:ln/>
        </p:spPr>
        <p:txBody>
          <a:bodyPr wrap="square" rtlCol="0" anchor="ctr"/>
          <a:lstStyle/>
          <a:p>
            <a:pPr marL="0" indent="0">
              <a:buNone/>
            </a:pPr>
            <a:r>
              <a:rPr lang="en-US" sz="1050" dirty="0">
                <a:solidFill>
                  <a:srgbClr val="B0C4DE"/>
                </a:solidFill>
                <a:latin typeface="Calibri" pitchFamily="34" charset="0"/>
                <a:ea typeface="Calibri" pitchFamily="34" charset="-122"/>
                <a:cs typeface="Calibri" pitchFamily="34" charset="-120"/>
              </a:rPr>
              <a:t>The ROC curve plots TPR vs FPR at every classification threshold. AUC is the area under this curve — a value of 1.0 is perfect; 0.5 is random. AUC is threshold-independent, making it ideal for comparing detectors regardless of the operating point chosen for deployment.</a:t>
            </a:r>
            <a:endParaRPr lang="en-US" sz="1050" dirty="0"/>
          </a:p>
        </p:txBody>
      </p:sp>
      <p:sp>
        <p:nvSpPr>
          <p:cNvPr id="9" name="Text 7"/>
          <p:cNvSpPr/>
          <p:nvPr/>
        </p:nvSpPr>
        <p:spPr>
          <a:xfrm>
            <a:off x="4846320" y="987552"/>
            <a:ext cx="3840480" cy="347472"/>
          </a:xfrm>
          <a:prstGeom prst="rect">
            <a:avLst/>
          </a:prstGeom>
          <a:noFill/>
          <a:ln/>
        </p:spPr>
        <p:txBody>
          <a:bodyPr wrap="square"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Perturbation Evaluation</a:t>
            </a:r>
            <a:endParaRPr lang="en-US" sz="1400" dirty="0"/>
          </a:p>
        </p:txBody>
      </p:sp>
      <p:sp>
        <p:nvSpPr>
          <p:cNvPr id="10" name="Shape 8"/>
          <p:cNvSpPr/>
          <p:nvPr/>
        </p:nvSpPr>
        <p:spPr>
          <a:xfrm>
            <a:off x="4846320" y="1389888"/>
            <a:ext cx="3840480" cy="1371600"/>
          </a:xfrm>
          <a:prstGeom prst="roundRect">
            <a:avLst>
              <a:gd name="adj" fmla="val 6000"/>
            </a:avLst>
          </a:prstGeom>
          <a:solidFill>
            <a:srgbClr val="162638"/>
          </a:solidFill>
          <a:ln/>
          <a:effectLst>
            <a:outerShdw blurRad="101600" dist="38100" dir="2700000" algn="bl" rotWithShape="0">
              <a:srgbClr val="000000">
                <a:alpha val="25000"/>
              </a:srgbClr>
            </a:outerShdw>
          </a:effectLst>
        </p:spPr>
      </p:sp>
      <p:sp>
        <p:nvSpPr>
          <p:cNvPr id="11" name="Text 9"/>
          <p:cNvSpPr/>
          <p:nvPr/>
        </p:nvSpPr>
        <p:spPr>
          <a:xfrm>
            <a:off x="4937760" y="1426464"/>
            <a:ext cx="3657600" cy="1298448"/>
          </a:xfrm>
          <a:prstGeom prst="rect">
            <a:avLst/>
          </a:prstGeom>
          <a:noFill/>
          <a:ln/>
        </p:spPr>
        <p:txBody>
          <a:bodyPr wrap="square" rtlCol="0" anchor="ctr"/>
          <a:lstStyle/>
          <a:p>
            <a:pPr marL="0" indent="0">
              <a:buNone/>
            </a:pPr>
            <a:r>
              <a:rPr lang="en-US" sz="1100" dirty="0">
                <a:solidFill>
                  <a:srgbClr val="B0C4DE"/>
                </a:solidFill>
                <a:latin typeface="Calibri" pitchFamily="34" charset="0"/>
                <a:ea typeface="Calibri" pitchFamily="34" charset="-122"/>
                <a:cs typeface="Calibri" pitchFamily="34" charset="-120"/>
              </a:rPr>
              <a:t>The trained model was evaluated under six perturbation conditions: Gaussian Blur, JPEG Compression, White Gaussian Noise, Color Contrast and Color Saturation — matching the exact perturbation types and parameter ranges defined in the benchmark paper (Deng et al. 2024). Frame-level AUC was computed for each condition to assess robustness.</a:t>
            </a:r>
            <a:endParaRPr lang="en-US" sz="1100" dirty="0"/>
          </a:p>
        </p:txBody>
      </p:sp>
      <p:sp>
        <p:nvSpPr>
          <p:cNvPr id="12" name="Text 10"/>
          <p:cNvSpPr/>
          <p:nvPr/>
        </p:nvSpPr>
        <p:spPr>
          <a:xfrm>
            <a:off x="457200" y="2880360"/>
            <a:ext cx="8229600" cy="347472"/>
          </a:xfrm>
          <a:prstGeom prst="rect">
            <a:avLst/>
          </a:prstGeom>
          <a:noFill/>
          <a:ln/>
        </p:spPr>
        <p:txBody>
          <a:bodyPr wrap="square"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Perturbation Parameters (from benchmark paper)</a:t>
            </a:r>
            <a:endParaRPr lang="en-US" sz="13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457200" y="3291840"/>
          <a:ext cx="8229600" cy="1645920"/>
        </p:xfrm>
        <a:graphic>
          <a:graphicData uri="http://schemas.openxmlformats.org/drawingml/2006/table">
            <a:tbl>
              <a:tblPr/>
              <a:tblGrid>
                <a:gridCol w="2011680">
                  <a:extLst>
                    <a:ext uri="{9D8B030D-6E8A-4147-A177-3AD203B41FA5}">
                      <a16:colId xmlns:a16="http://schemas.microsoft.com/office/drawing/2014/main" val="20000"/>
                    </a:ext>
                  </a:extLst>
                </a:gridCol>
                <a:gridCol w="2743200">
                  <a:extLst>
                    <a:ext uri="{9D8B030D-6E8A-4147-A177-3AD203B41FA5}">
                      <a16:colId xmlns:a16="http://schemas.microsoft.com/office/drawing/2014/main" val="20001"/>
                    </a:ext>
                  </a:extLst>
                </a:gridCol>
                <a:gridCol w="3474720">
                  <a:extLst>
                    <a:ext uri="{9D8B030D-6E8A-4147-A177-3AD203B41FA5}">
                      <a16:colId xmlns:a16="http://schemas.microsoft.com/office/drawing/2014/main" val="20002"/>
                    </a:ext>
                  </a:extLst>
                </a:gridCol>
              </a:tblGrid>
              <a:tr h="274320">
                <a:tc>
                  <a:txBody>
                    <a:bodyPr/>
                    <a:lstStyle/>
                    <a:p>
                      <a:pPr marL="0" indent="0">
                        <a:buNone/>
                      </a:pPr>
                      <a:r>
                        <a:rPr lang="en-US" sz="1100" b="1" dirty="0">
                          <a:solidFill>
                            <a:srgbClr val="00C9A7"/>
                          </a:solidFill>
                          <a:latin typeface="Calibri" pitchFamily="34" charset="0"/>
                          <a:ea typeface="Calibri" pitchFamily="34" charset="-122"/>
                          <a:cs typeface="Calibri" pitchFamily="34" charset="-120"/>
                        </a:rPr>
                        <a:t>Perturbation</a:t>
                      </a:r>
                      <a:endParaRPr lang="en-US" sz="1100" dirty="0">
                        <a:latin typeface="Calibri" charset="0"/>
                        <a:ea typeface="Calibri" charset="0"/>
                        <a:cs typeface="Calibri" charset="0"/>
                      </a:endParaRPr>
                    </a:p>
                  </a:txBody>
                  <a:tcPr>
                    <a:lnL w="12700" cap="flat" cmpd="sng" algn="ctr">
                      <a:solidFill>
                        <a:srgbClr val="5A7A9A"/>
                      </a:solidFill>
                      <a:prstDash val="solid"/>
                      <a:round/>
                      <a:headEnd type="none" w="med" len="med"/>
                      <a:tailEnd type="none" w="med" len="med"/>
                    </a:lnL>
                    <a:lnR w="12700" cap="flat" cmpd="sng" algn="ctr">
                      <a:solidFill>
                        <a:srgbClr val="5A7A9A"/>
                      </a:solidFill>
                      <a:prstDash val="solid"/>
                      <a:round/>
                      <a:headEnd type="none" w="med" len="med"/>
                      <a:tailEnd type="none" w="med" len="med"/>
                    </a:lnR>
                    <a:lnT w="12700" cap="flat" cmpd="sng" algn="ctr">
                      <a:solidFill>
                        <a:srgbClr val="5A7A9A"/>
                      </a:solidFill>
                      <a:prstDash val="solid"/>
                      <a:round/>
                      <a:headEnd type="none" w="med" len="med"/>
                      <a:tailEnd type="none" w="med" len="med"/>
                    </a:lnT>
                    <a:lnB w="12700" cap="flat" cmpd="sng" algn="ctr">
                      <a:solidFill>
                        <a:srgbClr val="5A7A9A"/>
                      </a:solidFill>
                      <a:prstDash val="solid"/>
                      <a:round/>
                      <a:headEnd type="none" w="med" len="med"/>
                      <a:tailEnd type="none" w="med" len="med"/>
                    </a:lnB>
                    <a:solidFill>
                      <a:srgbClr val="1E3A5F"/>
                    </a:solidFill>
                  </a:tcPr>
                </a:tc>
                <a:tc>
                  <a:txBody>
                    <a:bodyPr/>
                    <a:lstStyle/>
                    <a:p>
                      <a:pPr marL="0" indent="0">
                        <a:buNone/>
                      </a:pPr>
                      <a:r>
                        <a:rPr lang="en-US" sz="1100" b="1" dirty="0">
                          <a:solidFill>
                            <a:srgbClr val="00C9A7"/>
                          </a:solidFill>
                          <a:latin typeface="Calibri" pitchFamily="34" charset="0"/>
                          <a:ea typeface="Calibri" pitchFamily="34" charset="-122"/>
                          <a:cs typeface="Calibri" pitchFamily="34" charset="-120"/>
                        </a:rPr>
                        <a:t>Parameter Range</a:t>
                      </a:r>
                      <a:endParaRPr lang="en-US" sz="1100" dirty="0">
                        <a:latin typeface="Calibri" charset="0"/>
                        <a:ea typeface="Calibri" charset="0"/>
                        <a:cs typeface="Calibri" charset="0"/>
                      </a:endParaRPr>
                    </a:p>
                  </a:txBody>
                  <a:tcPr>
                    <a:lnL w="12700" cap="flat" cmpd="sng" algn="ctr">
                      <a:solidFill>
                        <a:srgbClr val="5A7A9A"/>
                      </a:solidFill>
                      <a:prstDash val="solid"/>
                      <a:round/>
                      <a:headEnd type="none" w="med" len="med"/>
                      <a:tailEnd type="none" w="med" len="med"/>
                    </a:lnL>
                    <a:lnR w="12700" cap="flat" cmpd="sng" algn="ctr">
                      <a:solidFill>
                        <a:srgbClr val="5A7A9A"/>
                      </a:solidFill>
                      <a:prstDash val="solid"/>
                      <a:round/>
                      <a:headEnd type="none" w="med" len="med"/>
                      <a:tailEnd type="none" w="med" len="med"/>
                    </a:lnR>
                    <a:lnT w="12700" cap="flat" cmpd="sng" algn="ctr">
                      <a:solidFill>
                        <a:srgbClr val="5A7A9A"/>
                      </a:solidFill>
                      <a:prstDash val="solid"/>
                      <a:round/>
                      <a:headEnd type="none" w="med" len="med"/>
                      <a:tailEnd type="none" w="med" len="med"/>
                    </a:lnT>
                    <a:lnB w="12700" cap="flat" cmpd="sng" algn="ctr">
                      <a:solidFill>
                        <a:srgbClr val="5A7A9A"/>
                      </a:solidFill>
                      <a:prstDash val="solid"/>
                      <a:round/>
                      <a:headEnd type="none" w="med" len="med"/>
                      <a:tailEnd type="none" w="med" len="med"/>
                    </a:lnB>
                    <a:solidFill>
                      <a:srgbClr val="1E3A5F"/>
                    </a:solidFill>
                  </a:tcPr>
                </a:tc>
                <a:tc>
                  <a:txBody>
                    <a:bodyPr/>
                    <a:lstStyle/>
                    <a:p>
                      <a:pPr marL="0" indent="0">
                        <a:buNone/>
                      </a:pPr>
                      <a:r>
                        <a:rPr lang="en-US" sz="1100" b="1" dirty="0">
                          <a:solidFill>
                            <a:srgbClr val="00C9A7"/>
                          </a:solidFill>
                          <a:latin typeface="Calibri" pitchFamily="34" charset="0"/>
                          <a:ea typeface="Calibri" pitchFamily="34" charset="-122"/>
                          <a:cs typeface="Calibri" pitchFamily="34" charset="-120"/>
                        </a:rPr>
                        <a:t>Implementation</a:t>
                      </a:r>
                      <a:endParaRPr lang="en-US" sz="1100" dirty="0">
                        <a:latin typeface="Calibri" charset="0"/>
                        <a:ea typeface="Calibri" charset="0"/>
                        <a:cs typeface="Calibri" charset="0"/>
                      </a:endParaRPr>
                    </a:p>
                  </a:txBody>
                  <a:tcPr>
                    <a:lnL w="12700" cap="flat" cmpd="sng" algn="ctr">
                      <a:solidFill>
                        <a:srgbClr val="5A7A9A"/>
                      </a:solidFill>
                      <a:prstDash val="solid"/>
                      <a:round/>
                      <a:headEnd type="none" w="med" len="med"/>
                      <a:tailEnd type="none" w="med" len="med"/>
                    </a:lnL>
                    <a:lnR w="12700" cap="flat" cmpd="sng" algn="ctr">
                      <a:solidFill>
                        <a:srgbClr val="5A7A9A"/>
                      </a:solidFill>
                      <a:prstDash val="solid"/>
                      <a:round/>
                      <a:headEnd type="none" w="med" len="med"/>
                      <a:tailEnd type="none" w="med" len="med"/>
                    </a:lnR>
                    <a:lnT w="12700" cap="flat" cmpd="sng" algn="ctr">
                      <a:solidFill>
                        <a:srgbClr val="5A7A9A"/>
                      </a:solidFill>
                      <a:prstDash val="solid"/>
                      <a:round/>
                      <a:headEnd type="none" w="med" len="med"/>
                      <a:tailEnd type="none" w="med" len="med"/>
                    </a:lnT>
                    <a:lnB w="12700" cap="flat" cmpd="sng" algn="ctr">
                      <a:solidFill>
                        <a:srgbClr val="5A7A9A"/>
                      </a:solidFill>
                      <a:prstDash val="solid"/>
                      <a:round/>
                      <a:headEnd type="none" w="med" len="med"/>
                      <a:tailEnd type="none" w="med" len="med"/>
                    </a:lnB>
                    <a:solidFill>
                      <a:srgbClr val="1E3A5F"/>
                    </a:solidFill>
                  </a:tcPr>
                </a:tc>
                <a:extLst>
                  <a:ext uri="{0D108BD9-81ED-4DB2-BD59-A6C34878D82A}">
                    <a16:rowId xmlns:a16="http://schemas.microsoft.com/office/drawing/2014/main" val="10000"/>
                  </a:ext>
                </a:extLst>
              </a:tr>
              <a:tr h="274320">
                <a:tc>
                  <a:txBody>
                    <a:bodyPr/>
                    <a:lstStyle/>
                    <a:p>
                      <a:pPr marL="0" indent="0">
                        <a:buNone/>
                      </a:pPr>
                      <a:r>
                        <a:rPr lang="en-US" sz="1100" dirty="0">
                          <a:solidFill>
                            <a:srgbClr val="B0C4DE"/>
                          </a:solidFill>
                          <a:latin typeface="Calibri" pitchFamily="34" charset="0"/>
                          <a:ea typeface="Calibri" pitchFamily="34" charset="-122"/>
                          <a:cs typeface="Calibri" pitchFamily="34" charset="-120"/>
                        </a:rPr>
                        <a:t>Gaussian Blur</a:t>
                      </a:r>
                      <a:endParaRPr lang="en-US" sz="1100" dirty="0">
                        <a:latin typeface="Calibri" charset="0"/>
                        <a:ea typeface="Calibri" charset="0"/>
                        <a:cs typeface="Calibri" charset="0"/>
                      </a:endParaRPr>
                    </a:p>
                  </a:txBody>
                  <a:tcPr>
                    <a:lnL w="12700" cap="flat" cmpd="sng" algn="ctr">
                      <a:solidFill>
                        <a:srgbClr val="5A7A9A"/>
                      </a:solidFill>
                      <a:prstDash val="solid"/>
                      <a:round/>
                      <a:headEnd type="none" w="med" len="med"/>
                      <a:tailEnd type="none" w="med" len="med"/>
                    </a:lnL>
                    <a:lnR w="12700" cap="flat" cmpd="sng" algn="ctr">
                      <a:solidFill>
                        <a:srgbClr val="5A7A9A"/>
                      </a:solidFill>
                      <a:prstDash val="solid"/>
                      <a:round/>
                      <a:headEnd type="none" w="med" len="med"/>
                      <a:tailEnd type="none" w="med" len="med"/>
                    </a:lnR>
                    <a:lnT w="12700" cap="flat" cmpd="sng" algn="ctr">
                      <a:solidFill>
                        <a:srgbClr val="5A7A9A"/>
                      </a:solidFill>
                      <a:prstDash val="solid"/>
                      <a:round/>
                      <a:headEnd type="none" w="med" len="med"/>
                      <a:tailEnd type="none" w="med" len="med"/>
                    </a:lnT>
                    <a:lnB w="12700" cap="flat" cmpd="sng" algn="ctr">
                      <a:solidFill>
                        <a:srgbClr val="5A7A9A"/>
                      </a:solidFill>
                      <a:prstDash val="solid"/>
                      <a:round/>
                      <a:headEnd type="none" w="med" len="med"/>
                      <a:tailEnd type="none" w="med" len="med"/>
                    </a:lnB>
                    <a:solidFill>
                      <a:srgbClr val="1A2F4A"/>
                    </a:solidFill>
                  </a:tcPr>
                </a:tc>
                <a:tc>
                  <a:txBody>
                    <a:bodyPr/>
                    <a:lstStyle/>
                    <a:p>
                      <a:pPr marL="0" indent="0">
                        <a:buNone/>
                      </a:pPr>
                      <a:r>
                        <a:rPr lang="en-US" sz="1100" dirty="0">
                          <a:solidFill>
                            <a:srgbClr val="B0C4DE"/>
                          </a:solidFill>
                          <a:latin typeface="Calibri" pitchFamily="34" charset="0"/>
                          <a:ea typeface="Calibri" pitchFamily="34" charset="-122"/>
                          <a:cs typeface="Calibri" pitchFamily="34" charset="-120"/>
                        </a:rPr>
                        <a:t>Kernel ∈ [11, 21] (odd)</a:t>
                      </a:r>
                      <a:endParaRPr lang="en-US" sz="1100" dirty="0">
                        <a:latin typeface="Calibri" charset="0"/>
                        <a:ea typeface="Calibri" charset="0"/>
                        <a:cs typeface="Calibri" charset="0"/>
                      </a:endParaRPr>
                    </a:p>
                  </a:txBody>
                  <a:tcPr>
                    <a:lnL w="12700" cap="flat" cmpd="sng" algn="ctr">
                      <a:solidFill>
                        <a:srgbClr val="5A7A9A"/>
                      </a:solidFill>
                      <a:prstDash val="solid"/>
                      <a:round/>
                      <a:headEnd type="none" w="med" len="med"/>
                      <a:tailEnd type="none" w="med" len="med"/>
                    </a:lnL>
                    <a:lnR w="12700" cap="flat" cmpd="sng" algn="ctr">
                      <a:solidFill>
                        <a:srgbClr val="5A7A9A"/>
                      </a:solidFill>
                      <a:prstDash val="solid"/>
                      <a:round/>
                      <a:headEnd type="none" w="med" len="med"/>
                      <a:tailEnd type="none" w="med" len="med"/>
                    </a:lnR>
                    <a:lnT w="12700" cap="flat" cmpd="sng" algn="ctr">
                      <a:solidFill>
                        <a:srgbClr val="5A7A9A"/>
                      </a:solidFill>
                      <a:prstDash val="solid"/>
                      <a:round/>
                      <a:headEnd type="none" w="med" len="med"/>
                      <a:tailEnd type="none" w="med" len="med"/>
                    </a:lnT>
                    <a:lnB w="12700" cap="flat" cmpd="sng" algn="ctr">
                      <a:solidFill>
                        <a:srgbClr val="5A7A9A"/>
                      </a:solidFill>
                      <a:prstDash val="solid"/>
                      <a:round/>
                      <a:headEnd type="none" w="med" len="med"/>
                      <a:tailEnd type="none" w="med" len="med"/>
                    </a:lnB>
                    <a:solidFill>
                      <a:srgbClr val="1A2F4A"/>
                    </a:solidFill>
                  </a:tcPr>
                </a:tc>
                <a:tc>
                  <a:txBody>
                    <a:bodyPr/>
                    <a:lstStyle/>
                    <a:p>
                      <a:pPr marL="0" indent="0">
                        <a:buNone/>
                      </a:pPr>
                      <a:r>
                        <a:rPr lang="en-US" sz="1100" dirty="0">
                          <a:solidFill>
                            <a:srgbClr val="5A7A9A"/>
                          </a:solidFill>
                          <a:latin typeface="Calibri" pitchFamily="34" charset="0"/>
                          <a:ea typeface="Calibri" pitchFamily="34" charset="-122"/>
                          <a:cs typeface="Calibri" pitchFamily="34" charset="-120"/>
                        </a:rPr>
                        <a:t>cv2.GaussianBlur</a:t>
                      </a:r>
                      <a:endParaRPr lang="en-US" sz="1100" dirty="0">
                        <a:latin typeface="Calibri" charset="0"/>
                        <a:ea typeface="Calibri" charset="0"/>
                        <a:cs typeface="Calibri" charset="0"/>
                      </a:endParaRPr>
                    </a:p>
                  </a:txBody>
                  <a:tcPr>
                    <a:lnL w="12700" cap="flat" cmpd="sng" algn="ctr">
                      <a:solidFill>
                        <a:srgbClr val="5A7A9A"/>
                      </a:solidFill>
                      <a:prstDash val="solid"/>
                      <a:round/>
                      <a:headEnd type="none" w="med" len="med"/>
                      <a:tailEnd type="none" w="med" len="med"/>
                    </a:lnL>
                    <a:lnR w="12700" cap="flat" cmpd="sng" algn="ctr">
                      <a:solidFill>
                        <a:srgbClr val="5A7A9A"/>
                      </a:solidFill>
                      <a:prstDash val="solid"/>
                      <a:round/>
                      <a:headEnd type="none" w="med" len="med"/>
                      <a:tailEnd type="none" w="med" len="med"/>
                    </a:lnR>
                    <a:lnT w="12700" cap="flat" cmpd="sng" algn="ctr">
                      <a:solidFill>
                        <a:srgbClr val="5A7A9A"/>
                      </a:solidFill>
                      <a:prstDash val="solid"/>
                      <a:round/>
                      <a:headEnd type="none" w="med" len="med"/>
                      <a:tailEnd type="none" w="med" len="med"/>
                    </a:lnT>
                    <a:lnB w="12700" cap="flat" cmpd="sng" algn="ctr">
                      <a:solidFill>
                        <a:srgbClr val="5A7A9A"/>
                      </a:solidFill>
                      <a:prstDash val="solid"/>
                      <a:round/>
                      <a:headEnd type="none" w="med" len="med"/>
                      <a:tailEnd type="none" w="med" len="med"/>
                    </a:lnB>
                    <a:solidFill>
                      <a:srgbClr val="1A2F4A"/>
                    </a:solidFill>
                  </a:tcPr>
                </a:tc>
                <a:extLst>
                  <a:ext uri="{0D108BD9-81ED-4DB2-BD59-A6C34878D82A}">
                    <a16:rowId xmlns:a16="http://schemas.microsoft.com/office/drawing/2014/main" val="10001"/>
                  </a:ext>
                </a:extLst>
              </a:tr>
              <a:tr h="274320">
                <a:tc>
                  <a:txBody>
                    <a:bodyPr/>
                    <a:lstStyle/>
                    <a:p>
                      <a:pPr marL="0" indent="0">
                        <a:buNone/>
                      </a:pPr>
                      <a:r>
                        <a:rPr lang="en-US" sz="1100" dirty="0">
                          <a:solidFill>
                            <a:srgbClr val="B0C4DE"/>
                          </a:solidFill>
                          <a:latin typeface="Calibri" pitchFamily="34" charset="0"/>
                          <a:ea typeface="Calibri" pitchFamily="34" charset="-122"/>
                          <a:cs typeface="Calibri" pitchFamily="34" charset="-120"/>
                        </a:rPr>
                        <a:t>JPEG Compression</a:t>
                      </a:r>
                      <a:endParaRPr lang="en-US" sz="1100" dirty="0">
                        <a:latin typeface="Calibri" charset="0"/>
                        <a:ea typeface="Calibri" charset="0"/>
                        <a:cs typeface="Calibri" charset="0"/>
                      </a:endParaRPr>
                    </a:p>
                  </a:txBody>
                  <a:tcPr>
                    <a:lnL w="12700" cap="flat" cmpd="sng" algn="ctr">
                      <a:solidFill>
                        <a:srgbClr val="5A7A9A"/>
                      </a:solidFill>
                      <a:prstDash val="solid"/>
                      <a:round/>
                      <a:headEnd type="none" w="med" len="med"/>
                      <a:tailEnd type="none" w="med" len="med"/>
                    </a:lnL>
                    <a:lnR w="12700" cap="flat" cmpd="sng" algn="ctr">
                      <a:solidFill>
                        <a:srgbClr val="5A7A9A"/>
                      </a:solidFill>
                      <a:prstDash val="solid"/>
                      <a:round/>
                      <a:headEnd type="none" w="med" len="med"/>
                      <a:tailEnd type="none" w="med" len="med"/>
                    </a:lnR>
                    <a:lnT w="12700" cap="flat" cmpd="sng" algn="ctr">
                      <a:solidFill>
                        <a:srgbClr val="5A7A9A"/>
                      </a:solidFill>
                      <a:prstDash val="solid"/>
                      <a:round/>
                      <a:headEnd type="none" w="med" len="med"/>
                      <a:tailEnd type="none" w="med" len="med"/>
                    </a:lnT>
                    <a:lnB w="12700" cap="flat" cmpd="sng" algn="ctr">
                      <a:solidFill>
                        <a:srgbClr val="5A7A9A"/>
                      </a:solidFill>
                      <a:prstDash val="solid"/>
                      <a:round/>
                      <a:headEnd type="none" w="med" len="med"/>
                      <a:tailEnd type="none" w="med" len="med"/>
                    </a:lnB>
                    <a:solidFill>
                      <a:srgbClr val="162638"/>
                    </a:solidFill>
                  </a:tcPr>
                </a:tc>
                <a:tc>
                  <a:txBody>
                    <a:bodyPr/>
                    <a:lstStyle/>
                    <a:p>
                      <a:pPr marL="0" indent="0">
                        <a:buNone/>
                      </a:pPr>
                      <a:r>
                        <a:rPr lang="en-US" sz="1100" dirty="0">
                          <a:solidFill>
                            <a:srgbClr val="B0C4DE"/>
                          </a:solidFill>
                          <a:latin typeface="Calibri" pitchFamily="34" charset="0"/>
                          <a:ea typeface="Calibri" pitchFamily="34" charset="-122"/>
                          <a:cs typeface="Calibri" pitchFamily="34" charset="-120"/>
                        </a:rPr>
                        <a:t>Quality ∈ [30, 95]</a:t>
                      </a:r>
                      <a:endParaRPr lang="en-US" sz="1100" dirty="0">
                        <a:latin typeface="Calibri" charset="0"/>
                        <a:ea typeface="Calibri" charset="0"/>
                        <a:cs typeface="Calibri" charset="0"/>
                      </a:endParaRPr>
                    </a:p>
                  </a:txBody>
                  <a:tcPr>
                    <a:lnL w="12700" cap="flat" cmpd="sng" algn="ctr">
                      <a:solidFill>
                        <a:srgbClr val="5A7A9A"/>
                      </a:solidFill>
                      <a:prstDash val="solid"/>
                      <a:round/>
                      <a:headEnd type="none" w="med" len="med"/>
                      <a:tailEnd type="none" w="med" len="med"/>
                    </a:lnL>
                    <a:lnR w="12700" cap="flat" cmpd="sng" algn="ctr">
                      <a:solidFill>
                        <a:srgbClr val="5A7A9A"/>
                      </a:solidFill>
                      <a:prstDash val="solid"/>
                      <a:round/>
                      <a:headEnd type="none" w="med" len="med"/>
                      <a:tailEnd type="none" w="med" len="med"/>
                    </a:lnR>
                    <a:lnT w="12700" cap="flat" cmpd="sng" algn="ctr">
                      <a:solidFill>
                        <a:srgbClr val="5A7A9A"/>
                      </a:solidFill>
                      <a:prstDash val="solid"/>
                      <a:round/>
                      <a:headEnd type="none" w="med" len="med"/>
                      <a:tailEnd type="none" w="med" len="med"/>
                    </a:lnT>
                    <a:lnB w="12700" cap="flat" cmpd="sng" algn="ctr">
                      <a:solidFill>
                        <a:srgbClr val="5A7A9A"/>
                      </a:solidFill>
                      <a:prstDash val="solid"/>
                      <a:round/>
                      <a:headEnd type="none" w="med" len="med"/>
                      <a:tailEnd type="none" w="med" len="med"/>
                    </a:lnB>
                    <a:solidFill>
                      <a:srgbClr val="162638"/>
                    </a:solidFill>
                  </a:tcPr>
                </a:tc>
                <a:tc>
                  <a:txBody>
                    <a:bodyPr/>
                    <a:lstStyle/>
                    <a:p>
                      <a:pPr marL="0" indent="0">
                        <a:buNone/>
                      </a:pPr>
                      <a:r>
                        <a:rPr lang="en-US" sz="1100" dirty="0">
                          <a:solidFill>
                            <a:srgbClr val="5A7A9A"/>
                          </a:solidFill>
                          <a:latin typeface="Calibri" pitchFamily="34" charset="0"/>
                          <a:ea typeface="Calibri" pitchFamily="34" charset="-122"/>
                          <a:cs typeface="Calibri" pitchFamily="34" charset="-120"/>
                        </a:rPr>
                        <a:t>cv2.imencode('.jpg', ...)</a:t>
                      </a:r>
                      <a:endParaRPr lang="en-US" sz="1100" dirty="0">
                        <a:latin typeface="Calibri" charset="0"/>
                        <a:ea typeface="Calibri" charset="0"/>
                        <a:cs typeface="Calibri" charset="0"/>
                      </a:endParaRPr>
                    </a:p>
                  </a:txBody>
                  <a:tcPr>
                    <a:lnL w="12700" cap="flat" cmpd="sng" algn="ctr">
                      <a:solidFill>
                        <a:srgbClr val="5A7A9A"/>
                      </a:solidFill>
                      <a:prstDash val="solid"/>
                      <a:round/>
                      <a:headEnd type="none" w="med" len="med"/>
                      <a:tailEnd type="none" w="med" len="med"/>
                    </a:lnL>
                    <a:lnR w="12700" cap="flat" cmpd="sng" algn="ctr">
                      <a:solidFill>
                        <a:srgbClr val="5A7A9A"/>
                      </a:solidFill>
                      <a:prstDash val="solid"/>
                      <a:round/>
                      <a:headEnd type="none" w="med" len="med"/>
                      <a:tailEnd type="none" w="med" len="med"/>
                    </a:lnR>
                    <a:lnT w="12700" cap="flat" cmpd="sng" algn="ctr">
                      <a:solidFill>
                        <a:srgbClr val="5A7A9A"/>
                      </a:solidFill>
                      <a:prstDash val="solid"/>
                      <a:round/>
                      <a:headEnd type="none" w="med" len="med"/>
                      <a:tailEnd type="none" w="med" len="med"/>
                    </a:lnT>
                    <a:lnB w="12700" cap="flat" cmpd="sng" algn="ctr">
                      <a:solidFill>
                        <a:srgbClr val="5A7A9A"/>
                      </a:solidFill>
                      <a:prstDash val="solid"/>
                      <a:round/>
                      <a:headEnd type="none" w="med" len="med"/>
                      <a:tailEnd type="none" w="med" len="med"/>
                    </a:lnB>
                    <a:solidFill>
                      <a:srgbClr val="162638"/>
                    </a:solidFill>
                  </a:tcPr>
                </a:tc>
                <a:extLst>
                  <a:ext uri="{0D108BD9-81ED-4DB2-BD59-A6C34878D82A}">
                    <a16:rowId xmlns:a16="http://schemas.microsoft.com/office/drawing/2014/main" val="10002"/>
                  </a:ext>
                </a:extLst>
              </a:tr>
              <a:tr h="274320">
                <a:tc>
                  <a:txBody>
                    <a:bodyPr/>
                    <a:lstStyle/>
                    <a:p>
                      <a:pPr marL="0" indent="0">
                        <a:buNone/>
                      </a:pPr>
                      <a:r>
                        <a:rPr lang="en-US" sz="1100" dirty="0">
                          <a:solidFill>
                            <a:srgbClr val="B0C4DE"/>
                          </a:solidFill>
                          <a:latin typeface="Calibri" pitchFamily="34" charset="0"/>
                          <a:ea typeface="Calibri" pitchFamily="34" charset="-122"/>
                          <a:cs typeface="Calibri" pitchFamily="34" charset="-120"/>
                        </a:rPr>
                        <a:t>White Gaussian Noise</a:t>
                      </a:r>
                      <a:endParaRPr lang="en-US" sz="1100" dirty="0">
                        <a:latin typeface="Calibri" charset="0"/>
                        <a:ea typeface="Calibri" charset="0"/>
                        <a:cs typeface="Calibri" charset="0"/>
                      </a:endParaRPr>
                    </a:p>
                  </a:txBody>
                  <a:tcPr>
                    <a:lnL w="12700" cap="flat" cmpd="sng" algn="ctr">
                      <a:solidFill>
                        <a:srgbClr val="5A7A9A"/>
                      </a:solidFill>
                      <a:prstDash val="solid"/>
                      <a:round/>
                      <a:headEnd type="none" w="med" len="med"/>
                      <a:tailEnd type="none" w="med" len="med"/>
                    </a:lnL>
                    <a:lnR w="12700" cap="flat" cmpd="sng" algn="ctr">
                      <a:solidFill>
                        <a:srgbClr val="5A7A9A"/>
                      </a:solidFill>
                      <a:prstDash val="solid"/>
                      <a:round/>
                      <a:headEnd type="none" w="med" len="med"/>
                      <a:tailEnd type="none" w="med" len="med"/>
                    </a:lnR>
                    <a:lnT w="12700" cap="flat" cmpd="sng" algn="ctr">
                      <a:solidFill>
                        <a:srgbClr val="5A7A9A"/>
                      </a:solidFill>
                      <a:prstDash val="solid"/>
                      <a:round/>
                      <a:headEnd type="none" w="med" len="med"/>
                      <a:tailEnd type="none" w="med" len="med"/>
                    </a:lnT>
                    <a:lnB w="12700" cap="flat" cmpd="sng" algn="ctr">
                      <a:solidFill>
                        <a:srgbClr val="5A7A9A"/>
                      </a:solidFill>
                      <a:prstDash val="solid"/>
                      <a:round/>
                      <a:headEnd type="none" w="med" len="med"/>
                      <a:tailEnd type="none" w="med" len="med"/>
                    </a:lnB>
                    <a:solidFill>
                      <a:srgbClr val="1A2F4A"/>
                    </a:solidFill>
                  </a:tcPr>
                </a:tc>
                <a:tc>
                  <a:txBody>
                    <a:bodyPr/>
                    <a:lstStyle/>
                    <a:p>
                      <a:pPr marL="0" indent="0">
                        <a:buNone/>
                      </a:pPr>
                      <a:r>
                        <a:rPr lang="en-US" sz="1100" dirty="0">
                          <a:solidFill>
                            <a:srgbClr val="B0C4DE"/>
                          </a:solidFill>
                          <a:latin typeface="Calibri" pitchFamily="34" charset="0"/>
                          <a:ea typeface="Calibri" pitchFamily="34" charset="-122"/>
                          <a:cs typeface="Calibri" pitchFamily="34" charset="-120"/>
                        </a:rPr>
                        <a:t>mean ∈ [-0.3, 0.3], var ∈ [0, 1]</a:t>
                      </a:r>
                      <a:endParaRPr lang="en-US" sz="1100" dirty="0">
                        <a:latin typeface="Calibri" charset="0"/>
                        <a:ea typeface="Calibri" charset="0"/>
                        <a:cs typeface="Calibri" charset="0"/>
                      </a:endParaRPr>
                    </a:p>
                  </a:txBody>
                  <a:tcPr>
                    <a:lnL w="12700" cap="flat" cmpd="sng" algn="ctr">
                      <a:solidFill>
                        <a:srgbClr val="5A7A9A"/>
                      </a:solidFill>
                      <a:prstDash val="solid"/>
                      <a:round/>
                      <a:headEnd type="none" w="med" len="med"/>
                      <a:tailEnd type="none" w="med" len="med"/>
                    </a:lnL>
                    <a:lnR w="12700" cap="flat" cmpd="sng" algn="ctr">
                      <a:solidFill>
                        <a:srgbClr val="5A7A9A"/>
                      </a:solidFill>
                      <a:prstDash val="solid"/>
                      <a:round/>
                      <a:headEnd type="none" w="med" len="med"/>
                      <a:tailEnd type="none" w="med" len="med"/>
                    </a:lnR>
                    <a:lnT w="12700" cap="flat" cmpd="sng" algn="ctr">
                      <a:solidFill>
                        <a:srgbClr val="5A7A9A"/>
                      </a:solidFill>
                      <a:prstDash val="solid"/>
                      <a:round/>
                      <a:headEnd type="none" w="med" len="med"/>
                      <a:tailEnd type="none" w="med" len="med"/>
                    </a:lnT>
                    <a:lnB w="12700" cap="flat" cmpd="sng" algn="ctr">
                      <a:solidFill>
                        <a:srgbClr val="5A7A9A"/>
                      </a:solidFill>
                      <a:prstDash val="solid"/>
                      <a:round/>
                      <a:headEnd type="none" w="med" len="med"/>
                      <a:tailEnd type="none" w="med" len="med"/>
                    </a:lnB>
                    <a:solidFill>
                      <a:srgbClr val="1A2F4A"/>
                    </a:solidFill>
                  </a:tcPr>
                </a:tc>
                <a:tc>
                  <a:txBody>
                    <a:bodyPr/>
                    <a:lstStyle/>
                    <a:p>
                      <a:pPr marL="0" indent="0">
                        <a:buNone/>
                      </a:pPr>
                      <a:r>
                        <a:rPr lang="en-US" sz="1100" dirty="0">
                          <a:solidFill>
                            <a:srgbClr val="5A7A9A"/>
                          </a:solidFill>
                          <a:latin typeface="Calibri" pitchFamily="34" charset="0"/>
                          <a:ea typeface="Calibri" pitchFamily="34" charset="-122"/>
                          <a:cs typeface="Calibri" pitchFamily="34" charset="-120"/>
                        </a:rPr>
                        <a:t>np.random.normal(...)</a:t>
                      </a:r>
                      <a:endParaRPr lang="en-US" sz="1100" dirty="0">
                        <a:latin typeface="Calibri" charset="0"/>
                        <a:ea typeface="Calibri" charset="0"/>
                        <a:cs typeface="Calibri" charset="0"/>
                      </a:endParaRPr>
                    </a:p>
                  </a:txBody>
                  <a:tcPr>
                    <a:lnL w="12700" cap="flat" cmpd="sng" algn="ctr">
                      <a:solidFill>
                        <a:srgbClr val="5A7A9A"/>
                      </a:solidFill>
                      <a:prstDash val="solid"/>
                      <a:round/>
                      <a:headEnd type="none" w="med" len="med"/>
                      <a:tailEnd type="none" w="med" len="med"/>
                    </a:lnL>
                    <a:lnR w="12700" cap="flat" cmpd="sng" algn="ctr">
                      <a:solidFill>
                        <a:srgbClr val="5A7A9A"/>
                      </a:solidFill>
                      <a:prstDash val="solid"/>
                      <a:round/>
                      <a:headEnd type="none" w="med" len="med"/>
                      <a:tailEnd type="none" w="med" len="med"/>
                    </a:lnR>
                    <a:lnT w="12700" cap="flat" cmpd="sng" algn="ctr">
                      <a:solidFill>
                        <a:srgbClr val="5A7A9A"/>
                      </a:solidFill>
                      <a:prstDash val="solid"/>
                      <a:round/>
                      <a:headEnd type="none" w="med" len="med"/>
                      <a:tailEnd type="none" w="med" len="med"/>
                    </a:lnT>
                    <a:lnB w="12700" cap="flat" cmpd="sng" algn="ctr">
                      <a:solidFill>
                        <a:srgbClr val="5A7A9A"/>
                      </a:solidFill>
                      <a:prstDash val="solid"/>
                      <a:round/>
                      <a:headEnd type="none" w="med" len="med"/>
                      <a:tailEnd type="none" w="med" len="med"/>
                    </a:lnB>
                    <a:solidFill>
                      <a:srgbClr val="1A2F4A"/>
                    </a:solidFill>
                  </a:tcPr>
                </a:tc>
                <a:extLst>
                  <a:ext uri="{0D108BD9-81ED-4DB2-BD59-A6C34878D82A}">
                    <a16:rowId xmlns:a16="http://schemas.microsoft.com/office/drawing/2014/main" val="10003"/>
                  </a:ext>
                </a:extLst>
              </a:tr>
              <a:tr h="274320">
                <a:tc>
                  <a:txBody>
                    <a:bodyPr/>
                    <a:lstStyle/>
                    <a:p>
                      <a:pPr marL="0" indent="0">
                        <a:buNone/>
                      </a:pPr>
                      <a:r>
                        <a:rPr lang="en-US" sz="1100" dirty="0">
                          <a:solidFill>
                            <a:srgbClr val="B0C4DE"/>
                          </a:solidFill>
                          <a:latin typeface="Calibri" pitchFamily="34" charset="0"/>
                          <a:ea typeface="Calibri" pitchFamily="34" charset="-122"/>
                          <a:cs typeface="Calibri" pitchFamily="34" charset="-120"/>
                        </a:rPr>
                        <a:t>Color Contrast</a:t>
                      </a:r>
                      <a:endParaRPr lang="en-US" sz="1100" dirty="0">
                        <a:latin typeface="Calibri" charset="0"/>
                        <a:ea typeface="Calibri" charset="0"/>
                        <a:cs typeface="Calibri" charset="0"/>
                      </a:endParaRPr>
                    </a:p>
                  </a:txBody>
                  <a:tcPr>
                    <a:lnL w="12700" cap="flat" cmpd="sng" algn="ctr">
                      <a:solidFill>
                        <a:srgbClr val="5A7A9A"/>
                      </a:solidFill>
                      <a:prstDash val="solid"/>
                      <a:round/>
                      <a:headEnd type="none" w="med" len="med"/>
                      <a:tailEnd type="none" w="med" len="med"/>
                    </a:lnL>
                    <a:lnR w="12700" cap="flat" cmpd="sng" algn="ctr">
                      <a:solidFill>
                        <a:srgbClr val="5A7A9A"/>
                      </a:solidFill>
                      <a:prstDash val="solid"/>
                      <a:round/>
                      <a:headEnd type="none" w="med" len="med"/>
                      <a:tailEnd type="none" w="med" len="med"/>
                    </a:lnR>
                    <a:lnT w="12700" cap="flat" cmpd="sng" algn="ctr">
                      <a:solidFill>
                        <a:srgbClr val="5A7A9A"/>
                      </a:solidFill>
                      <a:prstDash val="solid"/>
                      <a:round/>
                      <a:headEnd type="none" w="med" len="med"/>
                      <a:tailEnd type="none" w="med" len="med"/>
                    </a:lnT>
                    <a:lnB w="12700" cap="flat" cmpd="sng" algn="ctr">
                      <a:solidFill>
                        <a:srgbClr val="5A7A9A"/>
                      </a:solidFill>
                      <a:prstDash val="solid"/>
                      <a:round/>
                      <a:headEnd type="none" w="med" len="med"/>
                      <a:tailEnd type="none" w="med" len="med"/>
                    </a:lnB>
                    <a:solidFill>
                      <a:srgbClr val="162638"/>
                    </a:solidFill>
                  </a:tcPr>
                </a:tc>
                <a:tc>
                  <a:txBody>
                    <a:bodyPr/>
                    <a:lstStyle/>
                    <a:p>
                      <a:pPr marL="0" indent="0">
                        <a:buNone/>
                      </a:pPr>
                      <a:r>
                        <a:rPr lang="en-US" sz="1100" dirty="0">
                          <a:solidFill>
                            <a:srgbClr val="B0C4DE"/>
                          </a:solidFill>
                          <a:latin typeface="Calibri" pitchFamily="34" charset="0"/>
                          <a:ea typeface="Calibri" pitchFamily="34" charset="-122"/>
                          <a:cs typeface="Calibri" pitchFamily="34" charset="-120"/>
                        </a:rPr>
                        <a:t>Enhancement factor ∈ [0.5, 2.5]</a:t>
                      </a:r>
                      <a:endParaRPr lang="en-US" sz="1100" dirty="0">
                        <a:latin typeface="Calibri" charset="0"/>
                        <a:ea typeface="Calibri" charset="0"/>
                        <a:cs typeface="Calibri" charset="0"/>
                      </a:endParaRPr>
                    </a:p>
                  </a:txBody>
                  <a:tcPr>
                    <a:lnL w="12700" cap="flat" cmpd="sng" algn="ctr">
                      <a:solidFill>
                        <a:srgbClr val="5A7A9A"/>
                      </a:solidFill>
                      <a:prstDash val="solid"/>
                      <a:round/>
                      <a:headEnd type="none" w="med" len="med"/>
                      <a:tailEnd type="none" w="med" len="med"/>
                    </a:lnL>
                    <a:lnR w="12700" cap="flat" cmpd="sng" algn="ctr">
                      <a:solidFill>
                        <a:srgbClr val="5A7A9A"/>
                      </a:solidFill>
                      <a:prstDash val="solid"/>
                      <a:round/>
                      <a:headEnd type="none" w="med" len="med"/>
                      <a:tailEnd type="none" w="med" len="med"/>
                    </a:lnR>
                    <a:lnT w="12700" cap="flat" cmpd="sng" algn="ctr">
                      <a:solidFill>
                        <a:srgbClr val="5A7A9A"/>
                      </a:solidFill>
                      <a:prstDash val="solid"/>
                      <a:round/>
                      <a:headEnd type="none" w="med" len="med"/>
                      <a:tailEnd type="none" w="med" len="med"/>
                    </a:lnT>
                    <a:lnB w="12700" cap="flat" cmpd="sng" algn="ctr">
                      <a:solidFill>
                        <a:srgbClr val="5A7A9A"/>
                      </a:solidFill>
                      <a:prstDash val="solid"/>
                      <a:round/>
                      <a:headEnd type="none" w="med" len="med"/>
                      <a:tailEnd type="none" w="med" len="med"/>
                    </a:lnB>
                    <a:solidFill>
                      <a:srgbClr val="162638"/>
                    </a:solidFill>
                  </a:tcPr>
                </a:tc>
                <a:tc>
                  <a:txBody>
                    <a:bodyPr/>
                    <a:lstStyle/>
                    <a:p>
                      <a:pPr marL="0" indent="0">
                        <a:buNone/>
                      </a:pPr>
                      <a:r>
                        <a:rPr lang="en-US" sz="1100" dirty="0">
                          <a:solidFill>
                            <a:srgbClr val="5A7A9A"/>
                          </a:solidFill>
                          <a:latin typeface="Calibri" pitchFamily="34" charset="0"/>
                          <a:ea typeface="Calibri" pitchFamily="34" charset="-122"/>
                          <a:cs typeface="Calibri" pitchFamily="34" charset="-120"/>
                        </a:rPr>
                        <a:t>PIL ImageEnhance.Contrast</a:t>
                      </a:r>
                      <a:endParaRPr lang="en-US" sz="1100" dirty="0">
                        <a:latin typeface="Calibri" charset="0"/>
                        <a:ea typeface="Calibri" charset="0"/>
                        <a:cs typeface="Calibri" charset="0"/>
                      </a:endParaRPr>
                    </a:p>
                  </a:txBody>
                  <a:tcPr>
                    <a:lnL w="12700" cap="flat" cmpd="sng" algn="ctr">
                      <a:solidFill>
                        <a:srgbClr val="5A7A9A"/>
                      </a:solidFill>
                      <a:prstDash val="solid"/>
                      <a:round/>
                      <a:headEnd type="none" w="med" len="med"/>
                      <a:tailEnd type="none" w="med" len="med"/>
                    </a:lnL>
                    <a:lnR w="12700" cap="flat" cmpd="sng" algn="ctr">
                      <a:solidFill>
                        <a:srgbClr val="5A7A9A"/>
                      </a:solidFill>
                      <a:prstDash val="solid"/>
                      <a:round/>
                      <a:headEnd type="none" w="med" len="med"/>
                      <a:tailEnd type="none" w="med" len="med"/>
                    </a:lnR>
                    <a:lnT w="12700" cap="flat" cmpd="sng" algn="ctr">
                      <a:solidFill>
                        <a:srgbClr val="5A7A9A"/>
                      </a:solidFill>
                      <a:prstDash val="solid"/>
                      <a:round/>
                      <a:headEnd type="none" w="med" len="med"/>
                      <a:tailEnd type="none" w="med" len="med"/>
                    </a:lnT>
                    <a:lnB w="12700" cap="flat" cmpd="sng" algn="ctr">
                      <a:solidFill>
                        <a:srgbClr val="5A7A9A"/>
                      </a:solidFill>
                      <a:prstDash val="solid"/>
                      <a:round/>
                      <a:headEnd type="none" w="med" len="med"/>
                      <a:tailEnd type="none" w="med" len="med"/>
                    </a:lnB>
                    <a:solidFill>
                      <a:srgbClr val="162638"/>
                    </a:solidFill>
                  </a:tcPr>
                </a:tc>
                <a:extLst>
                  <a:ext uri="{0D108BD9-81ED-4DB2-BD59-A6C34878D82A}">
                    <a16:rowId xmlns:a16="http://schemas.microsoft.com/office/drawing/2014/main" val="10004"/>
                  </a:ext>
                </a:extLst>
              </a:tr>
              <a:tr h="274320">
                <a:tc>
                  <a:txBody>
                    <a:bodyPr/>
                    <a:lstStyle/>
                    <a:p>
                      <a:pPr marL="0" indent="0">
                        <a:buNone/>
                      </a:pPr>
                      <a:r>
                        <a:rPr lang="en-US" sz="1100" dirty="0">
                          <a:solidFill>
                            <a:srgbClr val="B0C4DE"/>
                          </a:solidFill>
                          <a:latin typeface="Calibri" pitchFamily="34" charset="0"/>
                          <a:ea typeface="Calibri" pitchFamily="34" charset="-122"/>
                          <a:cs typeface="Calibri" pitchFamily="34" charset="-120"/>
                        </a:rPr>
                        <a:t>Color Saturation</a:t>
                      </a:r>
                      <a:endParaRPr lang="en-US" sz="1100" dirty="0">
                        <a:latin typeface="Calibri" charset="0"/>
                        <a:ea typeface="Calibri" charset="0"/>
                        <a:cs typeface="Calibri" charset="0"/>
                      </a:endParaRPr>
                    </a:p>
                  </a:txBody>
                  <a:tcPr>
                    <a:lnL w="12700" cap="flat" cmpd="sng" algn="ctr">
                      <a:solidFill>
                        <a:srgbClr val="5A7A9A"/>
                      </a:solidFill>
                      <a:prstDash val="solid"/>
                      <a:round/>
                      <a:headEnd type="none" w="med" len="med"/>
                      <a:tailEnd type="none" w="med" len="med"/>
                    </a:lnL>
                    <a:lnR w="12700" cap="flat" cmpd="sng" algn="ctr">
                      <a:solidFill>
                        <a:srgbClr val="5A7A9A"/>
                      </a:solidFill>
                      <a:prstDash val="solid"/>
                      <a:round/>
                      <a:headEnd type="none" w="med" len="med"/>
                      <a:tailEnd type="none" w="med" len="med"/>
                    </a:lnR>
                    <a:lnT w="12700" cap="flat" cmpd="sng" algn="ctr">
                      <a:solidFill>
                        <a:srgbClr val="5A7A9A"/>
                      </a:solidFill>
                      <a:prstDash val="solid"/>
                      <a:round/>
                      <a:headEnd type="none" w="med" len="med"/>
                      <a:tailEnd type="none" w="med" len="med"/>
                    </a:lnT>
                    <a:lnB w="12700" cap="flat" cmpd="sng" algn="ctr">
                      <a:solidFill>
                        <a:srgbClr val="5A7A9A"/>
                      </a:solidFill>
                      <a:prstDash val="solid"/>
                      <a:round/>
                      <a:headEnd type="none" w="med" len="med"/>
                      <a:tailEnd type="none" w="med" len="med"/>
                    </a:lnB>
                    <a:solidFill>
                      <a:srgbClr val="1A2F4A"/>
                    </a:solidFill>
                  </a:tcPr>
                </a:tc>
                <a:tc>
                  <a:txBody>
                    <a:bodyPr/>
                    <a:lstStyle/>
                    <a:p>
                      <a:pPr marL="0" indent="0">
                        <a:buNone/>
                      </a:pPr>
                      <a:r>
                        <a:rPr lang="en-US" sz="1100" dirty="0">
                          <a:solidFill>
                            <a:srgbClr val="B0C4DE"/>
                          </a:solidFill>
                          <a:latin typeface="Calibri" pitchFamily="34" charset="0"/>
                          <a:ea typeface="Calibri" pitchFamily="34" charset="-122"/>
                          <a:cs typeface="Calibri" pitchFamily="34" charset="-120"/>
                        </a:rPr>
                        <a:t>Enhancement factor ∈ [0.0, 2.5]</a:t>
                      </a:r>
                      <a:endParaRPr lang="en-US" sz="1100" dirty="0">
                        <a:latin typeface="Calibri" charset="0"/>
                        <a:ea typeface="Calibri" charset="0"/>
                        <a:cs typeface="Calibri" charset="0"/>
                      </a:endParaRPr>
                    </a:p>
                  </a:txBody>
                  <a:tcPr>
                    <a:lnL w="12700" cap="flat" cmpd="sng" algn="ctr">
                      <a:solidFill>
                        <a:srgbClr val="5A7A9A"/>
                      </a:solidFill>
                      <a:prstDash val="solid"/>
                      <a:round/>
                      <a:headEnd type="none" w="med" len="med"/>
                      <a:tailEnd type="none" w="med" len="med"/>
                    </a:lnL>
                    <a:lnR w="12700" cap="flat" cmpd="sng" algn="ctr">
                      <a:solidFill>
                        <a:srgbClr val="5A7A9A"/>
                      </a:solidFill>
                      <a:prstDash val="solid"/>
                      <a:round/>
                      <a:headEnd type="none" w="med" len="med"/>
                      <a:tailEnd type="none" w="med" len="med"/>
                    </a:lnR>
                    <a:lnT w="12700" cap="flat" cmpd="sng" algn="ctr">
                      <a:solidFill>
                        <a:srgbClr val="5A7A9A"/>
                      </a:solidFill>
                      <a:prstDash val="solid"/>
                      <a:round/>
                      <a:headEnd type="none" w="med" len="med"/>
                      <a:tailEnd type="none" w="med" len="med"/>
                    </a:lnT>
                    <a:lnB w="12700" cap="flat" cmpd="sng" algn="ctr">
                      <a:solidFill>
                        <a:srgbClr val="5A7A9A"/>
                      </a:solidFill>
                      <a:prstDash val="solid"/>
                      <a:round/>
                      <a:headEnd type="none" w="med" len="med"/>
                      <a:tailEnd type="none" w="med" len="med"/>
                    </a:lnB>
                    <a:solidFill>
                      <a:srgbClr val="1A2F4A"/>
                    </a:solidFill>
                  </a:tcPr>
                </a:tc>
                <a:tc>
                  <a:txBody>
                    <a:bodyPr/>
                    <a:lstStyle/>
                    <a:p>
                      <a:pPr marL="0" indent="0">
                        <a:buNone/>
                      </a:pPr>
                      <a:r>
                        <a:rPr lang="en-US" sz="1100" dirty="0">
                          <a:solidFill>
                            <a:srgbClr val="5A7A9A"/>
                          </a:solidFill>
                          <a:latin typeface="Calibri" pitchFamily="34" charset="0"/>
                          <a:ea typeface="Calibri" pitchFamily="34" charset="-122"/>
                          <a:cs typeface="Calibri" pitchFamily="34" charset="-120"/>
                        </a:rPr>
                        <a:t>PIL ImageEnhance.Color</a:t>
                      </a:r>
                      <a:endParaRPr lang="en-US" sz="1100" dirty="0">
                        <a:latin typeface="Calibri" charset="0"/>
                        <a:ea typeface="Calibri" charset="0"/>
                        <a:cs typeface="Calibri" charset="0"/>
                      </a:endParaRPr>
                    </a:p>
                  </a:txBody>
                  <a:tcPr>
                    <a:lnL w="12700" cap="flat" cmpd="sng" algn="ctr">
                      <a:solidFill>
                        <a:srgbClr val="5A7A9A"/>
                      </a:solidFill>
                      <a:prstDash val="solid"/>
                      <a:round/>
                      <a:headEnd type="none" w="med" len="med"/>
                      <a:tailEnd type="none" w="med" len="med"/>
                    </a:lnL>
                    <a:lnR w="12700" cap="flat" cmpd="sng" algn="ctr">
                      <a:solidFill>
                        <a:srgbClr val="5A7A9A"/>
                      </a:solidFill>
                      <a:prstDash val="solid"/>
                      <a:round/>
                      <a:headEnd type="none" w="med" len="med"/>
                      <a:tailEnd type="none" w="med" len="med"/>
                    </a:lnR>
                    <a:lnT w="12700" cap="flat" cmpd="sng" algn="ctr">
                      <a:solidFill>
                        <a:srgbClr val="5A7A9A"/>
                      </a:solidFill>
                      <a:prstDash val="solid"/>
                      <a:round/>
                      <a:headEnd type="none" w="med" len="med"/>
                      <a:tailEnd type="none" w="med" len="med"/>
                    </a:lnT>
                    <a:lnB w="12700" cap="flat" cmpd="sng" algn="ctr">
                      <a:solidFill>
                        <a:srgbClr val="5A7A9A"/>
                      </a:solidFill>
                      <a:prstDash val="solid"/>
                      <a:round/>
                      <a:headEnd type="none" w="med" len="med"/>
                      <a:tailEnd type="none" w="med" len="med"/>
                    </a:lnB>
                    <a:solidFill>
                      <a:srgbClr val="1A2F4A"/>
                    </a:solid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F1B2D"/>
        </a:solidFill>
        <a:effectLst/>
      </p:bgPr>
    </p:bg>
    <p:spTree>
      <p:nvGrpSpPr>
        <p:cNvPr id="1" name=""/>
        <p:cNvGrpSpPr/>
        <p:nvPr/>
      </p:nvGrpSpPr>
      <p:grpSpPr>
        <a:xfrm>
          <a:off x="0" y="0"/>
          <a:ext cx="0" cy="0"/>
          <a:chOff x="0" y="0"/>
          <a:chExt cx="0" cy="0"/>
        </a:xfrm>
      </p:grpSpPr>
      <p:sp>
        <p:nvSpPr>
          <p:cNvPr id="2" name="Text 0"/>
          <p:cNvSpPr/>
          <p:nvPr/>
        </p:nvSpPr>
        <p:spPr>
          <a:xfrm>
            <a:off x="457200" y="256032"/>
            <a:ext cx="8229600" cy="566928"/>
          </a:xfrm>
          <a:prstGeom prst="rect">
            <a:avLst/>
          </a:prstGeom>
          <a:noFill/>
          <a:ln/>
        </p:spPr>
        <p:txBody>
          <a:bodyPr wrap="square" rtlCol="0" anchor="ctr"/>
          <a:lstStyle/>
          <a:p>
            <a:pPr marL="0" indent="0">
              <a:buNone/>
            </a:pPr>
            <a:r>
              <a:rPr lang="en-US" sz="3200" b="1" dirty="0">
                <a:solidFill>
                  <a:srgbClr val="FFFFFF"/>
                </a:solidFill>
                <a:latin typeface="Cambria" pitchFamily="34" charset="0"/>
                <a:ea typeface="Cambria" pitchFamily="34" charset="-122"/>
                <a:cs typeface="Cambria" pitchFamily="34" charset="-120"/>
              </a:rPr>
              <a:t>Experimental Results</a:t>
            </a:r>
            <a:endParaRPr lang="en-US" sz="3200" dirty="0"/>
          </a:p>
        </p:txBody>
      </p:sp>
      <p:sp>
        <p:nvSpPr>
          <p:cNvPr id="3" name="Shape 1"/>
          <p:cNvSpPr/>
          <p:nvPr/>
        </p:nvSpPr>
        <p:spPr>
          <a:xfrm>
            <a:off x="457200" y="850392"/>
            <a:ext cx="8229600" cy="27432"/>
          </a:xfrm>
          <a:prstGeom prst="rect">
            <a:avLst/>
          </a:prstGeom>
          <a:solidFill>
            <a:srgbClr val="00C9A7"/>
          </a:solidFill>
          <a:ln/>
        </p:spPr>
      </p:sp>
      <p:sp>
        <p:nvSpPr>
          <p:cNvPr id="4" name="Shape 2"/>
          <p:cNvSpPr/>
          <p:nvPr/>
        </p:nvSpPr>
        <p:spPr>
          <a:xfrm>
            <a:off x="274320" y="987552"/>
            <a:ext cx="1920240" cy="914400"/>
          </a:xfrm>
          <a:prstGeom prst="roundRect">
            <a:avLst>
              <a:gd name="adj" fmla="val 9000"/>
            </a:avLst>
          </a:prstGeom>
          <a:solidFill>
            <a:srgbClr val="1A2F4A"/>
          </a:solidFill>
          <a:ln/>
          <a:effectLst>
            <a:outerShdw blurRad="101600" dist="38100" dir="2700000" algn="bl" rotWithShape="0">
              <a:srgbClr val="000000">
                <a:alpha val="25000"/>
              </a:srgbClr>
            </a:outerShdw>
          </a:effectLst>
        </p:spPr>
      </p:sp>
      <p:sp>
        <p:nvSpPr>
          <p:cNvPr id="5" name="Text 3"/>
          <p:cNvSpPr/>
          <p:nvPr/>
        </p:nvSpPr>
        <p:spPr>
          <a:xfrm>
            <a:off x="274320" y="1024128"/>
            <a:ext cx="1920240" cy="502920"/>
          </a:xfrm>
          <a:prstGeom prst="rect">
            <a:avLst/>
          </a:prstGeom>
          <a:noFill/>
          <a:ln/>
        </p:spPr>
        <p:txBody>
          <a:bodyPr wrap="square" rtlCol="0" anchor="ctr"/>
          <a:lstStyle/>
          <a:p>
            <a:pPr marL="0" indent="0" algn="ctr">
              <a:buNone/>
            </a:pPr>
            <a:r>
              <a:rPr lang="en-US" sz="2600" b="1" dirty="0">
                <a:solidFill>
                  <a:srgbClr val="00C9A7"/>
                </a:solidFill>
                <a:latin typeface="Cambria" pitchFamily="34" charset="0"/>
                <a:ea typeface="Cambria" pitchFamily="34" charset="-122"/>
                <a:cs typeface="Cambria" pitchFamily="34" charset="-120"/>
              </a:rPr>
              <a:t>91.4%</a:t>
            </a:r>
            <a:endParaRPr lang="en-US" sz="2600" dirty="0"/>
          </a:p>
        </p:txBody>
      </p:sp>
      <p:sp>
        <p:nvSpPr>
          <p:cNvPr id="6" name="Text 4"/>
          <p:cNvSpPr/>
          <p:nvPr/>
        </p:nvSpPr>
        <p:spPr>
          <a:xfrm>
            <a:off x="274320" y="1536192"/>
            <a:ext cx="1920240" cy="301752"/>
          </a:xfrm>
          <a:prstGeom prst="rect">
            <a:avLst/>
          </a:prstGeom>
          <a:noFill/>
          <a:ln/>
        </p:spPr>
        <p:txBody>
          <a:bodyPr wrap="square" rtlCol="0" anchor="ctr"/>
          <a:lstStyle/>
          <a:p>
            <a:pPr marL="0" indent="0" algn="ctr">
              <a:buNone/>
            </a:pPr>
            <a:r>
              <a:rPr lang="en-US" sz="1100" dirty="0">
                <a:solidFill>
                  <a:srgbClr val="B0C4DE"/>
                </a:solidFill>
                <a:latin typeface="Calibri" pitchFamily="34" charset="0"/>
                <a:ea typeface="Calibri" pitchFamily="34" charset="-122"/>
                <a:cs typeface="Calibri" pitchFamily="34" charset="-120"/>
              </a:rPr>
              <a:t>Test Accuracy</a:t>
            </a:r>
            <a:endParaRPr lang="en-US" sz="1100" dirty="0"/>
          </a:p>
        </p:txBody>
      </p:sp>
      <p:sp>
        <p:nvSpPr>
          <p:cNvPr id="7" name="Shape 5"/>
          <p:cNvSpPr/>
          <p:nvPr/>
        </p:nvSpPr>
        <p:spPr>
          <a:xfrm>
            <a:off x="2450592" y="987552"/>
            <a:ext cx="1920240" cy="914400"/>
          </a:xfrm>
          <a:prstGeom prst="roundRect">
            <a:avLst>
              <a:gd name="adj" fmla="val 9000"/>
            </a:avLst>
          </a:prstGeom>
          <a:solidFill>
            <a:srgbClr val="1A2F4A"/>
          </a:solidFill>
          <a:ln/>
          <a:effectLst>
            <a:outerShdw blurRad="101600" dist="38100" dir="2700000" algn="bl" rotWithShape="0">
              <a:srgbClr val="000000">
                <a:alpha val="25000"/>
              </a:srgbClr>
            </a:outerShdw>
          </a:effectLst>
        </p:spPr>
      </p:sp>
      <p:sp>
        <p:nvSpPr>
          <p:cNvPr id="8" name="Text 6"/>
          <p:cNvSpPr/>
          <p:nvPr/>
        </p:nvSpPr>
        <p:spPr>
          <a:xfrm>
            <a:off x="2450592" y="1024128"/>
            <a:ext cx="1920240" cy="502920"/>
          </a:xfrm>
          <a:prstGeom prst="rect">
            <a:avLst/>
          </a:prstGeom>
          <a:noFill/>
          <a:ln/>
        </p:spPr>
        <p:txBody>
          <a:bodyPr wrap="square" rtlCol="0" anchor="ctr"/>
          <a:lstStyle/>
          <a:p>
            <a:pPr marL="0" indent="0" algn="ctr">
              <a:buNone/>
            </a:pPr>
            <a:r>
              <a:rPr lang="en-US" sz="2600" b="1" dirty="0">
                <a:solidFill>
                  <a:srgbClr val="FFD93D"/>
                </a:solidFill>
                <a:latin typeface="Cambria" pitchFamily="34" charset="0"/>
                <a:ea typeface="Cambria" pitchFamily="34" charset="-122"/>
                <a:cs typeface="Cambria" pitchFamily="34" charset="-120"/>
              </a:rPr>
              <a:t>0.9573</a:t>
            </a:r>
            <a:endParaRPr lang="en-US" sz="2600" dirty="0"/>
          </a:p>
        </p:txBody>
      </p:sp>
      <p:sp>
        <p:nvSpPr>
          <p:cNvPr id="9" name="Text 7"/>
          <p:cNvSpPr/>
          <p:nvPr/>
        </p:nvSpPr>
        <p:spPr>
          <a:xfrm>
            <a:off x="2450592" y="1536192"/>
            <a:ext cx="1920240" cy="301752"/>
          </a:xfrm>
          <a:prstGeom prst="rect">
            <a:avLst/>
          </a:prstGeom>
          <a:noFill/>
          <a:ln/>
        </p:spPr>
        <p:txBody>
          <a:bodyPr wrap="square" rtlCol="0" anchor="ctr"/>
          <a:lstStyle/>
          <a:p>
            <a:pPr marL="0" indent="0" algn="ctr">
              <a:buNone/>
            </a:pPr>
            <a:r>
              <a:rPr lang="en-US" sz="1100" dirty="0">
                <a:solidFill>
                  <a:srgbClr val="B0C4DE"/>
                </a:solidFill>
                <a:latin typeface="Calibri" pitchFamily="34" charset="0"/>
                <a:ea typeface="Calibri" pitchFamily="34" charset="-122"/>
                <a:cs typeface="Calibri" pitchFamily="34" charset="-120"/>
              </a:rPr>
              <a:t>AUC Score</a:t>
            </a:r>
            <a:endParaRPr lang="en-US" sz="1100" dirty="0"/>
          </a:p>
        </p:txBody>
      </p:sp>
      <p:sp>
        <p:nvSpPr>
          <p:cNvPr id="10" name="Shape 8"/>
          <p:cNvSpPr/>
          <p:nvPr/>
        </p:nvSpPr>
        <p:spPr>
          <a:xfrm>
            <a:off x="4626864" y="987552"/>
            <a:ext cx="1920240" cy="914400"/>
          </a:xfrm>
          <a:prstGeom prst="roundRect">
            <a:avLst>
              <a:gd name="adj" fmla="val 9000"/>
            </a:avLst>
          </a:prstGeom>
          <a:solidFill>
            <a:srgbClr val="1A2F4A"/>
          </a:solidFill>
          <a:ln/>
          <a:effectLst>
            <a:outerShdw blurRad="101600" dist="38100" dir="2700000" algn="bl" rotWithShape="0">
              <a:srgbClr val="000000">
                <a:alpha val="25000"/>
              </a:srgbClr>
            </a:outerShdw>
          </a:effectLst>
        </p:spPr>
      </p:sp>
      <p:sp>
        <p:nvSpPr>
          <p:cNvPr id="11" name="Text 9"/>
          <p:cNvSpPr/>
          <p:nvPr/>
        </p:nvSpPr>
        <p:spPr>
          <a:xfrm>
            <a:off x="4626864" y="1024128"/>
            <a:ext cx="1920240" cy="502920"/>
          </a:xfrm>
          <a:prstGeom prst="rect">
            <a:avLst/>
          </a:prstGeom>
          <a:noFill/>
          <a:ln/>
        </p:spPr>
        <p:txBody>
          <a:bodyPr wrap="square" rtlCol="0" anchor="ctr"/>
          <a:lstStyle/>
          <a:p>
            <a:pPr marL="0" indent="0" algn="ctr">
              <a:buNone/>
            </a:pPr>
            <a:r>
              <a:rPr lang="en-US" sz="2600" b="1" dirty="0">
                <a:solidFill>
                  <a:srgbClr val="FF6B6B"/>
                </a:solidFill>
                <a:latin typeface="Cambria" pitchFamily="34" charset="0"/>
                <a:ea typeface="Cambria" pitchFamily="34" charset="-122"/>
                <a:cs typeface="Cambria" pitchFamily="34" charset="-120"/>
              </a:rPr>
              <a:t>0.91</a:t>
            </a:r>
            <a:endParaRPr lang="en-US" sz="2600" dirty="0"/>
          </a:p>
        </p:txBody>
      </p:sp>
      <p:sp>
        <p:nvSpPr>
          <p:cNvPr id="12" name="Text 10"/>
          <p:cNvSpPr/>
          <p:nvPr/>
        </p:nvSpPr>
        <p:spPr>
          <a:xfrm>
            <a:off x="4626864" y="1536192"/>
            <a:ext cx="1920240" cy="301752"/>
          </a:xfrm>
          <a:prstGeom prst="rect">
            <a:avLst/>
          </a:prstGeom>
          <a:noFill/>
          <a:ln/>
        </p:spPr>
        <p:txBody>
          <a:bodyPr wrap="square" rtlCol="0" anchor="ctr"/>
          <a:lstStyle/>
          <a:p>
            <a:pPr marL="0" indent="0" algn="ctr">
              <a:buNone/>
            </a:pPr>
            <a:r>
              <a:rPr lang="en-US" sz="1100" dirty="0">
                <a:solidFill>
                  <a:srgbClr val="B0C4DE"/>
                </a:solidFill>
                <a:latin typeface="Calibri" pitchFamily="34" charset="0"/>
                <a:ea typeface="Calibri" pitchFamily="34" charset="-122"/>
                <a:cs typeface="Calibri" pitchFamily="34" charset="-120"/>
              </a:rPr>
              <a:t>Precision (Fake)</a:t>
            </a:r>
            <a:endParaRPr lang="en-US" sz="1100" dirty="0"/>
          </a:p>
        </p:txBody>
      </p:sp>
      <p:sp>
        <p:nvSpPr>
          <p:cNvPr id="13" name="Shape 11"/>
          <p:cNvSpPr/>
          <p:nvPr/>
        </p:nvSpPr>
        <p:spPr>
          <a:xfrm>
            <a:off x="6803136" y="987552"/>
            <a:ext cx="1920240" cy="914400"/>
          </a:xfrm>
          <a:prstGeom prst="roundRect">
            <a:avLst>
              <a:gd name="adj" fmla="val 9000"/>
            </a:avLst>
          </a:prstGeom>
          <a:solidFill>
            <a:srgbClr val="1A2F4A"/>
          </a:solidFill>
          <a:ln/>
          <a:effectLst>
            <a:outerShdw blurRad="101600" dist="38100" dir="2700000" algn="bl" rotWithShape="0">
              <a:srgbClr val="000000">
                <a:alpha val="25000"/>
              </a:srgbClr>
            </a:outerShdw>
          </a:effectLst>
        </p:spPr>
      </p:sp>
      <p:sp>
        <p:nvSpPr>
          <p:cNvPr id="14" name="Text 12"/>
          <p:cNvSpPr/>
          <p:nvPr/>
        </p:nvSpPr>
        <p:spPr>
          <a:xfrm>
            <a:off x="6803136" y="1024128"/>
            <a:ext cx="1920240" cy="502920"/>
          </a:xfrm>
          <a:prstGeom prst="rect">
            <a:avLst/>
          </a:prstGeom>
          <a:noFill/>
          <a:ln/>
        </p:spPr>
        <p:txBody>
          <a:bodyPr wrap="square" rtlCol="0" anchor="ctr"/>
          <a:lstStyle/>
          <a:p>
            <a:pPr marL="0" indent="0" algn="ctr">
              <a:buNone/>
            </a:pPr>
            <a:r>
              <a:rPr lang="en-US" sz="2600" b="1" dirty="0">
                <a:solidFill>
                  <a:srgbClr val="7EC8E3"/>
                </a:solidFill>
                <a:latin typeface="Cambria" pitchFamily="34" charset="0"/>
                <a:ea typeface="Cambria" pitchFamily="34" charset="-122"/>
                <a:cs typeface="Cambria" pitchFamily="34" charset="-120"/>
              </a:rPr>
              <a:t>0.92</a:t>
            </a:r>
            <a:endParaRPr lang="en-US" sz="2600" dirty="0"/>
          </a:p>
        </p:txBody>
      </p:sp>
      <p:sp>
        <p:nvSpPr>
          <p:cNvPr id="15" name="Text 13"/>
          <p:cNvSpPr/>
          <p:nvPr/>
        </p:nvSpPr>
        <p:spPr>
          <a:xfrm>
            <a:off x="6803136" y="1536192"/>
            <a:ext cx="1920240" cy="301752"/>
          </a:xfrm>
          <a:prstGeom prst="rect">
            <a:avLst/>
          </a:prstGeom>
          <a:noFill/>
          <a:ln/>
        </p:spPr>
        <p:txBody>
          <a:bodyPr wrap="square" rtlCol="0" anchor="ctr"/>
          <a:lstStyle/>
          <a:p>
            <a:pPr marL="0" indent="0" algn="ctr">
              <a:buNone/>
            </a:pPr>
            <a:r>
              <a:rPr lang="en-US" sz="1100" dirty="0">
                <a:solidFill>
                  <a:srgbClr val="B0C4DE"/>
                </a:solidFill>
                <a:latin typeface="Calibri" pitchFamily="34" charset="0"/>
                <a:ea typeface="Calibri" pitchFamily="34" charset="-122"/>
                <a:cs typeface="Calibri" pitchFamily="34" charset="-120"/>
              </a:rPr>
              <a:t>Recall (Fake)</a:t>
            </a:r>
            <a:endParaRPr lang="en-US" sz="1100" dirty="0"/>
          </a:p>
        </p:txBody>
      </p:sp>
      <p:sp>
        <p:nvSpPr>
          <p:cNvPr id="16" name="Text 14"/>
          <p:cNvSpPr/>
          <p:nvPr/>
        </p:nvSpPr>
        <p:spPr>
          <a:xfrm>
            <a:off x="457200" y="2057400"/>
            <a:ext cx="3840480" cy="347472"/>
          </a:xfrm>
          <a:prstGeom prst="rect">
            <a:avLst/>
          </a:prstGeom>
          <a:noFill/>
          <a:ln/>
        </p:spPr>
        <p:txBody>
          <a:bodyPr wrap="square"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Confusion Matrix</a:t>
            </a:r>
            <a:endParaRPr lang="en-US" sz="13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457200" y="2468880"/>
          <a:ext cx="3840480" cy="1463040"/>
        </p:xfrm>
        <a:graphic>
          <a:graphicData uri="http://schemas.openxmlformats.org/drawingml/2006/table">
            <a:tbl>
              <a:tblPr/>
              <a:tblGrid>
                <a:gridCol w="1280160">
                  <a:extLst>
                    <a:ext uri="{9D8B030D-6E8A-4147-A177-3AD203B41FA5}">
                      <a16:colId xmlns:a16="http://schemas.microsoft.com/office/drawing/2014/main" val="20000"/>
                    </a:ext>
                  </a:extLst>
                </a:gridCol>
                <a:gridCol w="1280160">
                  <a:extLst>
                    <a:ext uri="{9D8B030D-6E8A-4147-A177-3AD203B41FA5}">
                      <a16:colId xmlns:a16="http://schemas.microsoft.com/office/drawing/2014/main" val="20001"/>
                    </a:ext>
                  </a:extLst>
                </a:gridCol>
                <a:gridCol w="1280160">
                  <a:extLst>
                    <a:ext uri="{9D8B030D-6E8A-4147-A177-3AD203B41FA5}">
                      <a16:colId xmlns:a16="http://schemas.microsoft.com/office/drawing/2014/main" val="20002"/>
                    </a:ext>
                  </a:extLst>
                </a:gridCol>
              </a:tblGrid>
              <a:tr h="487680">
                <a:tc>
                  <a:txBody>
                    <a:bodyPr/>
                    <a:lstStyle/>
                    <a:p>
                      <a:pPr marL="0" indent="0">
                        <a:buNone/>
                      </a:pPr>
                      <a:endParaRPr lang="en-US" sz="1200" dirty="0">
                        <a:latin typeface="Calibri" charset="0"/>
                        <a:ea typeface="Calibri" charset="0"/>
                        <a:cs typeface="Calibri" charset="0"/>
                      </a:endParaRPr>
                    </a:p>
                  </a:txBody>
                  <a:tcPr>
                    <a:lnL w="12700" cap="flat" cmpd="sng" algn="ctr">
                      <a:solidFill>
                        <a:srgbClr val="5A7A9A"/>
                      </a:solidFill>
                      <a:prstDash val="solid"/>
                      <a:round/>
                      <a:headEnd type="none" w="med" len="med"/>
                      <a:tailEnd type="none" w="med" len="med"/>
                    </a:lnL>
                    <a:lnR w="12700" cap="flat" cmpd="sng" algn="ctr">
                      <a:solidFill>
                        <a:srgbClr val="5A7A9A"/>
                      </a:solidFill>
                      <a:prstDash val="solid"/>
                      <a:round/>
                      <a:headEnd type="none" w="med" len="med"/>
                      <a:tailEnd type="none" w="med" len="med"/>
                    </a:lnR>
                    <a:lnT w="12700" cap="flat" cmpd="sng" algn="ctr">
                      <a:solidFill>
                        <a:srgbClr val="5A7A9A"/>
                      </a:solidFill>
                      <a:prstDash val="solid"/>
                      <a:round/>
                      <a:headEnd type="none" w="med" len="med"/>
                      <a:tailEnd type="none" w="med" len="med"/>
                    </a:lnT>
                    <a:lnB w="12700" cap="flat" cmpd="sng" algn="ctr">
                      <a:solidFill>
                        <a:srgbClr val="5A7A9A"/>
                      </a:solidFill>
                      <a:prstDash val="solid"/>
                      <a:round/>
                      <a:headEnd type="none" w="med" len="med"/>
                      <a:tailEnd type="none" w="med" len="med"/>
                    </a:lnB>
                    <a:solidFill>
                      <a:srgbClr val="0F1B2D"/>
                    </a:solidFill>
                  </a:tcPr>
                </a:tc>
                <a:tc>
                  <a:txBody>
                    <a:bodyPr/>
                    <a:lstStyle/>
                    <a:p>
                      <a:pPr marL="0" indent="0">
                        <a:buNone/>
                      </a:pPr>
                      <a:r>
                        <a:rPr lang="en-US" sz="1200" b="1" dirty="0">
                          <a:solidFill>
                            <a:srgbClr val="00C9A7"/>
                          </a:solidFill>
                          <a:latin typeface="Calibri" pitchFamily="34" charset="0"/>
                          <a:ea typeface="Calibri" pitchFamily="34" charset="-122"/>
                          <a:cs typeface="Calibri" pitchFamily="34" charset="-120"/>
                        </a:rPr>
                        <a:t>Pred: Fake</a:t>
                      </a:r>
                      <a:endParaRPr lang="en-US" sz="1200" dirty="0">
                        <a:latin typeface="Calibri" charset="0"/>
                        <a:ea typeface="Calibri" charset="0"/>
                        <a:cs typeface="Calibri" charset="0"/>
                      </a:endParaRPr>
                    </a:p>
                  </a:txBody>
                  <a:tcPr>
                    <a:lnL w="12700" cap="flat" cmpd="sng" algn="ctr">
                      <a:solidFill>
                        <a:srgbClr val="5A7A9A"/>
                      </a:solidFill>
                      <a:prstDash val="solid"/>
                      <a:round/>
                      <a:headEnd type="none" w="med" len="med"/>
                      <a:tailEnd type="none" w="med" len="med"/>
                    </a:lnL>
                    <a:lnR w="12700" cap="flat" cmpd="sng" algn="ctr">
                      <a:solidFill>
                        <a:srgbClr val="5A7A9A"/>
                      </a:solidFill>
                      <a:prstDash val="solid"/>
                      <a:round/>
                      <a:headEnd type="none" w="med" len="med"/>
                      <a:tailEnd type="none" w="med" len="med"/>
                    </a:lnR>
                    <a:lnT w="12700" cap="flat" cmpd="sng" algn="ctr">
                      <a:solidFill>
                        <a:srgbClr val="5A7A9A"/>
                      </a:solidFill>
                      <a:prstDash val="solid"/>
                      <a:round/>
                      <a:headEnd type="none" w="med" len="med"/>
                      <a:tailEnd type="none" w="med" len="med"/>
                    </a:lnT>
                    <a:lnB w="12700" cap="flat" cmpd="sng" algn="ctr">
                      <a:solidFill>
                        <a:srgbClr val="5A7A9A"/>
                      </a:solidFill>
                      <a:prstDash val="solid"/>
                      <a:round/>
                      <a:headEnd type="none" w="med" len="med"/>
                      <a:tailEnd type="none" w="med" len="med"/>
                    </a:lnB>
                    <a:solidFill>
                      <a:srgbClr val="1E3A5F"/>
                    </a:solidFill>
                  </a:tcPr>
                </a:tc>
                <a:tc>
                  <a:txBody>
                    <a:bodyPr/>
                    <a:lstStyle/>
                    <a:p>
                      <a:pPr marL="0" indent="0">
                        <a:buNone/>
                      </a:pPr>
                      <a:r>
                        <a:rPr lang="en-US" sz="1200" b="1" dirty="0">
                          <a:solidFill>
                            <a:srgbClr val="00C9A7"/>
                          </a:solidFill>
                          <a:latin typeface="Calibri" pitchFamily="34" charset="0"/>
                          <a:ea typeface="Calibri" pitchFamily="34" charset="-122"/>
                          <a:cs typeface="Calibri" pitchFamily="34" charset="-120"/>
                        </a:rPr>
                        <a:t>Pred: Real</a:t>
                      </a:r>
                      <a:endParaRPr lang="en-US" sz="1200" dirty="0">
                        <a:latin typeface="Calibri" charset="0"/>
                        <a:ea typeface="Calibri" charset="0"/>
                        <a:cs typeface="Calibri" charset="0"/>
                      </a:endParaRPr>
                    </a:p>
                  </a:txBody>
                  <a:tcPr>
                    <a:lnL w="12700" cap="flat" cmpd="sng" algn="ctr">
                      <a:solidFill>
                        <a:srgbClr val="5A7A9A"/>
                      </a:solidFill>
                      <a:prstDash val="solid"/>
                      <a:round/>
                      <a:headEnd type="none" w="med" len="med"/>
                      <a:tailEnd type="none" w="med" len="med"/>
                    </a:lnL>
                    <a:lnR w="12700" cap="flat" cmpd="sng" algn="ctr">
                      <a:solidFill>
                        <a:srgbClr val="5A7A9A"/>
                      </a:solidFill>
                      <a:prstDash val="solid"/>
                      <a:round/>
                      <a:headEnd type="none" w="med" len="med"/>
                      <a:tailEnd type="none" w="med" len="med"/>
                    </a:lnR>
                    <a:lnT w="12700" cap="flat" cmpd="sng" algn="ctr">
                      <a:solidFill>
                        <a:srgbClr val="5A7A9A"/>
                      </a:solidFill>
                      <a:prstDash val="solid"/>
                      <a:round/>
                      <a:headEnd type="none" w="med" len="med"/>
                      <a:tailEnd type="none" w="med" len="med"/>
                    </a:lnT>
                    <a:lnB w="12700" cap="flat" cmpd="sng" algn="ctr">
                      <a:solidFill>
                        <a:srgbClr val="5A7A9A"/>
                      </a:solidFill>
                      <a:prstDash val="solid"/>
                      <a:round/>
                      <a:headEnd type="none" w="med" len="med"/>
                      <a:tailEnd type="none" w="med" len="med"/>
                    </a:lnB>
                    <a:solidFill>
                      <a:srgbClr val="1E3A5F"/>
                    </a:solidFill>
                  </a:tcPr>
                </a:tc>
                <a:extLst>
                  <a:ext uri="{0D108BD9-81ED-4DB2-BD59-A6C34878D82A}">
                    <a16:rowId xmlns:a16="http://schemas.microsoft.com/office/drawing/2014/main" val="10000"/>
                  </a:ext>
                </a:extLst>
              </a:tr>
              <a:tr h="487680">
                <a:tc>
                  <a:txBody>
                    <a:bodyPr/>
                    <a:lstStyle/>
                    <a:p>
                      <a:pPr marL="0" indent="0">
                        <a:buNone/>
                      </a:pPr>
                      <a:r>
                        <a:rPr lang="en-US" sz="1200" b="1" dirty="0">
                          <a:solidFill>
                            <a:srgbClr val="00C9A7"/>
                          </a:solidFill>
                          <a:latin typeface="Calibri" pitchFamily="34" charset="0"/>
                          <a:ea typeface="Calibri" pitchFamily="34" charset="-122"/>
                          <a:cs typeface="Calibri" pitchFamily="34" charset="-120"/>
                        </a:rPr>
                        <a:t>Actual: Fake</a:t>
                      </a:r>
                      <a:endParaRPr lang="en-US" sz="1200" dirty="0">
                        <a:latin typeface="Calibri" charset="0"/>
                        <a:ea typeface="Calibri" charset="0"/>
                        <a:cs typeface="Calibri" charset="0"/>
                      </a:endParaRPr>
                    </a:p>
                  </a:txBody>
                  <a:tcPr>
                    <a:lnL w="12700" cap="flat" cmpd="sng" algn="ctr">
                      <a:solidFill>
                        <a:srgbClr val="5A7A9A"/>
                      </a:solidFill>
                      <a:prstDash val="solid"/>
                      <a:round/>
                      <a:headEnd type="none" w="med" len="med"/>
                      <a:tailEnd type="none" w="med" len="med"/>
                    </a:lnL>
                    <a:lnR w="12700" cap="flat" cmpd="sng" algn="ctr">
                      <a:solidFill>
                        <a:srgbClr val="5A7A9A"/>
                      </a:solidFill>
                      <a:prstDash val="solid"/>
                      <a:round/>
                      <a:headEnd type="none" w="med" len="med"/>
                      <a:tailEnd type="none" w="med" len="med"/>
                    </a:lnR>
                    <a:lnT w="12700" cap="flat" cmpd="sng" algn="ctr">
                      <a:solidFill>
                        <a:srgbClr val="5A7A9A"/>
                      </a:solidFill>
                      <a:prstDash val="solid"/>
                      <a:round/>
                      <a:headEnd type="none" w="med" len="med"/>
                      <a:tailEnd type="none" w="med" len="med"/>
                    </a:lnT>
                    <a:lnB w="12700" cap="flat" cmpd="sng" algn="ctr">
                      <a:solidFill>
                        <a:srgbClr val="5A7A9A"/>
                      </a:solidFill>
                      <a:prstDash val="solid"/>
                      <a:round/>
                      <a:headEnd type="none" w="med" len="med"/>
                      <a:tailEnd type="none" w="med" len="med"/>
                    </a:lnB>
                    <a:solidFill>
                      <a:srgbClr val="1E3A5F"/>
                    </a:solidFill>
                  </a:tcPr>
                </a:tc>
                <a:tc>
                  <a:txBody>
                    <a:bodyPr/>
                    <a:lstStyle/>
                    <a:p>
                      <a:pPr marL="0" indent="0">
                        <a:buNone/>
                      </a:pPr>
                      <a:r>
                        <a:rPr lang="en-US" sz="1200" b="1" dirty="0">
                          <a:solidFill>
                            <a:srgbClr val="00C9A7"/>
                          </a:solidFill>
                          <a:latin typeface="Calibri" pitchFamily="34" charset="0"/>
                          <a:ea typeface="Calibri" pitchFamily="34" charset="-122"/>
                          <a:cs typeface="Calibri" pitchFamily="34" charset="-120"/>
                        </a:rPr>
                        <a:t>TP ≈ 92%</a:t>
                      </a:r>
                      <a:endParaRPr lang="en-US" sz="1200" dirty="0">
                        <a:latin typeface="Calibri" charset="0"/>
                        <a:ea typeface="Calibri" charset="0"/>
                        <a:cs typeface="Calibri" charset="0"/>
                      </a:endParaRPr>
                    </a:p>
                  </a:txBody>
                  <a:tcPr>
                    <a:lnL w="12700" cap="flat" cmpd="sng" algn="ctr">
                      <a:solidFill>
                        <a:srgbClr val="5A7A9A"/>
                      </a:solidFill>
                      <a:prstDash val="solid"/>
                      <a:round/>
                      <a:headEnd type="none" w="med" len="med"/>
                      <a:tailEnd type="none" w="med" len="med"/>
                    </a:lnL>
                    <a:lnR w="12700" cap="flat" cmpd="sng" algn="ctr">
                      <a:solidFill>
                        <a:srgbClr val="5A7A9A"/>
                      </a:solidFill>
                      <a:prstDash val="solid"/>
                      <a:round/>
                      <a:headEnd type="none" w="med" len="med"/>
                      <a:tailEnd type="none" w="med" len="med"/>
                    </a:lnR>
                    <a:lnT w="12700" cap="flat" cmpd="sng" algn="ctr">
                      <a:solidFill>
                        <a:srgbClr val="5A7A9A"/>
                      </a:solidFill>
                      <a:prstDash val="solid"/>
                      <a:round/>
                      <a:headEnd type="none" w="med" len="med"/>
                      <a:tailEnd type="none" w="med" len="med"/>
                    </a:lnT>
                    <a:lnB w="12700" cap="flat" cmpd="sng" algn="ctr">
                      <a:solidFill>
                        <a:srgbClr val="5A7A9A"/>
                      </a:solidFill>
                      <a:prstDash val="solid"/>
                      <a:round/>
                      <a:headEnd type="none" w="med" len="med"/>
                      <a:tailEnd type="none" w="med" len="med"/>
                    </a:lnB>
                    <a:solidFill>
                      <a:srgbClr val="0A3D2C"/>
                    </a:solidFill>
                  </a:tcPr>
                </a:tc>
                <a:tc>
                  <a:txBody>
                    <a:bodyPr/>
                    <a:lstStyle/>
                    <a:p>
                      <a:pPr marL="0" indent="0">
                        <a:buNone/>
                      </a:pPr>
                      <a:r>
                        <a:rPr lang="en-US" sz="1200" dirty="0">
                          <a:solidFill>
                            <a:srgbClr val="FF6B6B"/>
                          </a:solidFill>
                          <a:latin typeface="Calibri" pitchFamily="34" charset="0"/>
                          <a:ea typeface="Calibri" pitchFamily="34" charset="-122"/>
                          <a:cs typeface="Calibri" pitchFamily="34" charset="-120"/>
                        </a:rPr>
                        <a:t>FN ≈ 8%</a:t>
                      </a:r>
                      <a:endParaRPr lang="en-US" sz="1200" dirty="0">
                        <a:latin typeface="Calibri" charset="0"/>
                        <a:ea typeface="Calibri" charset="0"/>
                        <a:cs typeface="Calibri" charset="0"/>
                      </a:endParaRPr>
                    </a:p>
                  </a:txBody>
                  <a:tcPr>
                    <a:lnL w="12700" cap="flat" cmpd="sng" algn="ctr">
                      <a:solidFill>
                        <a:srgbClr val="5A7A9A"/>
                      </a:solidFill>
                      <a:prstDash val="solid"/>
                      <a:round/>
                      <a:headEnd type="none" w="med" len="med"/>
                      <a:tailEnd type="none" w="med" len="med"/>
                    </a:lnL>
                    <a:lnR w="12700" cap="flat" cmpd="sng" algn="ctr">
                      <a:solidFill>
                        <a:srgbClr val="5A7A9A"/>
                      </a:solidFill>
                      <a:prstDash val="solid"/>
                      <a:round/>
                      <a:headEnd type="none" w="med" len="med"/>
                      <a:tailEnd type="none" w="med" len="med"/>
                    </a:lnR>
                    <a:lnT w="12700" cap="flat" cmpd="sng" algn="ctr">
                      <a:solidFill>
                        <a:srgbClr val="5A7A9A"/>
                      </a:solidFill>
                      <a:prstDash val="solid"/>
                      <a:round/>
                      <a:headEnd type="none" w="med" len="med"/>
                      <a:tailEnd type="none" w="med" len="med"/>
                    </a:lnT>
                    <a:lnB w="12700" cap="flat" cmpd="sng" algn="ctr">
                      <a:solidFill>
                        <a:srgbClr val="5A7A9A"/>
                      </a:solidFill>
                      <a:prstDash val="solid"/>
                      <a:round/>
                      <a:headEnd type="none" w="med" len="med"/>
                      <a:tailEnd type="none" w="med" len="med"/>
                    </a:lnB>
                    <a:solidFill>
                      <a:srgbClr val="3D0A0A"/>
                    </a:solidFill>
                  </a:tcPr>
                </a:tc>
                <a:extLst>
                  <a:ext uri="{0D108BD9-81ED-4DB2-BD59-A6C34878D82A}">
                    <a16:rowId xmlns:a16="http://schemas.microsoft.com/office/drawing/2014/main" val="10001"/>
                  </a:ext>
                </a:extLst>
              </a:tr>
              <a:tr h="487680">
                <a:tc>
                  <a:txBody>
                    <a:bodyPr/>
                    <a:lstStyle/>
                    <a:p>
                      <a:pPr marL="0" indent="0">
                        <a:buNone/>
                      </a:pPr>
                      <a:r>
                        <a:rPr lang="en-US" sz="1200" b="1" dirty="0">
                          <a:solidFill>
                            <a:srgbClr val="00C9A7"/>
                          </a:solidFill>
                          <a:latin typeface="Calibri" pitchFamily="34" charset="0"/>
                          <a:ea typeface="Calibri" pitchFamily="34" charset="-122"/>
                          <a:cs typeface="Calibri" pitchFamily="34" charset="-120"/>
                        </a:rPr>
                        <a:t>Actual: Real</a:t>
                      </a:r>
                      <a:endParaRPr lang="en-US" sz="1200" dirty="0">
                        <a:latin typeface="Calibri" charset="0"/>
                        <a:ea typeface="Calibri" charset="0"/>
                        <a:cs typeface="Calibri" charset="0"/>
                      </a:endParaRPr>
                    </a:p>
                  </a:txBody>
                  <a:tcPr>
                    <a:lnL w="12700" cap="flat" cmpd="sng" algn="ctr">
                      <a:solidFill>
                        <a:srgbClr val="5A7A9A"/>
                      </a:solidFill>
                      <a:prstDash val="solid"/>
                      <a:round/>
                      <a:headEnd type="none" w="med" len="med"/>
                      <a:tailEnd type="none" w="med" len="med"/>
                    </a:lnL>
                    <a:lnR w="12700" cap="flat" cmpd="sng" algn="ctr">
                      <a:solidFill>
                        <a:srgbClr val="5A7A9A"/>
                      </a:solidFill>
                      <a:prstDash val="solid"/>
                      <a:round/>
                      <a:headEnd type="none" w="med" len="med"/>
                      <a:tailEnd type="none" w="med" len="med"/>
                    </a:lnR>
                    <a:lnT w="12700" cap="flat" cmpd="sng" algn="ctr">
                      <a:solidFill>
                        <a:srgbClr val="5A7A9A"/>
                      </a:solidFill>
                      <a:prstDash val="solid"/>
                      <a:round/>
                      <a:headEnd type="none" w="med" len="med"/>
                      <a:tailEnd type="none" w="med" len="med"/>
                    </a:lnT>
                    <a:lnB w="12700" cap="flat" cmpd="sng" algn="ctr">
                      <a:solidFill>
                        <a:srgbClr val="5A7A9A"/>
                      </a:solidFill>
                      <a:prstDash val="solid"/>
                      <a:round/>
                      <a:headEnd type="none" w="med" len="med"/>
                      <a:tailEnd type="none" w="med" len="med"/>
                    </a:lnB>
                    <a:solidFill>
                      <a:srgbClr val="1E3A5F"/>
                    </a:solidFill>
                  </a:tcPr>
                </a:tc>
                <a:tc>
                  <a:txBody>
                    <a:bodyPr/>
                    <a:lstStyle/>
                    <a:p>
                      <a:pPr marL="0" indent="0">
                        <a:buNone/>
                      </a:pPr>
                      <a:r>
                        <a:rPr lang="en-US" sz="1200" dirty="0">
                          <a:solidFill>
                            <a:srgbClr val="FF6B6B"/>
                          </a:solidFill>
                          <a:latin typeface="Calibri" pitchFamily="34" charset="0"/>
                          <a:ea typeface="Calibri" pitchFamily="34" charset="-122"/>
                          <a:cs typeface="Calibri" pitchFamily="34" charset="-120"/>
                        </a:rPr>
                        <a:t>FP ≈ 9%</a:t>
                      </a:r>
                      <a:endParaRPr lang="en-US" sz="1200" dirty="0">
                        <a:latin typeface="Calibri" charset="0"/>
                        <a:ea typeface="Calibri" charset="0"/>
                        <a:cs typeface="Calibri" charset="0"/>
                      </a:endParaRPr>
                    </a:p>
                  </a:txBody>
                  <a:tcPr>
                    <a:lnL w="12700" cap="flat" cmpd="sng" algn="ctr">
                      <a:solidFill>
                        <a:srgbClr val="5A7A9A"/>
                      </a:solidFill>
                      <a:prstDash val="solid"/>
                      <a:round/>
                      <a:headEnd type="none" w="med" len="med"/>
                      <a:tailEnd type="none" w="med" len="med"/>
                    </a:lnL>
                    <a:lnR w="12700" cap="flat" cmpd="sng" algn="ctr">
                      <a:solidFill>
                        <a:srgbClr val="5A7A9A"/>
                      </a:solidFill>
                      <a:prstDash val="solid"/>
                      <a:round/>
                      <a:headEnd type="none" w="med" len="med"/>
                      <a:tailEnd type="none" w="med" len="med"/>
                    </a:lnR>
                    <a:lnT w="12700" cap="flat" cmpd="sng" algn="ctr">
                      <a:solidFill>
                        <a:srgbClr val="5A7A9A"/>
                      </a:solidFill>
                      <a:prstDash val="solid"/>
                      <a:round/>
                      <a:headEnd type="none" w="med" len="med"/>
                      <a:tailEnd type="none" w="med" len="med"/>
                    </a:lnT>
                    <a:lnB w="12700" cap="flat" cmpd="sng" algn="ctr">
                      <a:solidFill>
                        <a:srgbClr val="5A7A9A"/>
                      </a:solidFill>
                      <a:prstDash val="solid"/>
                      <a:round/>
                      <a:headEnd type="none" w="med" len="med"/>
                      <a:tailEnd type="none" w="med" len="med"/>
                    </a:lnB>
                    <a:solidFill>
                      <a:srgbClr val="3D0A0A"/>
                    </a:solidFill>
                  </a:tcPr>
                </a:tc>
                <a:tc>
                  <a:txBody>
                    <a:bodyPr/>
                    <a:lstStyle/>
                    <a:p>
                      <a:pPr marL="0" indent="0">
                        <a:buNone/>
                      </a:pPr>
                      <a:r>
                        <a:rPr lang="en-US" sz="1200" b="1" dirty="0">
                          <a:solidFill>
                            <a:srgbClr val="00C9A7"/>
                          </a:solidFill>
                          <a:latin typeface="Calibri" pitchFamily="34" charset="0"/>
                          <a:ea typeface="Calibri" pitchFamily="34" charset="-122"/>
                          <a:cs typeface="Calibri" pitchFamily="34" charset="-120"/>
                        </a:rPr>
                        <a:t>TN ≈ 91%</a:t>
                      </a:r>
                      <a:endParaRPr lang="en-US" sz="1200" dirty="0">
                        <a:latin typeface="Calibri" charset="0"/>
                        <a:ea typeface="Calibri" charset="0"/>
                        <a:cs typeface="Calibri" charset="0"/>
                      </a:endParaRPr>
                    </a:p>
                  </a:txBody>
                  <a:tcPr>
                    <a:lnL w="12700" cap="flat" cmpd="sng" algn="ctr">
                      <a:solidFill>
                        <a:srgbClr val="5A7A9A"/>
                      </a:solidFill>
                      <a:prstDash val="solid"/>
                      <a:round/>
                      <a:headEnd type="none" w="med" len="med"/>
                      <a:tailEnd type="none" w="med" len="med"/>
                    </a:lnL>
                    <a:lnR w="12700" cap="flat" cmpd="sng" algn="ctr">
                      <a:solidFill>
                        <a:srgbClr val="5A7A9A"/>
                      </a:solidFill>
                      <a:prstDash val="solid"/>
                      <a:round/>
                      <a:headEnd type="none" w="med" len="med"/>
                      <a:tailEnd type="none" w="med" len="med"/>
                    </a:lnR>
                    <a:lnT w="12700" cap="flat" cmpd="sng" algn="ctr">
                      <a:solidFill>
                        <a:srgbClr val="5A7A9A"/>
                      </a:solidFill>
                      <a:prstDash val="solid"/>
                      <a:round/>
                      <a:headEnd type="none" w="med" len="med"/>
                      <a:tailEnd type="none" w="med" len="med"/>
                    </a:lnT>
                    <a:lnB w="12700" cap="flat" cmpd="sng" algn="ctr">
                      <a:solidFill>
                        <a:srgbClr val="5A7A9A"/>
                      </a:solidFill>
                      <a:prstDash val="solid"/>
                      <a:round/>
                      <a:headEnd type="none" w="med" len="med"/>
                      <a:tailEnd type="none" w="med" len="med"/>
                    </a:lnB>
                    <a:solidFill>
                      <a:srgbClr val="0A3D2C"/>
                    </a:solidFill>
                  </a:tcPr>
                </a:tc>
                <a:extLst>
                  <a:ext uri="{0D108BD9-81ED-4DB2-BD59-A6C34878D82A}">
                    <a16:rowId xmlns:a16="http://schemas.microsoft.com/office/drawing/2014/main" val="10002"/>
                  </a:ext>
                </a:extLst>
              </a:tr>
            </a:tbl>
          </a:graphicData>
        </a:graphic>
      </p:graphicFrame>
      <p:sp>
        <p:nvSpPr>
          <p:cNvPr id="18" name="Text 15"/>
          <p:cNvSpPr/>
          <p:nvPr/>
        </p:nvSpPr>
        <p:spPr>
          <a:xfrm>
            <a:off x="4526280" y="2057400"/>
            <a:ext cx="4160520" cy="347472"/>
          </a:xfrm>
          <a:prstGeom prst="rect">
            <a:avLst/>
          </a:prstGeom>
          <a:noFill/>
          <a:ln/>
        </p:spPr>
        <p:txBody>
          <a:bodyPr wrap="square"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Classification Report</a:t>
            </a:r>
            <a:endParaRPr lang="en-US" sz="1300" dirty="0"/>
          </a:p>
        </p:txBody>
      </p:sp>
      <p:graphicFrame>
        <p:nvGraphicFramePr>
          <p:cNvPr id="19" name="Table 1"/>
          <p:cNvGraphicFramePr>
            <a:graphicFrameLocks noGrp="1"/>
          </p:cNvGraphicFramePr>
          <p:nvPr>
            <p:extLst>
              <p:ext uri="{D42A27DB-BD31-4B8C-83A1-F6EECF244321}">
                <p14:modId xmlns:p14="http://schemas.microsoft.com/office/powerpoint/2010/main" val="1579011935"/>
              </p:ext>
            </p:extLst>
          </p:nvPr>
        </p:nvGraphicFramePr>
        <p:xfrm>
          <a:off x="4526280" y="2468880"/>
          <a:ext cx="4160520" cy="1463040"/>
        </p:xfrm>
        <a:graphic>
          <a:graphicData uri="http://schemas.openxmlformats.org/drawingml/2006/table">
            <a:tbl>
              <a:tblPr/>
              <a:tblGrid>
                <a:gridCol w="1280160">
                  <a:extLst>
                    <a:ext uri="{9D8B030D-6E8A-4147-A177-3AD203B41FA5}">
                      <a16:colId xmlns:a16="http://schemas.microsoft.com/office/drawing/2014/main" val="20000"/>
                    </a:ext>
                  </a:extLst>
                </a:gridCol>
                <a:gridCol w="960120">
                  <a:extLst>
                    <a:ext uri="{9D8B030D-6E8A-4147-A177-3AD203B41FA5}">
                      <a16:colId xmlns:a16="http://schemas.microsoft.com/office/drawing/2014/main" val="20001"/>
                    </a:ext>
                  </a:extLst>
                </a:gridCol>
                <a:gridCol w="960120">
                  <a:extLst>
                    <a:ext uri="{9D8B030D-6E8A-4147-A177-3AD203B41FA5}">
                      <a16:colId xmlns:a16="http://schemas.microsoft.com/office/drawing/2014/main" val="20002"/>
                    </a:ext>
                  </a:extLst>
                </a:gridCol>
                <a:gridCol w="960120">
                  <a:extLst>
                    <a:ext uri="{9D8B030D-6E8A-4147-A177-3AD203B41FA5}">
                      <a16:colId xmlns:a16="http://schemas.microsoft.com/office/drawing/2014/main" val="20003"/>
                    </a:ext>
                  </a:extLst>
                </a:gridCol>
              </a:tblGrid>
              <a:tr h="365760">
                <a:tc>
                  <a:txBody>
                    <a:bodyPr/>
                    <a:lstStyle/>
                    <a:p>
                      <a:pPr marL="0" indent="0">
                        <a:buNone/>
                      </a:pPr>
                      <a:r>
                        <a:rPr lang="en-US" sz="1200" b="1" dirty="0">
                          <a:solidFill>
                            <a:srgbClr val="00C9A7"/>
                          </a:solidFill>
                          <a:latin typeface="Calibri" pitchFamily="34" charset="0"/>
                          <a:ea typeface="Calibri" pitchFamily="34" charset="-122"/>
                          <a:cs typeface="Calibri" pitchFamily="34" charset="-120"/>
                        </a:rPr>
                        <a:t>Class</a:t>
                      </a:r>
                      <a:endParaRPr lang="en-US" sz="1200" dirty="0">
                        <a:latin typeface="Calibri" charset="0"/>
                        <a:ea typeface="Calibri" charset="0"/>
                        <a:cs typeface="Calibri" charset="0"/>
                      </a:endParaRPr>
                    </a:p>
                  </a:txBody>
                  <a:tcPr>
                    <a:lnL w="12700" cap="flat" cmpd="sng" algn="ctr">
                      <a:solidFill>
                        <a:srgbClr val="5A7A9A"/>
                      </a:solidFill>
                      <a:prstDash val="solid"/>
                      <a:round/>
                      <a:headEnd type="none" w="med" len="med"/>
                      <a:tailEnd type="none" w="med" len="med"/>
                    </a:lnL>
                    <a:lnR w="12700" cap="flat" cmpd="sng" algn="ctr">
                      <a:solidFill>
                        <a:srgbClr val="5A7A9A"/>
                      </a:solidFill>
                      <a:prstDash val="solid"/>
                      <a:round/>
                      <a:headEnd type="none" w="med" len="med"/>
                      <a:tailEnd type="none" w="med" len="med"/>
                    </a:lnR>
                    <a:lnT w="12700" cap="flat" cmpd="sng" algn="ctr">
                      <a:solidFill>
                        <a:srgbClr val="5A7A9A"/>
                      </a:solidFill>
                      <a:prstDash val="solid"/>
                      <a:round/>
                      <a:headEnd type="none" w="med" len="med"/>
                      <a:tailEnd type="none" w="med" len="med"/>
                    </a:lnT>
                    <a:lnB w="12700" cap="flat" cmpd="sng" algn="ctr">
                      <a:solidFill>
                        <a:srgbClr val="5A7A9A"/>
                      </a:solidFill>
                      <a:prstDash val="solid"/>
                      <a:round/>
                      <a:headEnd type="none" w="med" len="med"/>
                      <a:tailEnd type="none" w="med" len="med"/>
                    </a:lnB>
                    <a:solidFill>
                      <a:srgbClr val="1E3A5F"/>
                    </a:solidFill>
                  </a:tcPr>
                </a:tc>
                <a:tc>
                  <a:txBody>
                    <a:bodyPr/>
                    <a:lstStyle/>
                    <a:p>
                      <a:pPr marL="0" indent="0">
                        <a:buNone/>
                      </a:pPr>
                      <a:r>
                        <a:rPr lang="en-US" sz="1200" b="1" dirty="0">
                          <a:solidFill>
                            <a:srgbClr val="00C9A7"/>
                          </a:solidFill>
                          <a:latin typeface="Calibri" pitchFamily="34" charset="0"/>
                          <a:ea typeface="Calibri" pitchFamily="34" charset="-122"/>
                          <a:cs typeface="Calibri" pitchFamily="34" charset="-120"/>
                        </a:rPr>
                        <a:t>Precision</a:t>
                      </a:r>
                      <a:endParaRPr lang="en-US" sz="1200" dirty="0">
                        <a:latin typeface="Calibri" charset="0"/>
                        <a:ea typeface="Calibri" charset="0"/>
                        <a:cs typeface="Calibri" charset="0"/>
                      </a:endParaRPr>
                    </a:p>
                  </a:txBody>
                  <a:tcPr>
                    <a:lnL w="12700" cap="flat" cmpd="sng" algn="ctr">
                      <a:solidFill>
                        <a:srgbClr val="5A7A9A"/>
                      </a:solidFill>
                      <a:prstDash val="solid"/>
                      <a:round/>
                      <a:headEnd type="none" w="med" len="med"/>
                      <a:tailEnd type="none" w="med" len="med"/>
                    </a:lnL>
                    <a:lnR w="12700" cap="flat" cmpd="sng" algn="ctr">
                      <a:solidFill>
                        <a:srgbClr val="5A7A9A"/>
                      </a:solidFill>
                      <a:prstDash val="solid"/>
                      <a:round/>
                      <a:headEnd type="none" w="med" len="med"/>
                      <a:tailEnd type="none" w="med" len="med"/>
                    </a:lnR>
                    <a:lnT w="12700" cap="flat" cmpd="sng" algn="ctr">
                      <a:solidFill>
                        <a:srgbClr val="5A7A9A"/>
                      </a:solidFill>
                      <a:prstDash val="solid"/>
                      <a:round/>
                      <a:headEnd type="none" w="med" len="med"/>
                      <a:tailEnd type="none" w="med" len="med"/>
                    </a:lnT>
                    <a:lnB w="12700" cap="flat" cmpd="sng" algn="ctr">
                      <a:solidFill>
                        <a:srgbClr val="5A7A9A"/>
                      </a:solidFill>
                      <a:prstDash val="solid"/>
                      <a:round/>
                      <a:headEnd type="none" w="med" len="med"/>
                      <a:tailEnd type="none" w="med" len="med"/>
                    </a:lnB>
                    <a:solidFill>
                      <a:srgbClr val="1E3A5F"/>
                    </a:solidFill>
                  </a:tcPr>
                </a:tc>
                <a:tc>
                  <a:txBody>
                    <a:bodyPr/>
                    <a:lstStyle/>
                    <a:p>
                      <a:pPr marL="0" indent="0">
                        <a:buNone/>
                      </a:pPr>
                      <a:r>
                        <a:rPr lang="en-US" sz="1200" b="1" dirty="0">
                          <a:solidFill>
                            <a:srgbClr val="00C9A7"/>
                          </a:solidFill>
                          <a:latin typeface="Calibri" pitchFamily="34" charset="0"/>
                          <a:ea typeface="Calibri" pitchFamily="34" charset="-122"/>
                          <a:cs typeface="Calibri" pitchFamily="34" charset="-120"/>
                        </a:rPr>
                        <a:t>Recall</a:t>
                      </a:r>
                      <a:endParaRPr lang="en-US" sz="1200" dirty="0">
                        <a:latin typeface="Calibri" charset="0"/>
                        <a:ea typeface="Calibri" charset="0"/>
                        <a:cs typeface="Calibri" charset="0"/>
                      </a:endParaRPr>
                    </a:p>
                  </a:txBody>
                  <a:tcPr>
                    <a:lnL w="12700" cap="flat" cmpd="sng" algn="ctr">
                      <a:solidFill>
                        <a:srgbClr val="5A7A9A"/>
                      </a:solidFill>
                      <a:prstDash val="solid"/>
                      <a:round/>
                      <a:headEnd type="none" w="med" len="med"/>
                      <a:tailEnd type="none" w="med" len="med"/>
                    </a:lnL>
                    <a:lnR w="12700" cap="flat" cmpd="sng" algn="ctr">
                      <a:solidFill>
                        <a:srgbClr val="5A7A9A"/>
                      </a:solidFill>
                      <a:prstDash val="solid"/>
                      <a:round/>
                      <a:headEnd type="none" w="med" len="med"/>
                      <a:tailEnd type="none" w="med" len="med"/>
                    </a:lnR>
                    <a:lnT w="12700" cap="flat" cmpd="sng" algn="ctr">
                      <a:solidFill>
                        <a:srgbClr val="5A7A9A"/>
                      </a:solidFill>
                      <a:prstDash val="solid"/>
                      <a:round/>
                      <a:headEnd type="none" w="med" len="med"/>
                      <a:tailEnd type="none" w="med" len="med"/>
                    </a:lnT>
                    <a:lnB w="12700" cap="flat" cmpd="sng" algn="ctr">
                      <a:solidFill>
                        <a:srgbClr val="5A7A9A"/>
                      </a:solidFill>
                      <a:prstDash val="solid"/>
                      <a:round/>
                      <a:headEnd type="none" w="med" len="med"/>
                      <a:tailEnd type="none" w="med" len="med"/>
                    </a:lnB>
                    <a:solidFill>
                      <a:srgbClr val="1E3A5F"/>
                    </a:solidFill>
                  </a:tcPr>
                </a:tc>
                <a:tc>
                  <a:txBody>
                    <a:bodyPr/>
                    <a:lstStyle/>
                    <a:p>
                      <a:pPr marL="0" indent="0">
                        <a:buNone/>
                      </a:pPr>
                      <a:r>
                        <a:rPr lang="en-US" sz="1200" b="1" dirty="0">
                          <a:solidFill>
                            <a:srgbClr val="00C9A7"/>
                          </a:solidFill>
                          <a:latin typeface="Calibri" pitchFamily="34" charset="0"/>
                          <a:ea typeface="Calibri" pitchFamily="34" charset="-122"/>
                          <a:cs typeface="Calibri" pitchFamily="34" charset="-120"/>
                        </a:rPr>
                        <a:t>F1-Score</a:t>
                      </a:r>
                      <a:endParaRPr lang="en-US" sz="1200" dirty="0">
                        <a:latin typeface="Calibri" charset="0"/>
                        <a:ea typeface="Calibri" charset="0"/>
                        <a:cs typeface="Calibri" charset="0"/>
                      </a:endParaRPr>
                    </a:p>
                  </a:txBody>
                  <a:tcPr>
                    <a:lnL w="12700" cap="flat" cmpd="sng" algn="ctr">
                      <a:solidFill>
                        <a:srgbClr val="5A7A9A"/>
                      </a:solidFill>
                      <a:prstDash val="solid"/>
                      <a:round/>
                      <a:headEnd type="none" w="med" len="med"/>
                      <a:tailEnd type="none" w="med" len="med"/>
                    </a:lnL>
                    <a:lnR w="12700" cap="flat" cmpd="sng" algn="ctr">
                      <a:solidFill>
                        <a:srgbClr val="5A7A9A"/>
                      </a:solidFill>
                      <a:prstDash val="solid"/>
                      <a:round/>
                      <a:headEnd type="none" w="med" len="med"/>
                      <a:tailEnd type="none" w="med" len="med"/>
                    </a:lnR>
                    <a:lnT w="12700" cap="flat" cmpd="sng" algn="ctr">
                      <a:solidFill>
                        <a:srgbClr val="5A7A9A"/>
                      </a:solidFill>
                      <a:prstDash val="solid"/>
                      <a:round/>
                      <a:headEnd type="none" w="med" len="med"/>
                      <a:tailEnd type="none" w="med" len="med"/>
                    </a:lnT>
                    <a:lnB w="12700" cap="flat" cmpd="sng" algn="ctr">
                      <a:solidFill>
                        <a:srgbClr val="5A7A9A"/>
                      </a:solidFill>
                      <a:prstDash val="solid"/>
                      <a:round/>
                      <a:headEnd type="none" w="med" len="med"/>
                      <a:tailEnd type="none" w="med" len="med"/>
                    </a:lnB>
                    <a:solidFill>
                      <a:srgbClr val="1E3A5F"/>
                    </a:solidFill>
                  </a:tcPr>
                </a:tc>
                <a:extLst>
                  <a:ext uri="{0D108BD9-81ED-4DB2-BD59-A6C34878D82A}">
                    <a16:rowId xmlns:a16="http://schemas.microsoft.com/office/drawing/2014/main" val="10000"/>
                  </a:ext>
                </a:extLst>
              </a:tr>
              <a:tr h="365760">
                <a:tc>
                  <a:txBody>
                    <a:bodyPr/>
                    <a:lstStyle/>
                    <a:p>
                      <a:pPr marL="0" indent="0">
                        <a:buNone/>
                      </a:pPr>
                      <a:r>
                        <a:rPr lang="en-US" sz="1200" dirty="0">
                          <a:solidFill>
                            <a:srgbClr val="B0C4DE"/>
                          </a:solidFill>
                          <a:latin typeface="Calibri" pitchFamily="34" charset="0"/>
                          <a:ea typeface="Calibri" pitchFamily="34" charset="-122"/>
                          <a:cs typeface="Calibri" pitchFamily="34" charset="-120"/>
                        </a:rPr>
                        <a:t>Fake</a:t>
                      </a:r>
                      <a:endParaRPr lang="en-US" sz="1200" dirty="0">
                        <a:latin typeface="Calibri" charset="0"/>
                        <a:ea typeface="Calibri" charset="0"/>
                        <a:cs typeface="Calibri" charset="0"/>
                      </a:endParaRPr>
                    </a:p>
                  </a:txBody>
                  <a:tcPr>
                    <a:lnL w="12700" cap="flat" cmpd="sng" algn="ctr">
                      <a:solidFill>
                        <a:srgbClr val="5A7A9A"/>
                      </a:solidFill>
                      <a:prstDash val="solid"/>
                      <a:round/>
                      <a:headEnd type="none" w="med" len="med"/>
                      <a:tailEnd type="none" w="med" len="med"/>
                    </a:lnL>
                    <a:lnR w="12700" cap="flat" cmpd="sng" algn="ctr">
                      <a:solidFill>
                        <a:srgbClr val="5A7A9A"/>
                      </a:solidFill>
                      <a:prstDash val="solid"/>
                      <a:round/>
                      <a:headEnd type="none" w="med" len="med"/>
                      <a:tailEnd type="none" w="med" len="med"/>
                    </a:lnR>
                    <a:lnT w="12700" cap="flat" cmpd="sng" algn="ctr">
                      <a:solidFill>
                        <a:srgbClr val="5A7A9A"/>
                      </a:solidFill>
                      <a:prstDash val="solid"/>
                      <a:round/>
                      <a:headEnd type="none" w="med" len="med"/>
                      <a:tailEnd type="none" w="med" len="med"/>
                    </a:lnT>
                    <a:lnB w="12700" cap="flat" cmpd="sng" algn="ctr">
                      <a:solidFill>
                        <a:srgbClr val="5A7A9A"/>
                      </a:solidFill>
                      <a:prstDash val="solid"/>
                      <a:round/>
                      <a:headEnd type="none" w="med" len="med"/>
                      <a:tailEnd type="none" w="med" len="med"/>
                    </a:lnB>
                    <a:solidFill>
                      <a:srgbClr val="1A2F4A"/>
                    </a:solidFill>
                  </a:tcPr>
                </a:tc>
                <a:tc>
                  <a:txBody>
                    <a:bodyPr/>
                    <a:lstStyle/>
                    <a:p>
                      <a:pPr marL="0" indent="0">
                        <a:buNone/>
                      </a:pPr>
                      <a:r>
                        <a:rPr lang="en-US" sz="1200" dirty="0">
                          <a:solidFill>
                            <a:srgbClr val="B0C4DE"/>
                          </a:solidFill>
                          <a:latin typeface="Calibri" pitchFamily="34" charset="0"/>
                          <a:ea typeface="Calibri" pitchFamily="34" charset="-122"/>
                          <a:cs typeface="Calibri" pitchFamily="34" charset="-120"/>
                        </a:rPr>
                        <a:t>0.91</a:t>
                      </a:r>
                      <a:endParaRPr lang="en-US" sz="1200" dirty="0">
                        <a:latin typeface="Calibri" charset="0"/>
                        <a:ea typeface="Calibri" charset="0"/>
                        <a:cs typeface="Calibri" charset="0"/>
                      </a:endParaRPr>
                    </a:p>
                  </a:txBody>
                  <a:tcPr>
                    <a:lnL w="12700" cap="flat" cmpd="sng" algn="ctr">
                      <a:solidFill>
                        <a:srgbClr val="5A7A9A"/>
                      </a:solidFill>
                      <a:prstDash val="solid"/>
                      <a:round/>
                      <a:headEnd type="none" w="med" len="med"/>
                      <a:tailEnd type="none" w="med" len="med"/>
                    </a:lnL>
                    <a:lnR w="12700" cap="flat" cmpd="sng" algn="ctr">
                      <a:solidFill>
                        <a:srgbClr val="5A7A9A"/>
                      </a:solidFill>
                      <a:prstDash val="solid"/>
                      <a:round/>
                      <a:headEnd type="none" w="med" len="med"/>
                      <a:tailEnd type="none" w="med" len="med"/>
                    </a:lnR>
                    <a:lnT w="12700" cap="flat" cmpd="sng" algn="ctr">
                      <a:solidFill>
                        <a:srgbClr val="5A7A9A"/>
                      </a:solidFill>
                      <a:prstDash val="solid"/>
                      <a:round/>
                      <a:headEnd type="none" w="med" len="med"/>
                      <a:tailEnd type="none" w="med" len="med"/>
                    </a:lnT>
                    <a:lnB w="12700" cap="flat" cmpd="sng" algn="ctr">
                      <a:solidFill>
                        <a:srgbClr val="5A7A9A"/>
                      </a:solidFill>
                      <a:prstDash val="solid"/>
                      <a:round/>
                      <a:headEnd type="none" w="med" len="med"/>
                      <a:tailEnd type="none" w="med" len="med"/>
                    </a:lnB>
                    <a:solidFill>
                      <a:srgbClr val="1A2F4A"/>
                    </a:solidFill>
                  </a:tcPr>
                </a:tc>
                <a:tc>
                  <a:txBody>
                    <a:bodyPr/>
                    <a:lstStyle/>
                    <a:p>
                      <a:pPr marL="0" indent="0">
                        <a:buNone/>
                      </a:pPr>
                      <a:r>
                        <a:rPr lang="en-US" sz="1200" dirty="0">
                          <a:solidFill>
                            <a:srgbClr val="B0C4DE"/>
                          </a:solidFill>
                          <a:latin typeface="Calibri" pitchFamily="34" charset="0"/>
                          <a:ea typeface="Calibri" pitchFamily="34" charset="-122"/>
                          <a:cs typeface="Calibri" pitchFamily="34" charset="-120"/>
                        </a:rPr>
                        <a:t>0.92</a:t>
                      </a:r>
                      <a:endParaRPr lang="en-US" sz="1200" dirty="0">
                        <a:latin typeface="Calibri" charset="0"/>
                        <a:ea typeface="Calibri" charset="0"/>
                        <a:cs typeface="Calibri" charset="0"/>
                      </a:endParaRPr>
                    </a:p>
                  </a:txBody>
                  <a:tcPr>
                    <a:lnL w="12700" cap="flat" cmpd="sng" algn="ctr">
                      <a:solidFill>
                        <a:srgbClr val="5A7A9A"/>
                      </a:solidFill>
                      <a:prstDash val="solid"/>
                      <a:round/>
                      <a:headEnd type="none" w="med" len="med"/>
                      <a:tailEnd type="none" w="med" len="med"/>
                    </a:lnL>
                    <a:lnR w="12700" cap="flat" cmpd="sng" algn="ctr">
                      <a:solidFill>
                        <a:srgbClr val="5A7A9A"/>
                      </a:solidFill>
                      <a:prstDash val="solid"/>
                      <a:round/>
                      <a:headEnd type="none" w="med" len="med"/>
                      <a:tailEnd type="none" w="med" len="med"/>
                    </a:lnR>
                    <a:lnT w="12700" cap="flat" cmpd="sng" algn="ctr">
                      <a:solidFill>
                        <a:srgbClr val="5A7A9A"/>
                      </a:solidFill>
                      <a:prstDash val="solid"/>
                      <a:round/>
                      <a:headEnd type="none" w="med" len="med"/>
                      <a:tailEnd type="none" w="med" len="med"/>
                    </a:lnT>
                    <a:lnB w="12700" cap="flat" cmpd="sng" algn="ctr">
                      <a:solidFill>
                        <a:srgbClr val="5A7A9A"/>
                      </a:solidFill>
                      <a:prstDash val="solid"/>
                      <a:round/>
                      <a:headEnd type="none" w="med" len="med"/>
                      <a:tailEnd type="none" w="med" len="med"/>
                    </a:lnB>
                    <a:solidFill>
                      <a:srgbClr val="1A2F4A"/>
                    </a:solidFill>
                  </a:tcPr>
                </a:tc>
                <a:tc>
                  <a:txBody>
                    <a:bodyPr/>
                    <a:lstStyle/>
                    <a:p>
                      <a:pPr marL="0" indent="0">
                        <a:buNone/>
                      </a:pPr>
                      <a:r>
                        <a:rPr lang="en-US" sz="1200" dirty="0">
                          <a:solidFill>
                            <a:srgbClr val="B0C4DE"/>
                          </a:solidFill>
                          <a:latin typeface="Calibri" pitchFamily="34" charset="0"/>
                          <a:ea typeface="Calibri" pitchFamily="34" charset="-122"/>
                          <a:cs typeface="Calibri" pitchFamily="34" charset="-120"/>
                        </a:rPr>
                        <a:t>0.91</a:t>
                      </a:r>
                      <a:endParaRPr lang="en-US" sz="1200" dirty="0">
                        <a:latin typeface="Calibri" charset="0"/>
                        <a:ea typeface="Calibri" charset="0"/>
                        <a:cs typeface="Calibri" charset="0"/>
                      </a:endParaRPr>
                    </a:p>
                  </a:txBody>
                  <a:tcPr>
                    <a:lnL w="12700" cap="flat" cmpd="sng" algn="ctr">
                      <a:solidFill>
                        <a:srgbClr val="5A7A9A"/>
                      </a:solidFill>
                      <a:prstDash val="solid"/>
                      <a:round/>
                      <a:headEnd type="none" w="med" len="med"/>
                      <a:tailEnd type="none" w="med" len="med"/>
                    </a:lnL>
                    <a:lnR w="12700" cap="flat" cmpd="sng" algn="ctr">
                      <a:solidFill>
                        <a:srgbClr val="5A7A9A"/>
                      </a:solidFill>
                      <a:prstDash val="solid"/>
                      <a:round/>
                      <a:headEnd type="none" w="med" len="med"/>
                      <a:tailEnd type="none" w="med" len="med"/>
                    </a:lnR>
                    <a:lnT w="12700" cap="flat" cmpd="sng" algn="ctr">
                      <a:solidFill>
                        <a:srgbClr val="5A7A9A"/>
                      </a:solidFill>
                      <a:prstDash val="solid"/>
                      <a:round/>
                      <a:headEnd type="none" w="med" len="med"/>
                      <a:tailEnd type="none" w="med" len="med"/>
                    </a:lnT>
                    <a:lnB w="12700" cap="flat" cmpd="sng" algn="ctr">
                      <a:solidFill>
                        <a:srgbClr val="5A7A9A"/>
                      </a:solidFill>
                      <a:prstDash val="solid"/>
                      <a:round/>
                      <a:headEnd type="none" w="med" len="med"/>
                      <a:tailEnd type="none" w="med" len="med"/>
                    </a:lnB>
                    <a:solidFill>
                      <a:srgbClr val="1A2F4A"/>
                    </a:solidFill>
                  </a:tcPr>
                </a:tc>
                <a:extLst>
                  <a:ext uri="{0D108BD9-81ED-4DB2-BD59-A6C34878D82A}">
                    <a16:rowId xmlns:a16="http://schemas.microsoft.com/office/drawing/2014/main" val="10001"/>
                  </a:ext>
                </a:extLst>
              </a:tr>
              <a:tr h="365760">
                <a:tc>
                  <a:txBody>
                    <a:bodyPr/>
                    <a:lstStyle/>
                    <a:p>
                      <a:pPr marL="0" indent="0">
                        <a:buNone/>
                      </a:pPr>
                      <a:r>
                        <a:rPr lang="en-US" sz="1200" dirty="0">
                          <a:solidFill>
                            <a:srgbClr val="B0C4DE"/>
                          </a:solidFill>
                          <a:latin typeface="Calibri" pitchFamily="34" charset="0"/>
                          <a:ea typeface="Calibri" pitchFamily="34" charset="-122"/>
                          <a:cs typeface="Calibri" pitchFamily="34" charset="-120"/>
                        </a:rPr>
                        <a:t>Real</a:t>
                      </a:r>
                      <a:endParaRPr lang="en-US" sz="1200" dirty="0">
                        <a:latin typeface="Calibri" charset="0"/>
                        <a:ea typeface="Calibri" charset="0"/>
                        <a:cs typeface="Calibri" charset="0"/>
                      </a:endParaRPr>
                    </a:p>
                  </a:txBody>
                  <a:tcPr>
                    <a:lnL w="12700" cap="flat" cmpd="sng" algn="ctr">
                      <a:solidFill>
                        <a:srgbClr val="5A7A9A"/>
                      </a:solidFill>
                      <a:prstDash val="solid"/>
                      <a:round/>
                      <a:headEnd type="none" w="med" len="med"/>
                      <a:tailEnd type="none" w="med" len="med"/>
                    </a:lnL>
                    <a:lnR w="12700" cap="flat" cmpd="sng" algn="ctr">
                      <a:solidFill>
                        <a:srgbClr val="5A7A9A"/>
                      </a:solidFill>
                      <a:prstDash val="solid"/>
                      <a:round/>
                      <a:headEnd type="none" w="med" len="med"/>
                      <a:tailEnd type="none" w="med" len="med"/>
                    </a:lnR>
                    <a:lnT w="12700" cap="flat" cmpd="sng" algn="ctr">
                      <a:solidFill>
                        <a:srgbClr val="5A7A9A"/>
                      </a:solidFill>
                      <a:prstDash val="solid"/>
                      <a:round/>
                      <a:headEnd type="none" w="med" len="med"/>
                      <a:tailEnd type="none" w="med" len="med"/>
                    </a:lnT>
                    <a:lnB w="12700" cap="flat" cmpd="sng" algn="ctr">
                      <a:solidFill>
                        <a:srgbClr val="5A7A9A"/>
                      </a:solidFill>
                      <a:prstDash val="solid"/>
                      <a:round/>
                      <a:headEnd type="none" w="med" len="med"/>
                      <a:tailEnd type="none" w="med" len="med"/>
                    </a:lnB>
                    <a:solidFill>
                      <a:srgbClr val="162638"/>
                    </a:solidFill>
                  </a:tcPr>
                </a:tc>
                <a:tc>
                  <a:txBody>
                    <a:bodyPr/>
                    <a:lstStyle/>
                    <a:p>
                      <a:pPr marL="0" indent="0">
                        <a:buNone/>
                      </a:pPr>
                      <a:r>
                        <a:rPr lang="en-US" sz="1200" dirty="0">
                          <a:solidFill>
                            <a:srgbClr val="B0C4DE"/>
                          </a:solidFill>
                          <a:latin typeface="Calibri" pitchFamily="34" charset="0"/>
                          <a:ea typeface="Calibri" pitchFamily="34" charset="-122"/>
                          <a:cs typeface="Calibri" pitchFamily="34" charset="-120"/>
                        </a:rPr>
                        <a:t>0.92</a:t>
                      </a:r>
                      <a:endParaRPr lang="en-US" sz="1200" dirty="0">
                        <a:latin typeface="Calibri" charset="0"/>
                        <a:ea typeface="Calibri" charset="0"/>
                        <a:cs typeface="Calibri" charset="0"/>
                      </a:endParaRPr>
                    </a:p>
                  </a:txBody>
                  <a:tcPr>
                    <a:lnL w="12700" cap="flat" cmpd="sng" algn="ctr">
                      <a:solidFill>
                        <a:srgbClr val="5A7A9A"/>
                      </a:solidFill>
                      <a:prstDash val="solid"/>
                      <a:round/>
                      <a:headEnd type="none" w="med" len="med"/>
                      <a:tailEnd type="none" w="med" len="med"/>
                    </a:lnL>
                    <a:lnR w="12700" cap="flat" cmpd="sng" algn="ctr">
                      <a:solidFill>
                        <a:srgbClr val="5A7A9A"/>
                      </a:solidFill>
                      <a:prstDash val="solid"/>
                      <a:round/>
                      <a:headEnd type="none" w="med" len="med"/>
                      <a:tailEnd type="none" w="med" len="med"/>
                    </a:lnR>
                    <a:lnT w="12700" cap="flat" cmpd="sng" algn="ctr">
                      <a:solidFill>
                        <a:srgbClr val="5A7A9A"/>
                      </a:solidFill>
                      <a:prstDash val="solid"/>
                      <a:round/>
                      <a:headEnd type="none" w="med" len="med"/>
                      <a:tailEnd type="none" w="med" len="med"/>
                    </a:lnT>
                    <a:lnB w="12700" cap="flat" cmpd="sng" algn="ctr">
                      <a:solidFill>
                        <a:srgbClr val="5A7A9A"/>
                      </a:solidFill>
                      <a:prstDash val="solid"/>
                      <a:round/>
                      <a:headEnd type="none" w="med" len="med"/>
                      <a:tailEnd type="none" w="med" len="med"/>
                    </a:lnB>
                    <a:solidFill>
                      <a:srgbClr val="162638"/>
                    </a:solidFill>
                  </a:tcPr>
                </a:tc>
                <a:tc>
                  <a:txBody>
                    <a:bodyPr/>
                    <a:lstStyle/>
                    <a:p>
                      <a:pPr marL="0" indent="0">
                        <a:buNone/>
                      </a:pPr>
                      <a:r>
                        <a:rPr lang="en-US" sz="1200" dirty="0">
                          <a:solidFill>
                            <a:srgbClr val="B0C4DE"/>
                          </a:solidFill>
                          <a:latin typeface="Calibri" pitchFamily="34" charset="0"/>
                          <a:ea typeface="Calibri" pitchFamily="34" charset="-122"/>
                          <a:cs typeface="Calibri" pitchFamily="34" charset="-120"/>
                        </a:rPr>
                        <a:t>0.91</a:t>
                      </a:r>
                      <a:endParaRPr lang="en-US" sz="1200" dirty="0">
                        <a:latin typeface="Calibri" charset="0"/>
                        <a:ea typeface="Calibri" charset="0"/>
                        <a:cs typeface="Calibri" charset="0"/>
                      </a:endParaRPr>
                    </a:p>
                  </a:txBody>
                  <a:tcPr>
                    <a:lnL w="12700" cap="flat" cmpd="sng" algn="ctr">
                      <a:solidFill>
                        <a:srgbClr val="5A7A9A"/>
                      </a:solidFill>
                      <a:prstDash val="solid"/>
                      <a:round/>
                      <a:headEnd type="none" w="med" len="med"/>
                      <a:tailEnd type="none" w="med" len="med"/>
                    </a:lnL>
                    <a:lnR w="12700" cap="flat" cmpd="sng" algn="ctr">
                      <a:solidFill>
                        <a:srgbClr val="5A7A9A"/>
                      </a:solidFill>
                      <a:prstDash val="solid"/>
                      <a:round/>
                      <a:headEnd type="none" w="med" len="med"/>
                      <a:tailEnd type="none" w="med" len="med"/>
                    </a:lnR>
                    <a:lnT w="12700" cap="flat" cmpd="sng" algn="ctr">
                      <a:solidFill>
                        <a:srgbClr val="5A7A9A"/>
                      </a:solidFill>
                      <a:prstDash val="solid"/>
                      <a:round/>
                      <a:headEnd type="none" w="med" len="med"/>
                      <a:tailEnd type="none" w="med" len="med"/>
                    </a:lnT>
                    <a:lnB w="12700" cap="flat" cmpd="sng" algn="ctr">
                      <a:solidFill>
                        <a:srgbClr val="5A7A9A"/>
                      </a:solidFill>
                      <a:prstDash val="solid"/>
                      <a:round/>
                      <a:headEnd type="none" w="med" len="med"/>
                      <a:tailEnd type="none" w="med" len="med"/>
                    </a:lnB>
                    <a:solidFill>
                      <a:srgbClr val="162638"/>
                    </a:solidFill>
                  </a:tcPr>
                </a:tc>
                <a:tc>
                  <a:txBody>
                    <a:bodyPr/>
                    <a:lstStyle/>
                    <a:p>
                      <a:pPr marL="0" indent="0">
                        <a:buNone/>
                      </a:pPr>
                      <a:r>
                        <a:rPr lang="en-US" sz="1200" dirty="0">
                          <a:solidFill>
                            <a:srgbClr val="B0C4DE"/>
                          </a:solidFill>
                          <a:latin typeface="Calibri" pitchFamily="34" charset="0"/>
                          <a:ea typeface="Calibri" pitchFamily="34" charset="-122"/>
                          <a:cs typeface="Calibri" pitchFamily="34" charset="-120"/>
                        </a:rPr>
                        <a:t>0.91</a:t>
                      </a:r>
                      <a:endParaRPr lang="en-US" sz="1200" dirty="0">
                        <a:latin typeface="Calibri" charset="0"/>
                        <a:ea typeface="Calibri" charset="0"/>
                        <a:cs typeface="Calibri" charset="0"/>
                      </a:endParaRPr>
                    </a:p>
                  </a:txBody>
                  <a:tcPr>
                    <a:lnL w="12700" cap="flat" cmpd="sng" algn="ctr">
                      <a:solidFill>
                        <a:srgbClr val="5A7A9A"/>
                      </a:solidFill>
                      <a:prstDash val="solid"/>
                      <a:round/>
                      <a:headEnd type="none" w="med" len="med"/>
                      <a:tailEnd type="none" w="med" len="med"/>
                    </a:lnL>
                    <a:lnR w="12700" cap="flat" cmpd="sng" algn="ctr">
                      <a:solidFill>
                        <a:srgbClr val="5A7A9A"/>
                      </a:solidFill>
                      <a:prstDash val="solid"/>
                      <a:round/>
                      <a:headEnd type="none" w="med" len="med"/>
                      <a:tailEnd type="none" w="med" len="med"/>
                    </a:lnR>
                    <a:lnT w="12700" cap="flat" cmpd="sng" algn="ctr">
                      <a:solidFill>
                        <a:srgbClr val="5A7A9A"/>
                      </a:solidFill>
                      <a:prstDash val="solid"/>
                      <a:round/>
                      <a:headEnd type="none" w="med" len="med"/>
                      <a:tailEnd type="none" w="med" len="med"/>
                    </a:lnT>
                    <a:lnB w="12700" cap="flat" cmpd="sng" algn="ctr">
                      <a:solidFill>
                        <a:srgbClr val="5A7A9A"/>
                      </a:solidFill>
                      <a:prstDash val="solid"/>
                      <a:round/>
                      <a:headEnd type="none" w="med" len="med"/>
                      <a:tailEnd type="none" w="med" len="med"/>
                    </a:lnB>
                    <a:solidFill>
                      <a:srgbClr val="162638"/>
                    </a:solidFill>
                  </a:tcPr>
                </a:tc>
                <a:extLst>
                  <a:ext uri="{0D108BD9-81ED-4DB2-BD59-A6C34878D82A}">
                    <a16:rowId xmlns:a16="http://schemas.microsoft.com/office/drawing/2014/main" val="10002"/>
                  </a:ext>
                </a:extLst>
              </a:tr>
              <a:tr h="365760">
                <a:tc>
                  <a:txBody>
                    <a:bodyPr/>
                    <a:lstStyle/>
                    <a:p>
                      <a:pPr marL="0" indent="0">
                        <a:buNone/>
                      </a:pPr>
                      <a:r>
                        <a:rPr lang="en-US" sz="1200" b="1" dirty="0">
                          <a:solidFill>
                            <a:srgbClr val="FFD93D"/>
                          </a:solidFill>
                          <a:latin typeface="Calibri" pitchFamily="34" charset="0"/>
                          <a:ea typeface="Calibri" pitchFamily="34" charset="-122"/>
                          <a:cs typeface="Calibri" pitchFamily="34" charset="-120"/>
                        </a:rPr>
                        <a:t>Weighted Avg</a:t>
                      </a:r>
                      <a:endParaRPr lang="en-US" sz="1200" dirty="0">
                        <a:latin typeface="Calibri" charset="0"/>
                        <a:ea typeface="Calibri" charset="0"/>
                        <a:cs typeface="Calibri" charset="0"/>
                      </a:endParaRPr>
                    </a:p>
                  </a:txBody>
                  <a:tcPr>
                    <a:lnL w="12700" cap="flat" cmpd="sng" algn="ctr">
                      <a:solidFill>
                        <a:srgbClr val="5A7A9A"/>
                      </a:solidFill>
                      <a:prstDash val="solid"/>
                      <a:round/>
                      <a:headEnd type="none" w="med" len="med"/>
                      <a:tailEnd type="none" w="med" len="med"/>
                    </a:lnL>
                    <a:lnR w="12700" cap="flat" cmpd="sng" algn="ctr">
                      <a:solidFill>
                        <a:srgbClr val="5A7A9A"/>
                      </a:solidFill>
                      <a:prstDash val="solid"/>
                      <a:round/>
                      <a:headEnd type="none" w="med" len="med"/>
                      <a:tailEnd type="none" w="med" len="med"/>
                    </a:lnR>
                    <a:lnT w="12700" cap="flat" cmpd="sng" algn="ctr">
                      <a:solidFill>
                        <a:srgbClr val="5A7A9A"/>
                      </a:solidFill>
                      <a:prstDash val="solid"/>
                      <a:round/>
                      <a:headEnd type="none" w="med" len="med"/>
                      <a:tailEnd type="none" w="med" len="med"/>
                    </a:lnT>
                    <a:lnB w="12700" cap="flat" cmpd="sng" algn="ctr">
                      <a:solidFill>
                        <a:srgbClr val="5A7A9A"/>
                      </a:solidFill>
                      <a:prstDash val="solid"/>
                      <a:round/>
                      <a:headEnd type="none" w="med" len="med"/>
                      <a:tailEnd type="none" w="med" len="med"/>
                    </a:lnB>
                    <a:solidFill>
                      <a:srgbClr val="1E3A5F"/>
                    </a:solidFill>
                  </a:tcPr>
                </a:tc>
                <a:tc>
                  <a:txBody>
                    <a:bodyPr/>
                    <a:lstStyle/>
                    <a:p>
                      <a:pPr marL="0" indent="0">
                        <a:buNone/>
                      </a:pPr>
                      <a:r>
                        <a:rPr lang="en-US" sz="1200" b="1" dirty="0">
                          <a:solidFill>
                            <a:srgbClr val="FFD93D"/>
                          </a:solidFill>
                          <a:latin typeface="Calibri" pitchFamily="34" charset="0"/>
                          <a:ea typeface="Calibri" pitchFamily="34" charset="-122"/>
                          <a:cs typeface="Calibri" pitchFamily="34" charset="-120"/>
                        </a:rPr>
                        <a:t>0.91</a:t>
                      </a:r>
                      <a:endParaRPr lang="en-US" sz="1200" dirty="0">
                        <a:latin typeface="Calibri" charset="0"/>
                        <a:ea typeface="Calibri" charset="0"/>
                        <a:cs typeface="Calibri" charset="0"/>
                      </a:endParaRPr>
                    </a:p>
                  </a:txBody>
                  <a:tcPr>
                    <a:lnL w="12700" cap="flat" cmpd="sng" algn="ctr">
                      <a:solidFill>
                        <a:srgbClr val="5A7A9A"/>
                      </a:solidFill>
                      <a:prstDash val="solid"/>
                      <a:round/>
                      <a:headEnd type="none" w="med" len="med"/>
                      <a:tailEnd type="none" w="med" len="med"/>
                    </a:lnL>
                    <a:lnR w="12700" cap="flat" cmpd="sng" algn="ctr">
                      <a:solidFill>
                        <a:srgbClr val="5A7A9A"/>
                      </a:solidFill>
                      <a:prstDash val="solid"/>
                      <a:round/>
                      <a:headEnd type="none" w="med" len="med"/>
                      <a:tailEnd type="none" w="med" len="med"/>
                    </a:lnR>
                    <a:lnT w="12700" cap="flat" cmpd="sng" algn="ctr">
                      <a:solidFill>
                        <a:srgbClr val="5A7A9A"/>
                      </a:solidFill>
                      <a:prstDash val="solid"/>
                      <a:round/>
                      <a:headEnd type="none" w="med" len="med"/>
                      <a:tailEnd type="none" w="med" len="med"/>
                    </a:lnT>
                    <a:lnB w="12700" cap="flat" cmpd="sng" algn="ctr">
                      <a:solidFill>
                        <a:srgbClr val="5A7A9A"/>
                      </a:solidFill>
                      <a:prstDash val="solid"/>
                      <a:round/>
                      <a:headEnd type="none" w="med" len="med"/>
                      <a:tailEnd type="none" w="med" len="med"/>
                    </a:lnB>
                    <a:solidFill>
                      <a:srgbClr val="1E3A5F"/>
                    </a:solidFill>
                  </a:tcPr>
                </a:tc>
                <a:tc>
                  <a:txBody>
                    <a:bodyPr/>
                    <a:lstStyle/>
                    <a:p>
                      <a:pPr marL="0" indent="0">
                        <a:buNone/>
                      </a:pPr>
                      <a:r>
                        <a:rPr lang="en-US" sz="1200" b="1" dirty="0">
                          <a:solidFill>
                            <a:srgbClr val="FFD93D"/>
                          </a:solidFill>
                          <a:latin typeface="Calibri" pitchFamily="34" charset="0"/>
                          <a:ea typeface="Calibri" pitchFamily="34" charset="-122"/>
                          <a:cs typeface="Calibri" pitchFamily="34" charset="-120"/>
                        </a:rPr>
                        <a:t>0.91</a:t>
                      </a:r>
                      <a:endParaRPr lang="en-US" sz="1200" dirty="0">
                        <a:latin typeface="Calibri" charset="0"/>
                        <a:ea typeface="Calibri" charset="0"/>
                        <a:cs typeface="Calibri" charset="0"/>
                      </a:endParaRPr>
                    </a:p>
                  </a:txBody>
                  <a:tcPr>
                    <a:lnL w="12700" cap="flat" cmpd="sng" algn="ctr">
                      <a:solidFill>
                        <a:srgbClr val="5A7A9A"/>
                      </a:solidFill>
                      <a:prstDash val="solid"/>
                      <a:round/>
                      <a:headEnd type="none" w="med" len="med"/>
                      <a:tailEnd type="none" w="med" len="med"/>
                    </a:lnL>
                    <a:lnR w="12700" cap="flat" cmpd="sng" algn="ctr">
                      <a:solidFill>
                        <a:srgbClr val="5A7A9A"/>
                      </a:solidFill>
                      <a:prstDash val="solid"/>
                      <a:round/>
                      <a:headEnd type="none" w="med" len="med"/>
                      <a:tailEnd type="none" w="med" len="med"/>
                    </a:lnR>
                    <a:lnT w="12700" cap="flat" cmpd="sng" algn="ctr">
                      <a:solidFill>
                        <a:srgbClr val="5A7A9A"/>
                      </a:solidFill>
                      <a:prstDash val="solid"/>
                      <a:round/>
                      <a:headEnd type="none" w="med" len="med"/>
                      <a:tailEnd type="none" w="med" len="med"/>
                    </a:lnT>
                    <a:lnB w="12700" cap="flat" cmpd="sng" algn="ctr">
                      <a:solidFill>
                        <a:srgbClr val="5A7A9A"/>
                      </a:solidFill>
                      <a:prstDash val="solid"/>
                      <a:round/>
                      <a:headEnd type="none" w="med" len="med"/>
                      <a:tailEnd type="none" w="med" len="med"/>
                    </a:lnB>
                    <a:solidFill>
                      <a:srgbClr val="1E3A5F"/>
                    </a:solidFill>
                  </a:tcPr>
                </a:tc>
                <a:tc>
                  <a:txBody>
                    <a:bodyPr/>
                    <a:lstStyle/>
                    <a:p>
                      <a:pPr marL="0" indent="0">
                        <a:buNone/>
                      </a:pPr>
                      <a:r>
                        <a:rPr lang="en-US" sz="1200" b="1" dirty="0">
                          <a:solidFill>
                            <a:srgbClr val="FFD93D"/>
                          </a:solidFill>
                          <a:latin typeface="Calibri" pitchFamily="34" charset="0"/>
                          <a:ea typeface="Calibri" pitchFamily="34" charset="-122"/>
                          <a:cs typeface="Calibri" pitchFamily="34" charset="-120"/>
                        </a:rPr>
                        <a:t>0.91</a:t>
                      </a:r>
                      <a:endParaRPr lang="en-US" sz="1200" dirty="0">
                        <a:latin typeface="Calibri" charset="0"/>
                        <a:ea typeface="Calibri" charset="0"/>
                        <a:cs typeface="Calibri" charset="0"/>
                      </a:endParaRPr>
                    </a:p>
                  </a:txBody>
                  <a:tcPr>
                    <a:lnL w="12700" cap="flat" cmpd="sng" algn="ctr">
                      <a:solidFill>
                        <a:srgbClr val="5A7A9A"/>
                      </a:solidFill>
                      <a:prstDash val="solid"/>
                      <a:round/>
                      <a:headEnd type="none" w="med" len="med"/>
                      <a:tailEnd type="none" w="med" len="med"/>
                    </a:lnL>
                    <a:lnR w="12700" cap="flat" cmpd="sng" algn="ctr">
                      <a:solidFill>
                        <a:srgbClr val="5A7A9A"/>
                      </a:solidFill>
                      <a:prstDash val="solid"/>
                      <a:round/>
                      <a:headEnd type="none" w="med" len="med"/>
                      <a:tailEnd type="none" w="med" len="med"/>
                    </a:lnR>
                    <a:lnT w="12700" cap="flat" cmpd="sng" algn="ctr">
                      <a:solidFill>
                        <a:srgbClr val="5A7A9A"/>
                      </a:solidFill>
                      <a:prstDash val="solid"/>
                      <a:round/>
                      <a:headEnd type="none" w="med" len="med"/>
                      <a:tailEnd type="none" w="med" len="med"/>
                    </a:lnT>
                    <a:lnB w="12700" cap="flat" cmpd="sng" algn="ctr">
                      <a:solidFill>
                        <a:srgbClr val="5A7A9A"/>
                      </a:solidFill>
                      <a:prstDash val="solid"/>
                      <a:round/>
                      <a:headEnd type="none" w="med" len="med"/>
                      <a:tailEnd type="none" w="med" len="med"/>
                    </a:lnB>
                    <a:solidFill>
                      <a:srgbClr val="1E3A5F"/>
                    </a:solidFill>
                  </a:tcPr>
                </a:tc>
                <a:extLst>
                  <a:ext uri="{0D108BD9-81ED-4DB2-BD59-A6C34878D82A}">
                    <a16:rowId xmlns:a16="http://schemas.microsoft.com/office/drawing/2014/main" val="10003"/>
                  </a:ext>
                </a:extLst>
              </a:tr>
            </a:tbl>
          </a:graphicData>
        </a:graphic>
      </p:graphicFrame>
      <p:sp>
        <p:nvSpPr>
          <p:cNvPr id="20" name="Shape 16"/>
          <p:cNvSpPr/>
          <p:nvPr/>
        </p:nvSpPr>
        <p:spPr>
          <a:xfrm>
            <a:off x="457200" y="4069080"/>
            <a:ext cx="8229600" cy="868680"/>
          </a:xfrm>
          <a:prstGeom prst="roundRect">
            <a:avLst>
              <a:gd name="adj" fmla="val 9474"/>
            </a:avLst>
          </a:prstGeom>
          <a:solidFill>
            <a:srgbClr val="162638"/>
          </a:solidFill>
          <a:ln/>
          <a:effectLst>
            <a:outerShdw blurRad="101600" dist="38100" dir="2700000" algn="bl" rotWithShape="0">
              <a:srgbClr val="000000">
                <a:alpha val="25000"/>
              </a:srgbClr>
            </a:outerShdw>
          </a:effectLst>
        </p:spPr>
      </p:sp>
      <p:sp>
        <p:nvSpPr>
          <p:cNvPr id="21" name="Text 17"/>
          <p:cNvSpPr/>
          <p:nvPr/>
        </p:nvSpPr>
        <p:spPr>
          <a:xfrm>
            <a:off x="566928" y="4105656"/>
            <a:ext cx="8010144" cy="804672"/>
          </a:xfrm>
          <a:prstGeom prst="rect">
            <a:avLst/>
          </a:prstGeom>
          <a:noFill/>
          <a:ln/>
        </p:spPr>
        <p:txBody>
          <a:bodyPr wrap="square" rtlCol="0" anchor="ctr"/>
          <a:lstStyle/>
          <a:p>
            <a:pPr marL="0" indent="0">
              <a:buNone/>
            </a:pPr>
            <a:r>
              <a:rPr lang="en-US" sz="1100" dirty="0">
                <a:solidFill>
                  <a:srgbClr val="B0C4DE"/>
                </a:solidFill>
                <a:latin typeface="Calibri" pitchFamily="34" charset="0"/>
                <a:ea typeface="Calibri" pitchFamily="34" charset="-122"/>
                <a:cs typeface="Calibri" pitchFamily="34" charset="-120"/>
              </a:rPr>
              <a:t>The model achieved a frame-level AUC of 0.9573 on the original Celeb-DF v2 test set, with 91.4% classification accuracy. Both real and fake classes achieved balanced precision and recall (≈ 0.91–0.92), confirming that the model does not exhibit class bias. The confusion matrix shows that ≈ 8% of fake faces were missed (false negatives) and ≈ 9% of real faces were incorrectly flagged a well-balanced error distribution for a binary forensic classifier.</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F1B2D"/>
        </a:solidFill>
        <a:effectLst/>
      </p:bgPr>
    </p:bg>
    <p:spTree>
      <p:nvGrpSpPr>
        <p:cNvPr id="1" name=""/>
        <p:cNvGrpSpPr/>
        <p:nvPr/>
      </p:nvGrpSpPr>
      <p:grpSpPr>
        <a:xfrm>
          <a:off x="0" y="0"/>
          <a:ext cx="0" cy="0"/>
          <a:chOff x="0" y="0"/>
          <a:chExt cx="0" cy="0"/>
        </a:xfrm>
      </p:grpSpPr>
      <p:sp>
        <p:nvSpPr>
          <p:cNvPr id="2" name="Text 0"/>
          <p:cNvSpPr/>
          <p:nvPr/>
        </p:nvSpPr>
        <p:spPr>
          <a:xfrm>
            <a:off x="457200" y="256032"/>
            <a:ext cx="8229600" cy="566928"/>
          </a:xfrm>
          <a:prstGeom prst="rect">
            <a:avLst/>
          </a:prstGeom>
          <a:noFill/>
          <a:ln/>
        </p:spPr>
        <p:txBody>
          <a:bodyPr wrap="square" rtlCol="0" anchor="ctr"/>
          <a:lstStyle/>
          <a:p>
            <a:pPr marL="0" indent="0">
              <a:buNone/>
            </a:pPr>
            <a:r>
              <a:rPr lang="en-US" sz="3200" b="1" dirty="0">
                <a:solidFill>
                  <a:srgbClr val="FFFFFF"/>
                </a:solidFill>
                <a:latin typeface="Cambria" pitchFamily="34" charset="0"/>
                <a:ea typeface="Cambria" pitchFamily="34" charset="-122"/>
                <a:cs typeface="Cambria" pitchFamily="34" charset="-120"/>
              </a:rPr>
              <a:t>ROC Curve — What It Shows</a:t>
            </a:r>
            <a:endParaRPr lang="en-US" sz="3200" dirty="0"/>
          </a:p>
        </p:txBody>
      </p:sp>
      <p:sp>
        <p:nvSpPr>
          <p:cNvPr id="3" name="Shape 1"/>
          <p:cNvSpPr/>
          <p:nvPr/>
        </p:nvSpPr>
        <p:spPr>
          <a:xfrm>
            <a:off x="457200" y="850392"/>
            <a:ext cx="8229600" cy="27432"/>
          </a:xfrm>
          <a:prstGeom prst="rect">
            <a:avLst/>
          </a:prstGeom>
          <a:solidFill>
            <a:srgbClr val="00C9A7"/>
          </a:solidFill>
          <a:ln/>
        </p:spPr>
      </p:sp>
      <p:graphicFrame>
        <p:nvGraphicFramePr>
          <p:cNvPr id="4" name="Chart 0"/>
          <p:cNvGraphicFramePr/>
          <p:nvPr>
            <p:extLst>
              <p:ext uri="{D42A27DB-BD31-4B8C-83A1-F6EECF244321}">
                <p14:modId xmlns:p14="http://schemas.microsoft.com/office/powerpoint/2010/main" val="3614826243"/>
              </p:ext>
            </p:extLst>
          </p:nvPr>
        </p:nvGraphicFramePr>
        <p:xfrm>
          <a:off x="365760" y="987552"/>
          <a:ext cx="4937760" cy="3886200"/>
        </p:xfrm>
        <a:graphic>
          <a:graphicData uri="http://schemas.openxmlformats.org/drawingml/2006/chart">
            <c:chart xmlns:c="http://schemas.openxmlformats.org/drawingml/2006/chart" xmlns:r="http://schemas.openxmlformats.org/officeDocument/2006/relationships" r:id="rId3"/>
          </a:graphicData>
        </a:graphic>
      </p:graphicFrame>
      <p:sp>
        <p:nvSpPr>
          <p:cNvPr id="5" name="Shape 2"/>
          <p:cNvSpPr/>
          <p:nvPr/>
        </p:nvSpPr>
        <p:spPr>
          <a:xfrm>
            <a:off x="5532120" y="987552"/>
            <a:ext cx="3154680" cy="914400"/>
          </a:xfrm>
          <a:prstGeom prst="roundRect">
            <a:avLst>
              <a:gd name="adj" fmla="val 9000"/>
            </a:avLst>
          </a:prstGeom>
          <a:solidFill>
            <a:srgbClr val="162638"/>
          </a:solidFill>
          <a:ln/>
          <a:effectLst>
            <a:outerShdw blurRad="101600" dist="38100" dir="2700000" algn="bl" rotWithShape="0">
              <a:srgbClr val="000000">
                <a:alpha val="25000"/>
              </a:srgbClr>
            </a:outerShdw>
          </a:effectLst>
        </p:spPr>
      </p:sp>
      <p:sp>
        <p:nvSpPr>
          <p:cNvPr id="6" name="Text 3"/>
          <p:cNvSpPr/>
          <p:nvPr/>
        </p:nvSpPr>
        <p:spPr>
          <a:xfrm>
            <a:off x="5623560" y="1033272"/>
            <a:ext cx="2971800" cy="292608"/>
          </a:xfrm>
          <a:prstGeom prst="rect">
            <a:avLst/>
          </a:prstGeom>
          <a:noFill/>
          <a:ln/>
        </p:spPr>
        <p:txBody>
          <a:bodyPr wrap="square" rtlCol="0" anchor="ctr"/>
          <a:lstStyle/>
          <a:p>
            <a:pPr marL="0" indent="0">
              <a:buNone/>
            </a:pPr>
            <a:r>
              <a:rPr lang="en-US" sz="1100" b="1" dirty="0">
                <a:solidFill>
                  <a:srgbClr val="00C9A7"/>
                </a:solidFill>
                <a:latin typeface="Calibri" pitchFamily="34" charset="0"/>
                <a:ea typeface="Calibri" pitchFamily="34" charset="-122"/>
                <a:cs typeface="Calibri" pitchFamily="34" charset="-120"/>
              </a:rPr>
              <a:t>What is the ROC Curve?</a:t>
            </a:r>
            <a:endParaRPr lang="en-US" sz="1100" dirty="0"/>
          </a:p>
        </p:txBody>
      </p:sp>
      <p:sp>
        <p:nvSpPr>
          <p:cNvPr id="7" name="Text 4"/>
          <p:cNvSpPr/>
          <p:nvPr/>
        </p:nvSpPr>
        <p:spPr>
          <a:xfrm>
            <a:off x="5623560" y="1335024"/>
            <a:ext cx="2971800" cy="530352"/>
          </a:xfrm>
          <a:prstGeom prst="rect">
            <a:avLst/>
          </a:prstGeom>
          <a:noFill/>
          <a:ln/>
        </p:spPr>
        <p:txBody>
          <a:bodyPr wrap="square" rtlCol="0" anchor="ctr"/>
          <a:lstStyle/>
          <a:p>
            <a:pPr marL="0" indent="0">
              <a:buNone/>
            </a:pPr>
            <a:r>
              <a:rPr lang="en-US" sz="1000" dirty="0">
                <a:solidFill>
                  <a:srgbClr val="B0C4DE"/>
                </a:solidFill>
                <a:latin typeface="Calibri" pitchFamily="34" charset="0"/>
                <a:ea typeface="Calibri" pitchFamily="34" charset="-122"/>
                <a:cs typeface="Calibri" pitchFamily="34" charset="-120"/>
              </a:rPr>
              <a:t>A plot of True Positive Rate (sensitivity) vs False Positive Rate (1 − specificity) at every possible decision threshold.</a:t>
            </a:r>
            <a:endParaRPr lang="en-US" sz="1000" dirty="0"/>
          </a:p>
        </p:txBody>
      </p:sp>
      <p:sp>
        <p:nvSpPr>
          <p:cNvPr id="8" name="Shape 5"/>
          <p:cNvSpPr/>
          <p:nvPr/>
        </p:nvSpPr>
        <p:spPr>
          <a:xfrm>
            <a:off x="5532120" y="2020824"/>
            <a:ext cx="3154680" cy="914400"/>
          </a:xfrm>
          <a:prstGeom prst="roundRect">
            <a:avLst>
              <a:gd name="adj" fmla="val 9000"/>
            </a:avLst>
          </a:prstGeom>
          <a:solidFill>
            <a:srgbClr val="162638"/>
          </a:solidFill>
          <a:ln/>
          <a:effectLst>
            <a:outerShdw blurRad="101600" dist="38100" dir="2700000" algn="bl" rotWithShape="0">
              <a:srgbClr val="000000">
                <a:alpha val="25000"/>
              </a:srgbClr>
            </a:outerShdw>
          </a:effectLst>
        </p:spPr>
      </p:sp>
      <p:sp>
        <p:nvSpPr>
          <p:cNvPr id="9" name="Text 6"/>
          <p:cNvSpPr/>
          <p:nvPr/>
        </p:nvSpPr>
        <p:spPr>
          <a:xfrm>
            <a:off x="5623560" y="2066544"/>
            <a:ext cx="2971800" cy="292608"/>
          </a:xfrm>
          <a:prstGeom prst="rect">
            <a:avLst/>
          </a:prstGeom>
          <a:noFill/>
          <a:ln/>
        </p:spPr>
        <p:txBody>
          <a:bodyPr wrap="square" rtlCol="0" anchor="ctr"/>
          <a:lstStyle/>
          <a:p>
            <a:pPr marL="0" indent="0">
              <a:buNone/>
            </a:pPr>
            <a:r>
              <a:rPr lang="en-US" sz="1100" b="1" dirty="0">
                <a:solidFill>
                  <a:srgbClr val="FFD93D"/>
                </a:solidFill>
                <a:latin typeface="Calibri" pitchFamily="34" charset="0"/>
                <a:ea typeface="Calibri" pitchFamily="34" charset="-122"/>
                <a:cs typeface="Calibri" pitchFamily="34" charset="-120"/>
              </a:rPr>
              <a:t>How is AUC Computed?</a:t>
            </a:r>
            <a:endParaRPr lang="en-US" sz="1100" dirty="0"/>
          </a:p>
        </p:txBody>
      </p:sp>
      <p:sp>
        <p:nvSpPr>
          <p:cNvPr id="10" name="Text 7"/>
          <p:cNvSpPr/>
          <p:nvPr/>
        </p:nvSpPr>
        <p:spPr>
          <a:xfrm>
            <a:off x="5623560" y="2368296"/>
            <a:ext cx="2971800" cy="530352"/>
          </a:xfrm>
          <a:prstGeom prst="rect">
            <a:avLst/>
          </a:prstGeom>
          <a:noFill/>
          <a:ln/>
        </p:spPr>
        <p:txBody>
          <a:bodyPr wrap="square" rtlCol="0" anchor="ctr"/>
          <a:lstStyle/>
          <a:p>
            <a:pPr marL="0" indent="0">
              <a:buNone/>
            </a:pPr>
            <a:r>
              <a:rPr lang="en-US" sz="1000" dirty="0">
                <a:solidFill>
                  <a:srgbClr val="B0C4DE"/>
                </a:solidFill>
                <a:latin typeface="Calibri" pitchFamily="34" charset="0"/>
                <a:ea typeface="Calibri" pitchFamily="34" charset="-122"/>
                <a:cs typeface="Calibri" pitchFamily="34" charset="-120"/>
              </a:rPr>
              <a:t>AUC is the area under the ROC curve, computed by the trapezoidal rule over all (FPR, TPR) pairs. AUC = 1.0 means perfect ranking; AUC = 0.5 means random.</a:t>
            </a:r>
            <a:endParaRPr lang="en-US" sz="1000" dirty="0"/>
          </a:p>
        </p:txBody>
      </p:sp>
      <p:sp>
        <p:nvSpPr>
          <p:cNvPr id="11" name="Shape 8"/>
          <p:cNvSpPr/>
          <p:nvPr/>
        </p:nvSpPr>
        <p:spPr>
          <a:xfrm>
            <a:off x="5532120" y="3054096"/>
            <a:ext cx="3154680" cy="914400"/>
          </a:xfrm>
          <a:prstGeom prst="roundRect">
            <a:avLst>
              <a:gd name="adj" fmla="val 9000"/>
            </a:avLst>
          </a:prstGeom>
          <a:solidFill>
            <a:srgbClr val="162638"/>
          </a:solidFill>
          <a:ln/>
          <a:effectLst>
            <a:outerShdw blurRad="101600" dist="38100" dir="2700000" algn="bl" rotWithShape="0">
              <a:srgbClr val="000000">
                <a:alpha val="25000"/>
              </a:srgbClr>
            </a:outerShdw>
          </a:effectLst>
        </p:spPr>
      </p:sp>
      <p:sp>
        <p:nvSpPr>
          <p:cNvPr id="12" name="Text 9"/>
          <p:cNvSpPr/>
          <p:nvPr/>
        </p:nvSpPr>
        <p:spPr>
          <a:xfrm>
            <a:off x="5623560" y="3099816"/>
            <a:ext cx="2971800" cy="292608"/>
          </a:xfrm>
          <a:prstGeom prst="rect">
            <a:avLst/>
          </a:prstGeom>
          <a:noFill/>
          <a:ln/>
        </p:spPr>
        <p:txBody>
          <a:bodyPr wrap="square" rtlCol="0" anchor="ctr"/>
          <a:lstStyle/>
          <a:p>
            <a:pPr marL="0" indent="0">
              <a:buNone/>
            </a:pPr>
            <a:r>
              <a:rPr lang="en-US" sz="1100" b="1" dirty="0">
                <a:solidFill>
                  <a:srgbClr val="7EC8E3"/>
                </a:solidFill>
                <a:latin typeface="Calibri" pitchFamily="34" charset="0"/>
                <a:ea typeface="Calibri" pitchFamily="34" charset="-122"/>
                <a:cs typeface="Calibri" pitchFamily="34" charset="-120"/>
              </a:rPr>
              <a:t>Why Threshold-Independent?</a:t>
            </a:r>
            <a:endParaRPr lang="en-US" sz="1100" dirty="0"/>
          </a:p>
        </p:txBody>
      </p:sp>
      <p:sp>
        <p:nvSpPr>
          <p:cNvPr id="13" name="Text 10"/>
          <p:cNvSpPr/>
          <p:nvPr/>
        </p:nvSpPr>
        <p:spPr>
          <a:xfrm>
            <a:off x="5623560" y="3401568"/>
            <a:ext cx="2971800" cy="530352"/>
          </a:xfrm>
          <a:prstGeom prst="rect">
            <a:avLst/>
          </a:prstGeom>
          <a:noFill/>
          <a:ln/>
        </p:spPr>
        <p:txBody>
          <a:bodyPr wrap="square" rtlCol="0" anchor="ctr"/>
          <a:lstStyle/>
          <a:p>
            <a:pPr marL="0" indent="0">
              <a:buNone/>
            </a:pPr>
            <a:r>
              <a:rPr lang="en-US" sz="1000" dirty="0">
                <a:solidFill>
                  <a:srgbClr val="B0C4DE"/>
                </a:solidFill>
                <a:latin typeface="Calibri" pitchFamily="34" charset="0"/>
                <a:ea typeface="Calibri" pitchFamily="34" charset="-122"/>
                <a:cs typeface="Calibri" pitchFamily="34" charset="-120"/>
              </a:rPr>
              <a:t>AUC scores the model's ability to rank fakes above reals regardless of which threshold is chosen — ideal for comparing detectors without fixing an operating point.</a:t>
            </a:r>
            <a:endParaRPr lang="en-US" sz="1000" dirty="0"/>
          </a:p>
        </p:txBody>
      </p:sp>
      <p:sp>
        <p:nvSpPr>
          <p:cNvPr id="14" name="Shape 11"/>
          <p:cNvSpPr/>
          <p:nvPr/>
        </p:nvSpPr>
        <p:spPr>
          <a:xfrm>
            <a:off x="5532120" y="4087368"/>
            <a:ext cx="3154680" cy="914400"/>
          </a:xfrm>
          <a:prstGeom prst="roundRect">
            <a:avLst>
              <a:gd name="adj" fmla="val 9000"/>
            </a:avLst>
          </a:prstGeom>
          <a:solidFill>
            <a:srgbClr val="162638"/>
          </a:solidFill>
          <a:ln/>
          <a:effectLst>
            <a:outerShdw blurRad="101600" dist="38100" dir="2700000" algn="bl" rotWithShape="0">
              <a:srgbClr val="000000">
                <a:alpha val="25000"/>
              </a:srgbClr>
            </a:outerShdw>
          </a:effectLst>
        </p:spPr>
      </p:sp>
      <p:sp>
        <p:nvSpPr>
          <p:cNvPr id="15" name="Text 12"/>
          <p:cNvSpPr/>
          <p:nvPr/>
        </p:nvSpPr>
        <p:spPr>
          <a:xfrm>
            <a:off x="5623560" y="4133088"/>
            <a:ext cx="2971800" cy="292608"/>
          </a:xfrm>
          <a:prstGeom prst="rect">
            <a:avLst/>
          </a:prstGeom>
          <a:noFill/>
          <a:ln/>
        </p:spPr>
        <p:txBody>
          <a:bodyPr wrap="square" rtlCol="0" anchor="ctr"/>
          <a:lstStyle/>
          <a:p>
            <a:pPr marL="0" indent="0">
              <a:buNone/>
            </a:pPr>
            <a:r>
              <a:rPr lang="en-US" sz="1100" b="1" dirty="0">
                <a:solidFill>
                  <a:srgbClr val="FF6B6B"/>
                </a:solidFill>
                <a:latin typeface="Calibri" pitchFamily="34" charset="0"/>
                <a:ea typeface="Calibri" pitchFamily="34" charset="-122"/>
                <a:cs typeface="Calibri" pitchFamily="34" charset="-120"/>
              </a:rPr>
              <a:t>What Our ROC Indicates</a:t>
            </a:r>
            <a:endParaRPr lang="en-US" sz="1100" dirty="0"/>
          </a:p>
        </p:txBody>
      </p:sp>
      <p:sp>
        <p:nvSpPr>
          <p:cNvPr id="16" name="Text 13"/>
          <p:cNvSpPr/>
          <p:nvPr/>
        </p:nvSpPr>
        <p:spPr>
          <a:xfrm>
            <a:off x="5623560" y="4434840"/>
            <a:ext cx="2971800" cy="530352"/>
          </a:xfrm>
          <a:prstGeom prst="rect">
            <a:avLst/>
          </a:prstGeom>
          <a:noFill/>
          <a:ln/>
        </p:spPr>
        <p:txBody>
          <a:bodyPr wrap="square" rtlCol="0" anchor="ctr"/>
          <a:lstStyle/>
          <a:p>
            <a:pPr marL="0" indent="0">
              <a:buNone/>
            </a:pPr>
            <a:r>
              <a:rPr lang="en-US" sz="1000" dirty="0">
                <a:solidFill>
                  <a:srgbClr val="B0C4DE"/>
                </a:solidFill>
                <a:latin typeface="Calibri" pitchFamily="34" charset="0"/>
                <a:ea typeface="Calibri" pitchFamily="34" charset="-122"/>
                <a:cs typeface="Calibri" pitchFamily="34" charset="-120"/>
              </a:rPr>
              <a:t>Our curve rises steeply toward the top-left corner, achieving high TPR (&gt;0.85) at very low FPR (&lt;0.10). This means the model correctly identifies most deepfakes while triggering few false alarms.</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F1B2D"/>
        </a:solidFill>
        <a:effectLst/>
      </p:bgPr>
    </p:bg>
    <p:spTree>
      <p:nvGrpSpPr>
        <p:cNvPr id="1" name=""/>
        <p:cNvGrpSpPr/>
        <p:nvPr/>
      </p:nvGrpSpPr>
      <p:grpSpPr>
        <a:xfrm>
          <a:off x="0" y="0"/>
          <a:ext cx="0" cy="0"/>
          <a:chOff x="0" y="0"/>
          <a:chExt cx="0" cy="0"/>
        </a:xfrm>
      </p:grpSpPr>
      <p:sp>
        <p:nvSpPr>
          <p:cNvPr id="2" name="Text 0"/>
          <p:cNvSpPr/>
          <p:nvPr/>
        </p:nvSpPr>
        <p:spPr>
          <a:xfrm>
            <a:off x="457200" y="256032"/>
            <a:ext cx="8229600" cy="566928"/>
          </a:xfrm>
          <a:prstGeom prst="rect">
            <a:avLst/>
          </a:prstGeom>
          <a:noFill/>
          <a:ln/>
        </p:spPr>
        <p:txBody>
          <a:bodyPr wrap="square" rtlCol="0" anchor="ctr"/>
          <a:lstStyle/>
          <a:p>
            <a:pPr marL="0" indent="0">
              <a:buNone/>
            </a:pPr>
            <a:r>
              <a:rPr lang="en-US" sz="3200" b="1" dirty="0">
                <a:solidFill>
                  <a:srgbClr val="FFFFFF"/>
                </a:solidFill>
                <a:latin typeface="Cambria" pitchFamily="34" charset="0"/>
                <a:ea typeface="Cambria" pitchFamily="34" charset="-122"/>
                <a:cs typeface="Cambria" pitchFamily="34" charset="-120"/>
              </a:rPr>
              <a:t>Robustness — Perturbation vs. AUC</a:t>
            </a:r>
            <a:endParaRPr lang="en-US" sz="3200" dirty="0"/>
          </a:p>
        </p:txBody>
      </p:sp>
      <p:sp>
        <p:nvSpPr>
          <p:cNvPr id="3" name="Shape 1"/>
          <p:cNvSpPr/>
          <p:nvPr/>
        </p:nvSpPr>
        <p:spPr>
          <a:xfrm>
            <a:off x="457200" y="850392"/>
            <a:ext cx="8229600" cy="27432"/>
          </a:xfrm>
          <a:prstGeom prst="rect">
            <a:avLst/>
          </a:prstGeom>
          <a:solidFill>
            <a:srgbClr val="00C9A7"/>
          </a:solidFill>
          <a:ln/>
        </p:spPr>
      </p:sp>
      <p:graphicFrame>
        <p:nvGraphicFramePr>
          <p:cNvPr id="4" name="Chart 0"/>
          <p:cNvGraphicFramePr/>
          <p:nvPr/>
        </p:nvGraphicFramePr>
        <p:xfrm>
          <a:off x="365760" y="987552"/>
          <a:ext cx="5029200" cy="3886200"/>
        </p:xfrm>
        <a:graphic>
          <a:graphicData uri="http://schemas.openxmlformats.org/drawingml/2006/chart">
            <c:chart xmlns:c="http://schemas.openxmlformats.org/drawingml/2006/chart" xmlns:r="http://schemas.openxmlformats.org/officeDocument/2006/relationships" r:id="rId3"/>
          </a:graphicData>
        </a:graphic>
      </p:graphicFrame>
      <p:sp>
        <p:nvSpPr>
          <p:cNvPr id="5" name="Shape 2"/>
          <p:cNvSpPr/>
          <p:nvPr/>
        </p:nvSpPr>
        <p:spPr>
          <a:xfrm>
            <a:off x="5577840" y="987552"/>
            <a:ext cx="3108960" cy="621792"/>
          </a:xfrm>
          <a:prstGeom prst="roundRect">
            <a:avLst>
              <a:gd name="adj" fmla="val 13235"/>
            </a:avLst>
          </a:prstGeom>
          <a:solidFill>
            <a:srgbClr val="162638"/>
          </a:solidFill>
          <a:ln/>
          <a:effectLst>
            <a:outerShdw blurRad="101600" dist="38100" dir="2700000" algn="bl" rotWithShape="0">
              <a:srgbClr val="000000">
                <a:alpha val="25000"/>
              </a:srgbClr>
            </a:outerShdw>
          </a:effectLst>
        </p:spPr>
      </p:sp>
      <p:sp>
        <p:nvSpPr>
          <p:cNvPr id="6" name="Text 3"/>
          <p:cNvSpPr/>
          <p:nvPr/>
        </p:nvSpPr>
        <p:spPr>
          <a:xfrm>
            <a:off x="5669280" y="1024128"/>
            <a:ext cx="2926080" cy="237744"/>
          </a:xfrm>
          <a:prstGeom prst="rect">
            <a:avLst/>
          </a:prstGeom>
          <a:noFill/>
          <a:ln/>
        </p:spPr>
        <p:txBody>
          <a:bodyPr wrap="square" rtlCol="0" anchor="ctr"/>
          <a:lstStyle/>
          <a:p>
            <a:pPr marL="0" indent="0">
              <a:buNone/>
            </a:pPr>
            <a:r>
              <a:rPr lang="en-US" sz="1050" b="1" dirty="0">
                <a:solidFill>
                  <a:srgbClr val="00C9A7"/>
                </a:solidFill>
                <a:latin typeface="Calibri" pitchFamily="34" charset="0"/>
                <a:ea typeface="Calibri" pitchFamily="34" charset="-122"/>
                <a:cs typeface="Calibri" pitchFamily="34" charset="-120"/>
              </a:rPr>
              <a:t>Original → 0.9573</a:t>
            </a:r>
            <a:endParaRPr lang="en-US" sz="1050" dirty="0"/>
          </a:p>
        </p:txBody>
      </p:sp>
      <p:sp>
        <p:nvSpPr>
          <p:cNvPr id="7" name="Text 4"/>
          <p:cNvSpPr/>
          <p:nvPr/>
        </p:nvSpPr>
        <p:spPr>
          <a:xfrm>
            <a:off x="5669280" y="1271016"/>
            <a:ext cx="2926080" cy="301752"/>
          </a:xfrm>
          <a:prstGeom prst="rect">
            <a:avLst/>
          </a:prstGeom>
          <a:noFill/>
          <a:ln/>
        </p:spPr>
        <p:txBody>
          <a:bodyPr wrap="square" rtlCol="0" anchor="ctr"/>
          <a:lstStyle/>
          <a:p>
            <a:pPr marL="0" indent="0">
              <a:buNone/>
            </a:pPr>
            <a:r>
              <a:rPr lang="en-US" sz="950" dirty="0">
                <a:solidFill>
                  <a:srgbClr val="B0C4DE"/>
                </a:solidFill>
                <a:latin typeface="Calibri" pitchFamily="34" charset="0"/>
                <a:ea typeface="Calibri" pitchFamily="34" charset="-122"/>
                <a:cs typeface="Calibri" pitchFamily="34" charset="-120"/>
              </a:rPr>
              <a:t>Baseline. Model captures authentic high-frequency deepfake artefacts with high confidence.</a:t>
            </a:r>
            <a:endParaRPr lang="en-US" sz="950" dirty="0"/>
          </a:p>
        </p:txBody>
      </p:sp>
      <p:sp>
        <p:nvSpPr>
          <p:cNvPr id="8" name="Shape 5"/>
          <p:cNvSpPr/>
          <p:nvPr/>
        </p:nvSpPr>
        <p:spPr>
          <a:xfrm>
            <a:off x="5577840" y="1691640"/>
            <a:ext cx="3108960" cy="621792"/>
          </a:xfrm>
          <a:prstGeom prst="roundRect">
            <a:avLst>
              <a:gd name="adj" fmla="val 13235"/>
            </a:avLst>
          </a:prstGeom>
          <a:solidFill>
            <a:srgbClr val="162638"/>
          </a:solidFill>
          <a:ln/>
          <a:effectLst>
            <a:outerShdw blurRad="101600" dist="38100" dir="2700000" algn="bl" rotWithShape="0">
              <a:srgbClr val="000000">
                <a:alpha val="25000"/>
              </a:srgbClr>
            </a:outerShdw>
          </a:effectLst>
        </p:spPr>
      </p:sp>
      <p:sp>
        <p:nvSpPr>
          <p:cNvPr id="9" name="Text 6"/>
          <p:cNvSpPr/>
          <p:nvPr/>
        </p:nvSpPr>
        <p:spPr>
          <a:xfrm>
            <a:off x="5669280" y="1728216"/>
            <a:ext cx="2926080" cy="237744"/>
          </a:xfrm>
          <a:prstGeom prst="rect">
            <a:avLst/>
          </a:prstGeom>
          <a:noFill/>
          <a:ln/>
        </p:spPr>
        <p:txBody>
          <a:bodyPr wrap="square" rtlCol="0" anchor="ctr"/>
          <a:lstStyle/>
          <a:p>
            <a:pPr marL="0" indent="0">
              <a:buNone/>
            </a:pPr>
            <a:r>
              <a:rPr lang="en-US" sz="1050" b="1" dirty="0">
                <a:solidFill>
                  <a:srgbClr val="FFD93D"/>
                </a:solidFill>
                <a:latin typeface="Calibri" pitchFamily="34" charset="0"/>
                <a:ea typeface="Calibri" pitchFamily="34" charset="-122"/>
                <a:cs typeface="Calibri" pitchFamily="34" charset="-120"/>
              </a:rPr>
              <a:t>JPEG Compression → 0.916</a:t>
            </a:r>
            <a:endParaRPr lang="en-US" sz="1050" dirty="0"/>
          </a:p>
        </p:txBody>
      </p:sp>
      <p:sp>
        <p:nvSpPr>
          <p:cNvPr id="10" name="Text 7"/>
          <p:cNvSpPr/>
          <p:nvPr/>
        </p:nvSpPr>
        <p:spPr>
          <a:xfrm>
            <a:off x="5669280" y="1975104"/>
            <a:ext cx="2926080" cy="301752"/>
          </a:xfrm>
          <a:prstGeom prst="rect">
            <a:avLst/>
          </a:prstGeom>
          <a:noFill/>
          <a:ln/>
        </p:spPr>
        <p:txBody>
          <a:bodyPr wrap="square" rtlCol="0" anchor="ctr"/>
          <a:lstStyle/>
          <a:p>
            <a:pPr marL="0" indent="0">
              <a:buNone/>
            </a:pPr>
            <a:r>
              <a:rPr lang="en-US" sz="950" dirty="0">
                <a:solidFill>
                  <a:srgbClr val="B0C4DE"/>
                </a:solidFill>
                <a:latin typeface="Calibri" pitchFamily="34" charset="0"/>
                <a:ea typeface="Calibri" pitchFamily="34" charset="-122"/>
                <a:cs typeface="Calibri" pitchFamily="34" charset="-120"/>
              </a:rPr>
              <a:t>Minimal impact. JPEG removes high-frequency noise but preserves the semantic face structure that contains forgery clues.</a:t>
            </a:r>
            <a:endParaRPr lang="en-US" sz="950" dirty="0"/>
          </a:p>
        </p:txBody>
      </p:sp>
      <p:sp>
        <p:nvSpPr>
          <p:cNvPr id="11" name="Shape 8"/>
          <p:cNvSpPr/>
          <p:nvPr/>
        </p:nvSpPr>
        <p:spPr>
          <a:xfrm>
            <a:off x="5577840" y="2395728"/>
            <a:ext cx="3108960" cy="621792"/>
          </a:xfrm>
          <a:prstGeom prst="roundRect">
            <a:avLst>
              <a:gd name="adj" fmla="val 13235"/>
            </a:avLst>
          </a:prstGeom>
          <a:solidFill>
            <a:srgbClr val="162638"/>
          </a:solidFill>
          <a:ln/>
          <a:effectLst>
            <a:outerShdw blurRad="101600" dist="38100" dir="2700000" algn="bl" rotWithShape="0">
              <a:srgbClr val="000000">
                <a:alpha val="25000"/>
              </a:srgbClr>
            </a:outerShdw>
          </a:effectLst>
        </p:spPr>
      </p:sp>
      <p:sp>
        <p:nvSpPr>
          <p:cNvPr id="12" name="Text 9"/>
          <p:cNvSpPr/>
          <p:nvPr/>
        </p:nvSpPr>
        <p:spPr>
          <a:xfrm>
            <a:off x="5669280" y="2432304"/>
            <a:ext cx="2926080" cy="237744"/>
          </a:xfrm>
          <a:prstGeom prst="rect">
            <a:avLst/>
          </a:prstGeom>
          <a:noFill/>
          <a:ln/>
        </p:spPr>
        <p:txBody>
          <a:bodyPr wrap="square" rtlCol="0" anchor="ctr"/>
          <a:lstStyle/>
          <a:p>
            <a:pPr marL="0" indent="0">
              <a:buNone/>
            </a:pPr>
            <a:r>
              <a:rPr lang="en-US" sz="1050" b="1" dirty="0">
                <a:solidFill>
                  <a:srgbClr val="7EC8E3"/>
                </a:solidFill>
                <a:latin typeface="Calibri" pitchFamily="34" charset="0"/>
                <a:ea typeface="Calibri" pitchFamily="34" charset="-122"/>
                <a:cs typeface="Calibri" pitchFamily="34" charset="-120"/>
              </a:rPr>
              <a:t>Color Saturation → 0.931</a:t>
            </a:r>
            <a:endParaRPr lang="en-US" sz="1050" dirty="0"/>
          </a:p>
        </p:txBody>
      </p:sp>
      <p:sp>
        <p:nvSpPr>
          <p:cNvPr id="13" name="Text 10"/>
          <p:cNvSpPr/>
          <p:nvPr/>
        </p:nvSpPr>
        <p:spPr>
          <a:xfrm>
            <a:off x="5669280" y="2679192"/>
            <a:ext cx="2926080" cy="301752"/>
          </a:xfrm>
          <a:prstGeom prst="rect">
            <a:avLst/>
          </a:prstGeom>
          <a:noFill/>
          <a:ln/>
        </p:spPr>
        <p:txBody>
          <a:bodyPr wrap="square" rtlCol="0" anchor="ctr"/>
          <a:lstStyle/>
          <a:p>
            <a:pPr marL="0" indent="0">
              <a:buNone/>
            </a:pPr>
            <a:r>
              <a:rPr lang="en-US" sz="950" dirty="0">
                <a:solidFill>
                  <a:srgbClr val="B0C4DE"/>
                </a:solidFill>
                <a:latin typeface="Calibri" pitchFamily="34" charset="0"/>
                <a:ea typeface="Calibri" pitchFamily="34" charset="-122"/>
                <a:cs typeface="Calibri" pitchFamily="34" charset="-120"/>
              </a:rPr>
              <a:t>Little effect. Saturation shifts do not alter spatial structure or frequency-domain features relied upon by the model.</a:t>
            </a:r>
            <a:endParaRPr lang="en-US" sz="950" dirty="0"/>
          </a:p>
        </p:txBody>
      </p:sp>
      <p:sp>
        <p:nvSpPr>
          <p:cNvPr id="14" name="Shape 11"/>
          <p:cNvSpPr/>
          <p:nvPr/>
        </p:nvSpPr>
        <p:spPr>
          <a:xfrm>
            <a:off x="5577840" y="3099816"/>
            <a:ext cx="3108960" cy="621792"/>
          </a:xfrm>
          <a:prstGeom prst="roundRect">
            <a:avLst>
              <a:gd name="adj" fmla="val 13235"/>
            </a:avLst>
          </a:prstGeom>
          <a:solidFill>
            <a:srgbClr val="162638"/>
          </a:solidFill>
          <a:ln/>
          <a:effectLst>
            <a:outerShdw blurRad="101600" dist="38100" dir="2700000" algn="bl" rotWithShape="0">
              <a:srgbClr val="000000">
                <a:alpha val="25000"/>
              </a:srgbClr>
            </a:outerShdw>
          </a:effectLst>
        </p:spPr>
      </p:sp>
      <p:sp>
        <p:nvSpPr>
          <p:cNvPr id="15" name="Text 12"/>
          <p:cNvSpPr/>
          <p:nvPr/>
        </p:nvSpPr>
        <p:spPr>
          <a:xfrm>
            <a:off x="5669280" y="3136392"/>
            <a:ext cx="2926080" cy="237744"/>
          </a:xfrm>
          <a:prstGeom prst="rect">
            <a:avLst/>
          </a:prstGeom>
          <a:noFill/>
          <a:ln/>
        </p:spPr>
        <p:txBody>
          <a:bodyPr wrap="square" rtlCol="0" anchor="ctr"/>
          <a:lstStyle/>
          <a:p>
            <a:pPr marL="0" indent="0">
              <a:buNone/>
            </a:pPr>
            <a:r>
              <a:rPr lang="en-US" sz="1050" b="1" dirty="0">
                <a:solidFill>
                  <a:srgbClr val="FF9F40"/>
                </a:solidFill>
                <a:latin typeface="Calibri" pitchFamily="34" charset="0"/>
                <a:ea typeface="Calibri" pitchFamily="34" charset="-122"/>
                <a:cs typeface="Calibri" pitchFamily="34" charset="-120"/>
              </a:rPr>
              <a:t>Color Contrast → 0.884</a:t>
            </a:r>
            <a:endParaRPr lang="en-US" sz="1050" dirty="0"/>
          </a:p>
        </p:txBody>
      </p:sp>
      <p:sp>
        <p:nvSpPr>
          <p:cNvPr id="16" name="Text 13"/>
          <p:cNvSpPr/>
          <p:nvPr/>
        </p:nvSpPr>
        <p:spPr>
          <a:xfrm>
            <a:off x="5669280" y="3383280"/>
            <a:ext cx="2926080" cy="301752"/>
          </a:xfrm>
          <a:prstGeom prst="rect">
            <a:avLst/>
          </a:prstGeom>
          <a:noFill/>
          <a:ln/>
        </p:spPr>
        <p:txBody>
          <a:bodyPr wrap="square" rtlCol="0" anchor="ctr"/>
          <a:lstStyle/>
          <a:p>
            <a:pPr marL="0" indent="0">
              <a:buNone/>
            </a:pPr>
            <a:r>
              <a:rPr lang="en-US" sz="950" dirty="0">
                <a:solidFill>
                  <a:srgbClr val="B0C4DE"/>
                </a:solidFill>
                <a:latin typeface="Calibri" pitchFamily="34" charset="0"/>
                <a:ea typeface="Calibri" pitchFamily="34" charset="-122"/>
                <a:cs typeface="Calibri" pitchFamily="34" charset="-120"/>
              </a:rPr>
              <a:t>Moderate drop. Contrast changes can suppress or amplify local texture differences the model uses as detection clues.</a:t>
            </a:r>
            <a:endParaRPr lang="en-US" sz="950" dirty="0"/>
          </a:p>
        </p:txBody>
      </p:sp>
      <p:sp>
        <p:nvSpPr>
          <p:cNvPr id="17" name="Shape 14"/>
          <p:cNvSpPr/>
          <p:nvPr/>
        </p:nvSpPr>
        <p:spPr>
          <a:xfrm>
            <a:off x="5577840" y="3803904"/>
            <a:ext cx="3108960" cy="621792"/>
          </a:xfrm>
          <a:prstGeom prst="roundRect">
            <a:avLst>
              <a:gd name="adj" fmla="val 13235"/>
            </a:avLst>
          </a:prstGeom>
          <a:solidFill>
            <a:srgbClr val="162638"/>
          </a:solidFill>
          <a:ln/>
          <a:effectLst>
            <a:outerShdw blurRad="101600" dist="38100" dir="2700000" algn="bl" rotWithShape="0">
              <a:srgbClr val="000000">
                <a:alpha val="25000"/>
              </a:srgbClr>
            </a:outerShdw>
          </a:effectLst>
        </p:spPr>
      </p:sp>
      <p:sp>
        <p:nvSpPr>
          <p:cNvPr id="18" name="Text 15"/>
          <p:cNvSpPr/>
          <p:nvPr/>
        </p:nvSpPr>
        <p:spPr>
          <a:xfrm>
            <a:off x="5669280" y="3840480"/>
            <a:ext cx="2926080" cy="237744"/>
          </a:xfrm>
          <a:prstGeom prst="rect">
            <a:avLst/>
          </a:prstGeom>
          <a:noFill/>
          <a:ln/>
        </p:spPr>
        <p:txBody>
          <a:bodyPr wrap="square" rtlCol="0" anchor="ctr"/>
          <a:lstStyle/>
          <a:p>
            <a:pPr marL="0" indent="0">
              <a:buNone/>
            </a:pPr>
            <a:r>
              <a:rPr lang="en-US" sz="1050" b="1" dirty="0">
                <a:solidFill>
                  <a:srgbClr val="FF9F40"/>
                </a:solidFill>
                <a:latin typeface="Calibri" pitchFamily="34" charset="0"/>
                <a:ea typeface="Calibri" pitchFamily="34" charset="-122"/>
                <a:cs typeface="Calibri" pitchFamily="34" charset="-120"/>
              </a:rPr>
              <a:t>Gaussian Blur → 0.704</a:t>
            </a:r>
            <a:endParaRPr lang="en-US" sz="1050" dirty="0"/>
          </a:p>
        </p:txBody>
      </p:sp>
      <p:sp>
        <p:nvSpPr>
          <p:cNvPr id="19" name="Text 16"/>
          <p:cNvSpPr/>
          <p:nvPr/>
        </p:nvSpPr>
        <p:spPr>
          <a:xfrm>
            <a:off x="5669280" y="4087368"/>
            <a:ext cx="2926080" cy="301752"/>
          </a:xfrm>
          <a:prstGeom prst="rect">
            <a:avLst/>
          </a:prstGeom>
          <a:noFill/>
          <a:ln/>
        </p:spPr>
        <p:txBody>
          <a:bodyPr wrap="square" rtlCol="0" anchor="ctr"/>
          <a:lstStyle/>
          <a:p>
            <a:pPr marL="0" indent="0">
              <a:buNone/>
            </a:pPr>
            <a:r>
              <a:rPr lang="en-US" sz="950" dirty="0">
                <a:solidFill>
                  <a:srgbClr val="B0C4DE"/>
                </a:solidFill>
                <a:latin typeface="Calibri" pitchFamily="34" charset="0"/>
                <a:ea typeface="Calibri" pitchFamily="34" charset="-122"/>
                <a:cs typeface="Calibri" pitchFamily="34" charset="-120"/>
              </a:rPr>
              <a:t>Significant degradation. Blur suppresses high-frequency artefacts — exactly the features data-driven models depend on.</a:t>
            </a:r>
            <a:endParaRPr lang="en-US" sz="950" dirty="0"/>
          </a:p>
        </p:txBody>
      </p:sp>
      <p:sp>
        <p:nvSpPr>
          <p:cNvPr id="20" name="Shape 17"/>
          <p:cNvSpPr/>
          <p:nvPr/>
        </p:nvSpPr>
        <p:spPr>
          <a:xfrm>
            <a:off x="5577840" y="4507992"/>
            <a:ext cx="3108960" cy="621792"/>
          </a:xfrm>
          <a:prstGeom prst="roundRect">
            <a:avLst>
              <a:gd name="adj" fmla="val 13235"/>
            </a:avLst>
          </a:prstGeom>
          <a:solidFill>
            <a:srgbClr val="162638"/>
          </a:solidFill>
          <a:ln/>
          <a:effectLst>
            <a:outerShdw blurRad="101600" dist="38100" dir="2700000" algn="bl" rotWithShape="0">
              <a:srgbClr val="000000">
                <a:alpha val="25000"/>
              </a:srgbClr>
            </a:outerShdw>
          </a:effectLst>
        </p:spPr>
      </p:sp>
      <p:sp>
        <p:nvSpPr>
          <p:cNvPr id="21" name="Text 18"/>
          <p:cNvSpPr/>
          <p:nvPr/>
        </p:nvSpPr>
        <p:spPr>
          <a:xfrm>
            <a:off x="5669280" y="4544568"/>
            <a:ext cx="2926080" cy="237744"/>
          </a:xfrm>
          <a:prstGeom prst="rect">
            <a:avLst/>
          </a:prstGeom>
          <a:noFill/>
          <a:ln/>
        </p:spPr>
        <p:txBody>
          <a:bodyPr wrap="square" rtlCol="0" anchor="ctr"/>
          <a:lstStyle/>
          <a:p>
            <a:pPr marL="0" indent="0">
              <a:buNone/>
            </a:pPr>
            <a:r>
              <a:rPr lang="en-US" sz="1050" b="1" dirty="0">
                <a:solidFill>
                  <a:srgbClr val="FF6B6B"/>
                </a:solidFill>
                <a:latin typeface="Calibri" pitchFamily="34" charset="0"/>
                <a:ea typeface="Calibri" pitchFamily="34" charset="-122"/>
                <a:cs typeface="Calibri" pitchFamily="34" charset="-120"/>
              </a:rPr>
              <a:t>Gauss. Noise → 0.521</a:t>
            </a:r>
            <a:endParaRPr lang="en-US" sz="1050" dirty="0"/>
          </a:p>
        </p:txBody>
      </p:sp>
      <p:sp>
        <p:nvSpPr>
          <p:cNvPr id="22" name="Text 19"/>
          <p:cNvSpPr/>
          <p:nvPr/>
        </p:nvSpPr>
        <p:spPr>
          <a:xfrm>
            <a:off x="5669280" y="4791456"/>
            <a:ext cx="2926080" cy="301752"/>
          </a:xfrm>
          <a:prstGeom prst="rect">
            <a:avLst/>
          </a:prstGeom>
          <a:noFill/>
          <a:ln/>
        </p:spPr>
        <p:txBody>
          <a:bodyPr wrap="square" rtlCol="0" anchor="ctr"/>
          <a:lstStyle/>
          <a:p>
            <a:pPr marL="0" indent="0">
              <a:buNone/>
            </a:pPr>
            <a:r>
              <a:rPr lang="en-US" sz="950" dirty="0">
                <a:solidFill>
                  <a:srgbClr val="B0C4DE"/>
                </a:solidFill>
                <a:latin typeface="Calibri" pitchFamily="34" charset="0"/>
                <a:ea typeface="Calibri" pitchFamily="34" charset="-122"/>
                <a:cs typeface="Calibri" pitchFamily="34" charset="-120"/>
              </a:rPr>
              <a:t>Near-random performance. Additive noise overwhelms subtle forgery signals, masking the feature patterns EfficientNet learned.</a:t>
            </a:r>
            <a:endParaRPr lang="en-US" sz="9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F1B2D"/>
        </a:solidFill>
        <a:effectLst/>
      </p:bgPr>
    </p:bg>
    <p:spTree>
      <p:nvGrpSpPr>
        <p:cNvPr id="1" name=""/>
        <p:cNvGrpSpPr/>
        <p:nvPr/>
      </p:nvGrpSpPr>
      <p:grpSpPr>
        <a:xfrm>
          <a:off x="0" y="0"/>
          <a:ext cx="0" cy="0"/>
          <a:chOff x="0" y="0"/>
          <a:chExt cx="0" cy="0"/>
        </a:xfrm>
      </p:grpSpPr>
      <p:sp>
        <p:nvSpPr>
          <p:cNvPr id="2" name="Text 0"/>
          <p:cNvSpPr/>
          <p:nvPr/>
        </p:nvSpPr>
        <p:spPr>
          <a:xfrm>
            <a:off x="457200" y="256032"/>
            <a:ext cx="8229600" cy="566928"/>
          </a:xfrm>
          <a:prstGeom prst="rect">
            <a:avLst/>
          </a:prstGeom>
          <a:noFill/>
          <a:ln/>
        </p:spPr>
        <p:txBody>
          <a:bodyPr wrap="square" rtlCol="0" anchor="ctr"/>
          <a:lstStyle/>
          <a:p>
            <a:pPr marL="0" indent="0">
              <a:buNone/>
            </a:pPr>
            <a:r>
              <a:rPr lang="en-US" sz="3200" b="1" dirty="0">
                <a:solidFill>
                  <a:srgbClr val="FFFFFF"/>
                </a:solidFill>
                <a:latin typeface="Cambria" pitchFamily="34" charset="0"/>
                <a:ea typeface="Cambria" pitchFamily="34" charset="-122"/>
                <a:cs typeface="Cambria" pitchFamily="34" charset="-120"/>
              </a:rPr>
              <a:t>Discussion</a:t>
            </a:r>
            <a:endParaRPr lang="en-US" sz="3200" dirty="0"/>
          </a:p>
        </p:txBody>
      </p:sp>
      <p:sp>
        <p:nvSpPr>
          <p:cNvPr id="3" name="Shape 1"/>
          <p:cNvSpPr/>
          <p:nvPr/>
        </p:nvSpPr>
        <p:spPr>
          <a:xfrm>
            <a:off x="457200" y="850392"/>
            <a:ext cx="8229600" cy="27432"/>
          </a:xfrm>
          <a:prstGeom prst="rect">
            <a:avLst/>
          </a:prstGeom>
          <a:solidFill>
            <a:srgbClr val="00C9A7"/>
          </a:solidFill>
          <a:ln/>
        </p:spPr>
      </p:sp>
      <p:sp>
        <p:nvSpPr>
          <p:cNvPr id="4" name="Shape 2"/>
          <p:cNvSpPr/>
          <p:nvPr/>
        </p:nvSpPr>
        <p:spPr>
          <a:xfrm>
            <a:off x="365760" y="987552"/>
            <a:ext cx="4114800" cy="1965960"/>
          </a:xfrm>
          <a:prstGeom prst="roundRect">
            <a:avLst>
              <a:gd name="adj" fmla="val 4186"/>
            </a:avLst>
          </a:prstGeom>
          <a:solidFill>
            <a:srgbClr val="162638"/>
          </a:solidFill>
          <a:ln/>
          <a:effectLst>
            <a:outerShdw blurRad="101600" dist="38100" dir="2700000" algn="bl" rotWithShape="0">
              <a:srgbClr val="000000">
                <a:alpha val="25000"/>
              </a:srgbClr>
            </a:outerShdw>
          </a:effectLst>
        </p:spPr>
      </p:sp>
      <p:sp>
        <p:nvSpPr>
          <p:cNvPr id="5" name="Shape 3"/>
          <p:cNvSpPr/>
          <p:nvPr/>
        </p:nvSpPr>
        <p:spPr>
          <a:xfrm>
            <a:off x="438912" y="1078992"/>
            <a:ext cx="54864" cy="1645920"/>
          </a:xfrm>
          <a:prstGeom prst="rect">
            <a:avLst/>
          </a:prstGeom>
          <a:solidFill>
            <a:srgbClr val="FFD93D"/>
          </a:solidFill>
          <a:ln/>
        </p:spPr>
      </p:sp>
      <p:sp>
        <p:nvSpPr>
          <p:cNvPr id="6" name="Text 4"/>
          <p:cNvSpPr/>
          <p:nvPr/>
        </p:nvSpPr>
        <p:spPr>
          <a:xfrm>
            <a:off x="566928" y="1078992"/>
            <a:ext cx="3840480" cy="365760"/>
          </a:xfrm>
          <a:prstGeom prst="rect">
            <a:avLst/>
          </a:prstGeom>
          <a:noFill/>
          <a:ln/>
        </p:spPr>
        <p:txBody>
          <a:bodyPr wrap="square" rtlCol="0" anchor="ctr"/>
          <a:lstStyle/>
          <a:p>
            <a:pPr marL="0" indent="0">
              <a:buNone/>
            </a:pPr>
            <a:r>
              <a:rPr lang="en-US" sz="1200" b="1" dirty="0">
                <a:solidFill>
                  <a:srgbClr val="FFD93D"/>
                </a:solidFill>
                <a:latin typeface="Calibri" pitchFamily="34" charset="0"/>
                <a:ea typeface="Calibri" pitchFamily="34" charset="-122"/>
                <a:cs typeface="Calibri" pitchFamily="34" charset="-120"/>
              </a:rPr>
              <a:t>Why JPEG Compression Has Minimal Impact</a:t>
            </a:r>
            <a:endParaRPr lang="en-US" sz="1200" dirty="0"/>
          </a:p>
        </p:txBody>
      </p:sp>
      <p:sp>
        <p:nvSpPr>
          <p:cNvPr id="7" name="Text 5"/>
          <p:cNvSpPr/>
          <p:nvPr/>
        </p:nvSpPr>
        <p:spPr>
          <a:xfrm>
            <a:off x="566928" y="1463040"/>
            <a:ext cx="3840480" cy="1426464"/>
          </a:xfrm>
          <a:prstGeom prst="rect">
            <a:avLst/>
          </a:prstGeom>
          <a:noFill/>
          <a:ln/>
        </p:spPr>
        <p:txBody>
          <a:bodyPr wrap="square" rtlCol="0" anchor="ctr"/>
          <a:lstStyle/>
          <a:p>
            <a:pPr marL="0" indent="0">
              <a:buNone/>
            </a:pPr>
            <a:r>
              <a:rPr lang="en-US" sz="1050" dirty="0">
                <a:solidFill>
                  <a:srgbClr val="B0C4DE"/>
                </a:solidFill>
                <a:latin typeface="Calibri" pitchFamily="34" charset="0"/>
                <a:ea typeface="Calibri" pitchFamily="34" charset="-122"/>
                <a:cs typeface="Calibri" pitchFamily="34" charset="-120"/>
              </a:rPr>
              <a:t>JPEG quantises the DCT coefficients of an image, removing fine high-frequency detail. However, deepfake boundary artefacts — blending seams and texture inconsistencies — exist at a coarser scale than pure noise. The model's learned features survive mild JPEG degradation, explaining the modest AUC drop from 0.9573 to 0.9160.</a:t>
            </a:r>
            <a:endParaRPr lang="en-US" sz="1050" dirty="0"/>
          </a:p>
        </p:txBody>
      </p:sp>
      <p:sp>
        <p:nvSpPr>
          <p:cNvPr id="8" name="Shape 6"/>
          <p:cNvSpPr/>
          <p:nvPr/>
        </p:nvSpPr>
        <p:spPr>
          <a:xfrm>
            <a:off x="365760" y="3072384"/>
            <a:ext cx="4114800" cy="1965960"/>
          </a:xfrm>
          <a:prstGeom prst="roundRect">
            <a:avLst>
              <a:gd name="adj" fmla="val 4186"/>
            </a:avLst>
          </a:prstGeom>
          <a:solidFill>
            <a:srgbClr val="162638"/>
          </a:solidFill>
          <a:ln/>
          <a:effectLst>
            <a:outerShdw blurRad="101600" dist="38100" dir="2700000" algn="bl" rotWithShape="0">
              <a:srgbClr val="000000">
                <a:alpha val="25000"/>
              </a:srgbClr>
            </a:outerShdw>
          </a:effectLst>
        </p:spPr>
      </p:sp>
      <p:sp>
        <p:nvSpPr>
          <p:cNvPr id="9" name="Shape 7"/>
          <p:cNvSpPr/>
          <p:nvPr/>
        </p:nvSpPr>
        <p:spPr>
          <a:xfrm>
            <a:off x="438912" y="3163824"/>
            <a:ext cx="54864" cy="1645920"/>
          </a:xfrm>
          <a:prstGeom prst="rect">
            <a:avLst/>
          </a:prstGeom>
          <a:solidFill>
            <a:srgbClr val="FF6B6B"/>
          </a:solidFill>
          <a:ln/>
        </p:spPr>
      </p:sp>
      <p:sp>
        <p:nvSpPr>
          <p:cNvPr id="10" name="Text 8"/>
          <p:cNvSpPr/>
          <p:nvPr/>
        </p:nvSpPr>
        <p:spPr>
          <a:xfrm>
            <a:off x="566928" y="3163824"/>
            <a:ext cx="3840480" cy="365760"/>
          </a:xfrm>
          <a:prstGeom prst="rect">
            <a:avLst/>
          </a:prstGeom>
          <a:noFill/>
          <a:ln/>
        </p:spPr>
        <p:txBody>
          <a:bodyPr wrap="square" rtlCol="0" anchor="ctr"/>
          <a:lstStyle/>
          <a:p>
            <a:pPr marL="0" indent="0">
              <a:buNone/>
            </a:pPr>
            <a:r>
              <a:rPr lang="en-US" sz="1200" b="1" dirty="0">
                <a:solidFill>
                  <a:srgbClr val="FF6B6B"/>
                </a:solidFill>
                <a:latin typeface="Calibri" pitchFamily="34" charset="0"/>
                <a:ea typeface="Calibri" pitchFamily="34" charset="-122"/>
                <a:cs typeface="Calibri" pitchFamily="34" charset="-120"/>
              </a:rPr>
              <a:t>Why Gaussian Noise Causes the Largest Degradation</a:t>
            </a:r>
            <a:endParaRPr lang="en-US" sz="1200" dirty="0"/>
          </a:p>
        </p:txBody>
      </p:sp>
      <p:sp>
        <p:nvSpPr>
          <p:cNvPr id="11" name="Text 9"/>
          <p:cNvSpPr/>
          <p:nvPr/>
        </p:nvSpPr>
        <p:spPr>
          <a:xfrm>
            <a:off x="566928" y="3547872"/>
            <a:ext cx="3840480" cy="1426464"/>
          </a:xfrm>
          <a:prstGeom prst="rect">
            <a:avLst/>
          </a:prstGeom>
          <a:noFill/>
          <a:ln/>
        </p:spPr>
        <p:txBody>
          <a:bodyPr wrap="square" rtlCol="0" anchor="ctr"/>
          <a:lstStyle/>
          <a:p>
            <a:pPr marL="0" indent="0">
              <a:buNone/>
            </a:pPr>
            <a:r>
              <a:rPr lang="en-US" sz="1050" dirty="0">
                <a:solidFill>
                  <a:srgbClr val="B0C4DE"/>
                </a:solidFill>
                <a:latin typeface="Calibri" pitchFamily="34" charset="0"/>
                <a:ea typeface="Calibri" pitchFamily="34" charset="-122"/>
                <a:cs typeface="Calibri" pitchFamily="34" charset="-120"/>
              </a:rPr>
              <a:t>White Gaussian Noise adds independent random perturbations to every pixel, completely randomising the high-frequency feature maps that EfficientNet's early layers extract. Since data-driven models learn to detect subtle low-level artefacts, additive noise effectively blinds the detector — AUC collapses to 0.521, near random chance.</a:t>
            </a:r>
            <a:endParaRPr lang="en-US" sz="1050" dirty="0"/>
          </a:p>
        </p:txBody>
      </p:sp>
      <p:sp>
        <p:nvSpPr>
          <p:cNvPr id="12" name="Shape 10"/>
          <p:cNvSpPr/>
          <p:nvPr/>
        </p:nvSpPr>
        <p:spPr>
          <a:xfrm>
            <a:off x="4663440" y="987552"/>
            <a:ext cx="4114800" cy="1965960"/>
          </a:xfrm>
          <a:prstGeom prst="roundRect">
            <a:avLst>
              <a:gd name="adj" fmla="val 4186"/>
            </a:avLst>
          </a:prstGeom>
          <a:solidFill>
            <a:srgbClr val="162638"/>
          </a:solidFill>
          <a:ln/>
          <a:effectLst>
            <a:outerShdw blurRad="101600" dist="38100" dir="2700000" algn="bl" rotWithShape="0">
              <a:srgbClr val="000000">
                <a:alpha val="25000"/>
              </a:srgbClr>
            </a:outerShdw>
          </a:effectLst>
        </p:spPr>
      </p:sp>
      <p:sp>
        <p:nvSpPr>
          <p:cNvPr id="13" name="Shape 11"/>
          <p:cNvSpPr/>
          <p:nvPr/>
        </p:nvSpPr>
        <p:spPr>
          <a:xfrm>
            <a:off x="4736592" y="1078992"/>
            <a:ext cx="54864" cy="1645920"/>
          </a:xfrm>
          <a:prstGeom prst="rect">
            <a:avLst/>
          </a:prstGeom>
          <a:solidFill>
            <a:srgbClr val="7EC8E3"/>
          </a:solidFill>
          <a:ln/>
        </p:spPr>
      </p:sp>
      <p:sp>
        <p:nvSpPr>
          <p:cNvPr id="14" name="Text 12"/>
          <p:cNvSpPr/>
          <p:nvPr/>
        </p:nvSpPr>
        <p:spPr>
          <a:xfrm>
            <a:off x="4864608" y="1078992"/>
            <a:ext cx="3840480" cy="365760"/>
          </a:xfrm>
          <a:prstGeom prst="rect">
            <a:avLst/>
          </a:prstGeom>
          <a:noFill/>
          <a:ln/>
        </p:spPr>
        <p:txBody>
          <a:bodyPr wrap="square" rtlCol="0" anchor="ctr"/>
          <a:lstStyle/>
          <a:p>
            <a:pPr marL="0" indent="0">
              <a:buNone/>
            </a:pPr>
            <a:r>
              <a:rPr lang="en-US" sz="1200" b="1" dirty="0">
                <a:solidFill>
                  <a:srgbClr val="7EC8E3"/>
                </a:solidFill>
                <a:latin typeface="Calibri" pitchFamily="34" charset="0"/>
                <a:ea typeface="Calibri" pitchFamily="34" charset="-122"/>
                <a:cs typeface="Calibri" pitchFamily="34" charset="-120"/>
              </a:rPr>
              <a:t>Why Colour Saturation Has Little Effect</a:t>
            </a:r>
            <a:endParaRPr lang="en-US" sz="1200" dirty="0"/>
          </a:p>
        </p:txBody>
      </p:sp>
      <p:sp>
        <p:nvSpPr>
          <p:cNvPr id="15" name="Text 13"/>
          <p:cNvSpPr/>
          <p:nvPr/>
        </p:nvSpPr>
        <p:spPr>
          <a:xfrm>
            <a:off x="4864608" y="1463040"/>
            <a:ext cx="3840480" cy="1426464"/>
          </a:xfrm>
          <a:prstGeom prst="rect">
            <a:avLst/>
          </a:prstGeom>
          <a:noFill/>
          <a:ln/>
        </p:spPr>
        <p:txBody>
          <a:bodyPr wrap="square" rtlCol="0" anchor="ctr"/>
          <a:lstStyle/>
          <a:p>
            <a:pPr marL="0" indent="0">
              <a:buNone/>
            </a:pPr>
            <a:r>
              <a:rPr lang="en-US" sz="1050" dirty="0">
                <a:solidFill>
                  <a:srgbClr val="B0C4DE"/>
                </a:solidFill>
                <a:latin typeface="Calibri" pitchFamily="34" charset="0"/>
                <a:ea typeface="Calibri" pitchFamily="34" charset="-122"/>
                <a:cs typeface="Calibri" pitchFamily="34" charset="-120"/>
              </a:rPr>
              <a:t>Saturation adjustments alter the intensity of colour channels uniformly — they do not change spatial structure, edge patterns, or frequency content. The spatial features and texture gradients the model relies on are invariant to global colour saturation, so prediction quality is largely preserved (AUC = 0.931).</a:t>
            </a:r>
            <a:endParaRPr lang="en-US" sz="1050" dirty="0"/>
          </a:p>
        </p:txBody>
      </p:sp>
      <p:sp>
        <p:nvSpPr>
          <p:cNvPr id="16" name="Shape 14"/>
          <p:cNvSpPr/>
          <p:nvPr/>
        </p:nvSpPr>
        <p:spPr>
          <a:xfrm>
            <a:off x="4663440" y="3072384"/>
            <a:ext cx="4114800" cy="1965960"/>
          </a:xfrm>
          <a:prstGeom prst="roundRect">
            <a:avLst>
              <a:gd name="adj" fmla="val 4186"/>
            </a:avLst>
          </a:prstGeom>
          <a:solidFill>
            <a:srgbClr val="162638"/>
          </a:solidFill>
          <a:ln/>
          <a:effectLst>
            <a:outerShdw blurRad="101600" dist="38100" dir="2700000" algn="bl" rotWithShape="0">
              <a:srgbClr val="000000">
                <a:alpha val="25000"/>
              </a:srgbClr>
            </a:outerShdw>
          </a:effectLst>
        </p:spPr>
      </p:sp>
      <p:sp>
        <p:nvSpPr>
          <p:cNvPr id="17" name="Shape 15"/>
          <p:cNvSpPr/>
          <p:nvPr/>
        </p:nvSpPr>
        <p:spPr>
          <a:xfrm>
            <a:off x="4736592" y="3163824"/>
            <a:ext cx="54864" cy="1645920"/>
          </a:xfrm>
          <a:prstGeom prst="rect">
            <a:avLst/>
          </a:prstGeom>
          <a:solidFill>
            <a:srgbClr val="FF9F40"/>
          </a:solidFill>
          <a:ln/>
        </p:spPr>
      </p:sp>
      <p:sp>
        <p:nvSpPr>
          <p:cNvPr id="18" name="Text 16"/>
          <p:cNvSpPr/>
          <p:nvPr/>
        </p:nvSpPr>
        <p:spPr>
          <a:xfrm>
            <a:off x="4864608" y="3163824"/>
            <a:ext cx="3840480" cy="365760"/>
          </a:xfrm>
          <a:prstGeom prst="rect">
            <a:avLst/>
          </a:prstGeom>
          <a:noFill/>
          <a:ln/>
        </p:spPr>
        <p:txBody>
          <a:bodyPr wrap="square" rtlCol="0" anchor="ctr"/>
          <a:lstStyle/>
          <a:p>
            <a:pPr marL="0" indent="0">
              <a:buNone/>
            </a:pPr>
            <a:r>
              <a:rPr lang="en-US" sz="1200" b="1" dirty="0">
                <a:solidFill>
                  <a:srgbClr val="FF9F40"/>
                </a:solidFill>
                <a:latin typeface="Calibri" pitchFamily="34" charset="0"/>
                <a:ea typeface="Calibri" pitchFamily="34" charset="-122"/>
                <a:cs typeface="Calibri" pitchFamily="34" charset="-120"/>
              </a:rPr>
              <a:t>Limitations of Frame-Based Detection</a:t>
            </a:r>
            <a:endParaRPr lang="en-US" sz="1200" dirty="0"/>
          </a:p>
        </p:txBody>
      </p:sp>
      <p:sp>
        <p:nvSpPr>
          <p:cNvPr id="19" name="Text 17"/>
          <p:cNvSpPr/>
          <p:nvPr/>
        </p:nvSpPr>
        <p:spPr>
          <a:xfrm>
            <a:off x="4864608" y="3547872"/>
            <a:ext cx="3840480" cy="1426464"/>
          </a:xfrm>
          <a:prstGeom prst="rect">
            <a:avLst/>
          </a:prstGeom>
          <a:noFill/>
          <a:ln/>
        </p:spPr>
        <p:txBody>
          <a:bodyPr wrap="square" rtlCol="0" anchor="ctr"/>
          <a:lstStyle/>
          <a:p>
            <a:pPr marL="0" indent="0">
              <a:buNone/>
            </a:pPr>
            <a:r>
              <a:rPr lang="en-US" sz="1050" dirty="0">
                <a:solidFill>
                  <a:srgbClr val="B0C4DE"/>
                </a:solidFill>
                <a:latin typeface="Calibri" pitchFamily="34" charset="0"/>
                <a:ea typeface="Calibri" pitchFamily="34" charset="-122"/>
                <a:cs typeface="Calibri" pitchFamily="34" charset="-120"/>
              </a:rPr>
              <a:t>Frame-level detection discards temporal consistency — inter-frame artefacts such as flickering, unnatural blinking, or inconsistent head motion are invisible to our model. Additionally, each frame is evaluated independently, so a single very blurry or occluded frame can produce an incorrect prediction with no corrective signal from neighbouring frames.</a:t>
            </a:r>
            <a:endParaRPr lang="en-US" sz="10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F1B2D"/>
        </a:solidFill>
        <a:effectLst/>
      </p:bgPr>
    </p:bg>
    <p:spTree>
      <p:nvGrpSpPr>
        <p:cNvPr id="1" name=""/>
        <p:cNvGrpSpPr/>
        <p:nvPr/>
      </p:nvGrpSpPr>
      <p:grpSpPr>
        <a:xfrm>
          <a:off x="0" y="0"/>
          <a:ext cx="0" cy="0"/>
          <a:chOff x="0" y="0"/>
          <a:chExt cx="0" cy="0"/>
        </a:xfrm>
      </p:grpSpPr>
      <p:sp>
        <p:nvSpPr>
          <p:cNvPr id="2" name="Shape 0"/>
          <p:cNvSpPr/>
          <p:nvPr/>
        </p:nvSpPr>
        <p:spPr>
          <a:xfrm>
            <a:off x="-731520" y="-731520"/>
            <a:ext cx="4114800" cy="4114800"/>
          </a:xfrm>
          <a:prstGeom prst="ellipse">
            <a:avLst/>
          </a:prstGeom>
          <a:solidFill>
            <a:srgbClr val="00C9A7">
              <a:alpha val="7000"/>
            </a:srgbClr>
          </a:solidFill>
          <a:ln/>
        </p:spPr>
      </p:sp>
      <p:sp>
        <p:nvSpPr>
          <p:cNvPr id="3" name="Shape 1"/>
          <p:cNvSpPr/>
          <p:nvPr/>
        </p:nvSpPr>
        <p:spPr>
          <a:xfrm>
            <a:off x="6583680" y="2560320"/>
            <a:ext cx="3200400" cy="3200400"/>
          </a:xfrm>
          <a:prstGeom prst="ellipse">
            <a:avLst/>
          </a:prstGeom>
          <a:solidFill>
            <a:srgbClr val="00C9A7">
              <a:alpha val="7000"/>
            </a:srgbClr>
          </a:solidFill>
          <a:ln/>
        </p:spPr>
      </p:sp>
      <p:sp>
        <p:nvSpPr>
          <p:cNvPr id="4" name="Text 2"/>
          <p:cNvSpPr/>
          <p:nvPr/>
        </p:nvSpPr>
        <p:spPr>
          <a:xfrm>
            <a:off x="457200" y="292608"/>
            <a:ext cx="8229600" cy="594360"/>
          </a:xfrm>
          <a:prstGeom prst="rect">
            <a:avLst/>
          </a:prstGeom>
          <a:noFill/>
          <a:ln/>
        </p:spPr>
        <p:txBody>
          <a:bodyPr wrap="square" rtlCol="0" anchor="ctr"/>
          <a:lstStyle/>
          <a:p>
            <a:pPr marL="0" indent="0" algn="ctr">
              <a:buNone/>
            </a:pPr>
            <a:r>
              <a:rPr lang="en-US" sz="3400" b="1" dirty="0">
                <a:solidFill>
                  <a:srgbClr val="FFFFFF"/>
                </a:solidFill>
                <a:latin typeface="Cambria" pitchFamily="34" charset="0"/>
                <a:ea typeface="Cambria" pitchFamily="34" charset="-122"/>
                <a:cs typeface="Cambria" pitchFamily="34" charset="-120"/>
              </a:rPr>
              <a:t>Conclusion</a:t>
            </a:r>
            <a:endParaRPr lang="en-US" sz="3400" dirty="0"/>
          </a:p>
        </p:txBody>
      </p:sp>
      <p:sp>
        <p:nvSpPr>
          <p:cNvPr id="5" name="Shape 3"/>
          <p:cNvSpPr/>
          <p:nvPr/>
        </p:nvSpPr>
        <p:spPr>
          <a:xfrm>
            <a:off x="3383280" y="914400"/>
            <a:ext cx="2377440" cy="27432"/>
          </a:xfrm>
          <a:prstGeom prst="rect">
            <a:avLst/>
          </a:prstGeom>
          <a:solidFill>
            <a:srgbClr val="00C9A7"/>
          </a:solidFill>
          <a:ln/>
        </p:spPr>
      </p:sp>
      <p:sp>
        <p:nvSpPr>
          <p:cNvPr id="6" name="Shape 4"/>
          <p:cNvSpPr/>
          <p:nvPr/>
        </p:nvSpPr>
        <p:spPr>
          <a:xfrm>
            <a:off x="457200" y="1078992"/>
            <a:ext cx="8229600" cy="667512"/>
          </a:xfrm>
          <a:prstGeom prst="roundRect">
            <a:avLst>
              <a:gd name="adj" fmla="val 12329"/>
            </a:avLst>
          </a:prstGeom>
          <a:solidFill>
            <a:srgbClr val="162638"/>
          </a:solidFill>
          <a:ln/>
          <a:effectLst>
            <a:outerShdw blurRad="101600" dist="38100" dir="2700000" algn="bl" rotWithShape="0">
              <a:srgbClr val="000000">
                <a:alpha val="25000"/>
              </a:srgbClr>
            </a:outerShdw>
          </a:effectLst>
        </p:spPr>
      </p:sp>
      <p:sp>
        <p:nvSpPr>
          <p:cNvPr id="7" name="Shape 5"/>
          <p:cNvSpPr/>
          <p:nvPr/>
        </p:nvSpPr>
        <p:spPr>
          <a:xfrm>
            <a:off x="548640" y="1261872"/>
            <a:ext cx="292608" cy="292608"/>
          </a:xfrm>
          <a:prstGeom prst="ellipse">
            <a:avLst/>
          </a:prstGeom>
          <a:solidFill>
            <a:srgbClr val="00C9A7">
              <a:alpha val="80000"/>
            </a:srgbClr>
          </a:solidFill>
          <a:ln/>
        </p:spPr>
      </p:sp>
      <p:sp>
        <p:nvSpPr>
          <p:cNvPr id="8" name="Text 6"/>
          <p:cNvSpPr/>
          <p:nvPr/>
        </p:nvSpPr>
        <p:spPr>
          <a:xfrm>
            <a:off x="548640" y="1261872"/>
            <a:ext cx="292608" cy="292608"/>
          </a:xfrm>
          <a:prstGeom prst="rect">
            <a:avLst/>
          </a:prstGeom>
          <a:noFill/>
          <a:ln/>
        </p:spPr>
        <p:txBody>
          <a:bodyPr wrap="square" lIns="0" tIns="0" rIns="0" bIns="0" rtlCol="0" anchor="ctr"/>
          <a:lstStyle/>
          <a:p>
            <a:pPr marL="0" indent="0" algn="ctr">
              <a:buNone/>
            </a:pPr>
            <a:r>
              <a:rPr lang="en-US" sz="1100" b="1" dirty="0">
                <a:solidFill>
                  <a:srgbClr val="0F1B2D"/>
                </a:solidFill>
              </a:rPr>
              <a:t>1</a:t>
            </a:r>
            <a:endParaRPr lang="en-US" sz="1100" dirty="0"/>
          </a:p>
        </p:txBody>
      </p:sp>
      <p:sp>
        <p:nvSpPr>
          <p:cNvPr id="9" name="Text 7"/>
          <p:cNvSpPr/>
          <p:nvPr/>
        </p:nvSpPr>
        <p:spPr>
          <a:xfrm>
            <a:off x="960120" y="1115568"/>
            <a:ext cx="2194560" cy="301752"/>
          </a:xfrm>
          <a:prstGeom prst="rect">
            <a:avLst/>
          </a:prstGeom>
          <a:noFill/>
          <a:ln/>
        </p:spPr>
        <p:txBody>
          <a:bodyPr wrap="square" rtlCol="0" anchor="ctr"/>
          <a:lstStyle/>
          <a:p>
            <a:pPr marL="0" indent="0">
              <a:buNone/>
            </a:pPr>
            <a:r>
              <a:rPr lang="en-US" sz="1200" b="1" dirty="0">
                <a:solidFill>
                  <a:srgbClr val="00C9A7"/>
                </a:solidFill>
                <a:latin typeface="Calibri" pitchFamily="34" charset="0"/>
                <a:ea typeface="Calibri" pitchFamily="34" charset="-122"/>
                <a:cs typeface="Calibri" pitchFamily="34" charset="-120"/>
              </a:rPr>
              <a:t>Strong Baseline Performance: </a:t>
            </a:r>
            <a:endParaRPr lang="en-US" sz="1200" dirty="0"/>
          </a:p>
        </p:txBody>
      </p:sp>
      <p:sp>
        <p:nvSpPr>
          <p:cNvPr id="10" name="Text 8"/>
          <p:cNvSpPr/>
          <p:nvPr/>
        </p:nvSpPr>
        <p:spPr>
          <a:xfrm>
            <a:off x="3200400" y="1115568"/>
            <a:ext cx="5413248" cy="621792"/>
          </a:xfrm>
          <a:prstGeom prst="rect">
            <a:avLst/>
          </a:prstGeom>
          <a:noFill/>
          <a:ln/>
        </p:spPr>
        <p:txBody>
          <a:bodyPr wrap="square" rtlCol="0" anchor="ctr"/>
          <a:lstStyle/>
          <a:p>
            <a:pPr marL="0" indent="0">
              <a:buNone/>
            </a:pPr>
            <a:r>
              <a:rPr lang="en-US" sz="1100" dirty="0">
                <a:solidFill>
                  <a:srgbClr val="B0C4DE"/>
                </a:solidFill>
                <a:latin typeface="Calibri" pitchFamily="34" charset="0"/>
                <a:ea typeface="Calibri" pitchFamily="34" charset="-122"/>
                <a:cs typeface="Calibri" pitchFamily="34" charset="-120"/>
              </a:rPr>
              <a:t>EfficientNet-B0 fine-tuned on Celeb-DF v2 achieves AUC = 0.9573 and 91.4% test accuracy — competitive with data-driven methods in the benchmark paper.</a:t>
            </a:r>
            <a:endParaRPr lang="en-US" sz="1100" dirty="0"/>
          </a:p>
        </p:txBody>
      </p:sp>
      <p:sp>
        <p:nvSpPr>
          <p:cNvPr id="11" name="Shape 9"/>
          <p:cNvSpPr/>
          <p:nvPr/>
        </p:nvSpPr>
        <p:spPr>
          <a:xfrm>
            <a:off x="457200" y="1837944"/>
            <a:ext cx="8229600" cy="667512"/>
          </a:xfrm>
          <a:prstGeom prst="roundRect">
            <a:avLst>
              <a:gd name="adj" fmla="val 12329"/>
            </a:avLst>
          </a:prstGeom>
          <a:solidFill>
            <a:srgbClr val="162638"/>
          </a:solidFill>
          <a:ln/>
          <a:effectLst>
            <a:outerShdw blurRad="101600" dist="38100" dir="2700000" algn="bl" rotWithShape="0">
              <a:srgbClr val="000000">
                <a:alpha val="25000"/>
              </a:srgbClr>
            </a:outerShdw>
          </a:effectLst>
        </p:spPr>
      </p:sp>
      <p:sp>
        <p:nvSpPr>
          <p:cNvPr id="12" name="Shape 10"/>
          <p:cNvSpPr/>
          <p:nvPr/>
        </p:nvSpPr>
        <p:spPr>
          <a:xfrm>
            <a:off x="548640" y="2020824"/>
            <a:ext cx="292608" cy="292608"/>
          </a:xfrm>
          <a:prstGeom prst="ellipse">
            <a:avLst/>
          </a:prstGeom>
          <a:solidFill>
            <a:srgbClr val="FFD93D">
              <a:alpha val="80000"/>
            </a:srgbClr>
          </a:solidFill>
          <a:ln/>
        </p:spPr>
      </p:sp>
      <p:sp>
        <p:nvSpPr>
          <p:cNvPr id="13" name="Text 11"/>
          <p:cNvSpPr/>
          <p:nvPr/>
        </p:nvSpPr>
        <p:spPr>
          <a:xfrm>
            <a:off x="548640" y="2020824"/>
            <a:ext cx="292608" cy="292608"/>
          </a:xfrm>
          <a:prstGeom prst="rect">
            <a:avLst/>
          </a:prstGeom>
          <a:noFill/>
          <a:ln/>
        </p:spPr>
        <p:txBody>
          <a:bodyPr wrap="square" lIns="0" tIns="0" rIns="0" bIns="0" rtlCol="0" anchor="ctr"/>
          <a:lstStyle/>
          <a:p>
            <a:pPr marL="0" indent="0" algn="ctr">
              <a:buNone/>
            </a:pPr>
            <a:r>
              <a:rPr lang="en-US" sz="1100" b="1" dirty="0">
                <a:solidFill>
                  <a:srgbClr val="0F1B2D"/>
                </a:solidFill>
              </a:rPr>
              <a:t>2</a:t>
            </a:r>
            <a:endParaRPr lang="en-US" sz="1100" dirty="0"/>
          </a:p>
        </p:txBody>
      </p:sp>
      <p:sp>
        <p:nvSpPr>
          <p:cNvPr id="14" name="Text 12"/>
          <p:cNvSpPr/>
          <p:nvPr/>
        </p:nvSpPr>
        <p:spPr>
          <a:xfrm>
            <a:off x="960120" y="1874520"/>
            <a:ext cx="2194560" cy="301752"/>
          </a:xfrm>
          <a:prstGeom prst="rect">
            <a:avLst/>
          </a:prstGeom>
          <a:noFill/>
          <a:ln/>
        </p:spPr>
        <p:txBody>
          <a:bodyPr wrap="square" rtlCol="0" anchor="ctr"/>
          <a:lstStyle/>
          <a:p>
            <a:pPr marL="0" indent="0">
              <a:buNone/>
            </a:pPr>
            <a:r>
              <a:rPr lang="en-US" sz="1200" b="1" dirty="0">
                <a:solidFill>
                  <a:srgbClr val="FFD93D"/>
                </a:solidFill>
                <a:latin typeface="Calibri" pitchFamily="34" charset="0"/>
                <a:ea typeface="Calibri" pitchFamily="34" charset="-122"/>
                <a:cs typeface="Calibri" pitchFamily="34" charset="-120"/>
              </a:rPr>
              <a:t>Noise is the Critical Vulnerability: </a:t>
            </a:r>
            <a:endParaRPr lang="en-US" sz="1200" dirty="0"/>
          </a:p>
        </p:txBody>
      </p:sp>
      <p:sp>
        <p:nvSpPr>
          <p:cNvPr id="15" name="Text 13"/>
          <p:cNvSpPr/>
          <p:nvPr/>
        </p:nvSpPr>
        <p:spPr>
          <a:xfrm>
            <a:off x="3200400" y="1874520"/>
            <a:ext cx="5413248" cy="621792"/>
          </a:xfrm>
          <a:prstGeom prst="rect">
            <a:avLst/>
          </a:prstGeom>
          <a:noFill/>
          <a:ln/>
        </p:spPr>
        <p:txBody>
          <a:bodyPr wrap="square" rtlCol="0" anchor="ctr"/>
          <a:lstStyle/>
          <a:p>
            <a:pPr marL="0" indent="0">
              <a:buNone/>
            </a:pPr>
            <a:r>
              <a:rPr lang="en-US" sz="1100" dirty="0">
                <a:solidFill>
                  <a:srgbClr val="B0C4DE"/>
                </a:solidFill>
                <a:latin typeface="Calibri" pitchFamily="34" charset="0"/>
                <a:ea typeface="Calibri" pitchFamily="34" charset="-122"/>
                <a:cs typeface="Calibri" pitchFamily="34" charset="-120"/>
              </a:rPr>
              <a:t>AUC degrades to 0.521 under White Gaussian Noise — near random. This confirms that data-driven detectors rely on fragile high-frequency features.</a:t>
            </a:r>
            <a:endParaRPr lang="en-US" sz="1100" dirty="0"/>
          </a:p>
        </p:txBody>
      </p:sp>
      <p:sp>
        <p:nvSpPr>
          <p:cNvPr id="16" name="Shape 14"/>
          <p:cNvSpPr/>
          <p:nvPr/>
        </p:nvSpPr>
        <p:spPr>
          <a:xfrm>
            <a:off x="457200" y="2596896"/>
            <a:ext cx="8229600" cy="667512"/>
          </a:xfrm>
          <a:prstGeom prst="roundRect">
            <a:avLst>
              <a:gd name="adj" fmla="val 12329"/>
            </a:avLst>
          </a:prstGeom>
          <a:solidFill>
            <a:srgbClr val="162638"/>
          </a:solidFill>
          <a:ln/>
          <a:effectLst>
            <a:outerShdw blurRad="101600" dist="38100" dir="2700000" algn="bl" rotWithShape="0">
              <a:srgbClr val="000000">
                <a:alpha val="25000"/>
              </a:srgbClr>
            </a:outerShdw>
          </a:effectLst>
        </p:spPr>
      </p:sp>
      <p:sp>
        <p:nvSpPr>
          <p:cNvPr id="17" name="Shape 15"/>
          <p:cNvSpPr/>
          <p:nvPr/>
        </p:nvSpPr>
        <p:spPr>
          <a:xfrm>
            <a:off x="548640" y="2779776"/>
            <a:ext cx="292608" cy="292608"/>
          </a:xfrm>
          <a:prstGeom prst="ellipse">
            <a:avLst/>
          </a:prstGeom>
          <a:solidFill>
            <a:srgbClr val="7EC8E3">
              <a:alpha val="80000"/>
            </a:srgbClr>
          </a:solidFill>
          <a:ln/>
        </p:spPr>
      </p:sp>
      <p:sp>
        <p:nvSpPr>
          <p:cNvPr id="18" name="Text 16"/>
          <p:cNvSpPr/>
          <p:nvPr/>
        </p:nvSpPr>
        <p:spPr>
          <a:xfrm>
            <a:off x="548640" y="2779776"/>
            <a:ext cx="292608" cy="292608"/>
          </a:xfrm>
          <a:prstGeom prst="rect">
            <a:avLst/>
          </a:prstGeom>
          <a:noFill/>
          <a:ln/>
        </p:spPr>
        <p:txBody>
          <a:bodyPr wrap="square" lIns="0" tIns="0" rIns="0" bIns="0" rtlCol="0" anchor="ctr"/>
          <a:lstStyle/>
          <a:p>
            <a:pPr marL="0" indent="0" algn="ctr">
              <a:buNone/>
            </a:pPr>
            <a:r>
              <a:rPr lang="en-US" sz="1100" b="1" dirty="0">
                <a:solidFill>
                  <a:srgbClr val="0F1B2D"/>
                </a:solidFill>
              </a:rPr>
              <a:t>3</a:t>
            </a:r>
            <a:endParaRPr lang="en-US" sz="1100" dirty="0"/>
          </a:p>
        </p:txBody>
      </p:sp>
      <p:sp>
        <p:nvSpPr>
          <p:cNvPr id="19" name="Text 17"/>
          <p:cNvSpPr/>
          <p:nvPr/>
        </p:nvSpPr>
        <p:spPr>
          <a:xfrm>
            <a:off x="960120" y="2633472"/>
            <a:ext cx="2194560" cy="301752"/>
          </a:xfrm>
          <a:prstGeom prst="rect">
            <a:avLst/>
          </a:prstGeom>
          <a:noFill/>
          <a:ln/>
        </p:spPr>
        <p:txBody>
          <a:bodyPr wrap="square" rtlCol="0" anchor="ctr"/>
          <a:lstStyle/>
          <a:p>
            <a:pPr marL="0" indent="0">
              <a:buNone/>
            </a:pPr>
            <a:r>
              <a:rPr lang="en-US" sz="1200" b="1" dirty="0">
                <a:solidFill>
                  <a:srgbClr val="7EC8E3"/>
                </a:solidFill>
                <a:latin typeface="Calibri" pitchFamily="34" charset="0"/>
                <a:ea typeface="Calibri" pitchFamily="34" charset="-122"/>
                <a:cs typeface="Calibri" pitchFamily="34" charset="-120"/>
              </a:rPr>
              <a:t>JPEG &amp; Saturation are Robust: </a:t>
            </a:r>
            <a:endParaRPr lang="en-US" sz="1200" dirty="0"/>
          </a:p>
        </p:txBody>
      </p:sp>
      <p:sp>
        <p:nvSpPr>
          <p:cNvPr id="20" name="Text 18"/>
          <p:cNvSpPr/>
          <p:nvPr/>
        </p:nvSpPr>
        <p:spPr>
          <a:xfrm>
            <a:off x="3200400" y="2633472"/>
            <a:ext cx="5413248" cy="621792"/>
          </a:xfrm>
          <a:prstGeom prst="rect">
            <a:avLst/>
          </a:prstGeom>
          <a:noFill/>
          <a:ln/>
        </p:spPr>
        <p:txBody>
          <a:bodyPr wrap="square" rtlCol="0" anchor="ctr"/>
          <a:lstStyle/>
          <a:p>
            <a:pPr marL="0" indent="0">
              <a:buNone/>
            </a:pPr>
            <a:r>
              <a:rPr lang="en-US" sz="1100" dirty="0">
                <a:solidFill>
                  <a:srgbClr val="B0C4DE"/>
                </a:solidFill>
                <a:latin typeface="Calibri" pitchFamily="34" charset="0"/>
                <a:ea typeface="Calibri" pitchFamily="34" charset="-122"/>
                <a:cs typeface="Calibri" pitchFamily="34" charset="-120"/>
              </a:rPr>
              <a:t>The model is robust to the most common social media post-processing (JPEG: AUC = 0.916, Saturation: AUC = 0.931), suggesting practical deployability.</a:t>
            </a:r>
            <a:endParaRPr lang="en-US" sz="1100" dirty="0"/>
          </a:p>
        </p:txBody>
      </p:sp>
      <p:sp>
        <p:nvSpPr>
          <p:cNvPr id="21" name="Shape 19"/>
          <p:cNvSpPr/>
          <p:nvPr/>
        </p:nvSpPr>
        <p:spPr>
          <a:xfrm>
            <a:off x="457200" y="3355848"/>
            <a:ext cx="8229600" cy="667512"/>
          </a:xfrm>
          <a:prstGeom prst="roundRect">
            <a:avLst>
              <a:gd name="adj" fmla="val 12329"/>
            </a:avLst>
          </a:prstGeom>
          <a:solidFill>
            <a:srgbClr val="162638"/>
          </a:solidFill>
          <a:ln/>
          <a:effectLst>
            <a:outerShdw blurRad="101600" dist="38100" dir="2700000" algn="bl" rotWithShape="0">
              <a:srgbClr val="000000">
                <a:alpha val="25000"/>
              </a:srgbClr>
            </a:outerShdw>
          </a:effectLst>
        </p:spPr>
      </p:sp>
      <p:sp>
        <p:nvSpPr>
          <p:cNvPr id="22" name="Shape 20"/>
          <p:cNvSpPr/>
          <p:nvPr/>
        </p:nvSpPr>
        <p:spPr>
          <a:xfrm>
            <a:off x="548640" y="3538728"/>
            <a:ext cx="292608" cy="292608"/>
          </a:xfrm>
          <a:prstGeom prst="ellipse">
            <a:avLst/>
          </a:prstGeom>
          <a:solidFill>
            <a:srgbClr val="FF9F40">
              <a:alpha val="80000"/>
            </a:srgbClr>
          </a:solidFill>
          <a:ln/>
        </p:spPr>
      </p:sp>
      <p:sp>
        <p:nvSpPr>
          <p:cNvPr id="23" name="Text 21"/>
          <p:cNvSpPr/>
          <p:nvPr/>
        </p:nvSpPr>
        <p:spPr>
          <a:xfrm>
            <a:off x="548640" y="3538728"/>
            <a:ext cx="292608" cy="292608"/>
          </a:xfrm>
          <a:prstGeom prst="rect">
            <a:avLst/>
          </a:prstGeom>
          <a:noFill/>
          <a:ln/>
        </p:spPr>
        <p:txBody>
          <a:bodyPr wrap="square" lIns="0" tIns="0" rIns="0" bIns="0" rtlCol="0" anchor="ctr"/>
          <a:lstStyle/>
          <a:p>
            <a:pPr marL="0" indent="0" algn="ctr">
              <a:buNone/>
            </a:pPr>
            <a:r>
              <a:rPr lang="en-US" sz="1100" b="1" dirty="0">
                <a:solidFill>
                  <a:srgbClr val="0F1B2D"/>
                </a:solidFill>
              </a:rPr>
              <a:t>4</a:t>
            </a:r>
            <a:endParaRPr lang="en-US" sz="1100" dirty="0"/>
          </a:p>
        </p:txBody>
      </p:sp>
      <p:sp>
        <p:nvSpPr>
          <p:cNvPr id="24" name="Text 22"/>
          <p:cNvSpPr/>
          <p:nvPr/>
        </p:nvSpPr>
        <p:spPr>
          <a:xfrm>
            <a:off x="960120" y="3392424"/>
            <a:ext cx="2194560" cy="301752"/>
          </a:xfrm>
          <a:prstGeom prst="rect">
            <a:avLst/>
          </a:prstGeom>
          <a:noFill/>
          <a:ln/>
        </p:spPr>
        <p:txBody>
          <a:bodyPr wrap="square" rtlCol="0" anchor="ctr"/>
          <a:lstStyle/>
          <a:p>
            <a:pPr marL="0" indent="0">
              <a:buNone/>
            </a:pPr>
            <a:r>
              <a:rPr lang="en-US" sz="1200" b="1" dirty="0">
                <a:solidFill>
                  <a:srgbClr val="FF9F40"/>
                </a:solidFill>
                <a:latin typeface="Calibri" pitchFamily="34" charset="0"/>
                <a:ea typeface="Calibri" pitchFamily="34" charset="-122"/>
                <a:cs typeface="Calibri" pitchFamily="34" charset="-120"/>
              </a:rPr>
              <a:t>Methodology Faithfully Replicates Paper: </a:t>
            </a:r>
            <a:endParaRPr lang="en-US" sz="1200" dirty="0"/>
          </a:p>
        </p:txBody>
      </p:sp>
      <p:sp>
        <p:nvSpPr>
          <p:cNvPr id="25" name="Text 23"/>
          <p:cNvSpPr/>
          <p:nvPr/>
        </p:nvSpPr>
        <p:spPr>
          <a:xfrm>
            <a:off x="3200400" y="3392424"/>
            <a:ext cx="5413248" cy="621792"/>
          </a:xfrm>
          <a:prstGeom prst="rect">
            <a:avLst/>
          </a:prstGeom>
          <a:noFill/>
          <a:ln/>
        </p:spPr>
        <p:txBody>
          <a:bodyPr wrap="square" rtlCol="0" anchor="ctr"/>
          <a:lstStyle/>
          <a:p>
            <a:pPr marL="0" indent="0">
              <a:buNone/>
            </a:pPr>
            <a:r>
              <a:rPr lang="en-US" sz="1100" dirty="0">
                <a:solidFill>
                  <a:srgbClr val="B0C4DE"/>
                </a:solidFill>
                <a:latin typeface="Calibri" pitchFamily="34" charset="0"/>
                <a:ea typeface="Calibri" pitchFamily="34" charset="-122"/>
                <a:cs typeface="Calibri" pitchFamily="34" charset="-120"/>
              </a:rPr>
              <a:t>All 5 perturbation types, parameter ranges, and evaluation protocol match Deng et al. 2024 exactly — enabling direct comparison.</a:t>
            </a:r>
            <a:endParaRPr lang="en-US" sz="1100" dirty="0"/>
          </a:p>
        </p:txBody>
      </p:sp>
      <p:sp>
        <p:nvSpPr>
          <p:cNvPr id="26" name="Shape 24"/>
          <p:cNvSpPr/>
          <p:nvPr/>
        </p:nvSpPr>
        <p:spPr>
          <a:xfrm>
            <a:off x="457200" y="4114800"/>
            <a:ext cx="8229600" cy="667512"/>
          </a:xfrm>
          <a:prstGeom prst="roundRect">
            <a:avLst>
              <a:gd name="adj" fmla="val 12329"/>
            </a:avLst>
          </a:prstGeom>
          <a:solidFill>
            <a:srgbClr val="162638"/>
          </a:solidFill>
          <a:ln/>
          <a:effectLst>
            <a:outerShdw blurRad="101600" dist="38100" dir="2700000" algn="bl" rotWithShape="0">
              <a:srgbClr val="000000">
                <a:alpha val="25000"/>
              </a:srgbClr>
            </a:outerShdw>
          </a:effectLst>
        </p:spPr>
      </p:sp>
      <p:sp>
        <p:nvSpPr>
          <p:cNvPr id="27" name="Shape 25"/>
          <p:cNvSpPr/>
          <p:nvPr/>
        </p:nvSpPr>
        <p:spPr>
          <a:xfrm>
            <a:off x="548640" y="4297680"/>
            <a:ext cx="292608" cy="292608"/>
          </a:xfrm>
          <a:prstGeom prst="ellipse">
            <a:avLst/>
          </a:prstGeom>
          <a:solidFill>
            <a:srgbClr val="FF6B6B">
              <a:alpha val="80000"/>
            </a:srgbClr>
          </a:solidFill>
          <a:ln/>
        </p:spPr>
      </p:sp>
      <p:sp>
        <p:nvSpPr>
          <p:cNvPr id="28" name="Text 26"/>
          <p:cNvSpPr/>
          <p:nvPr/>
        </p:nvSpPr>
        <p:spPr>
          <a:xfrm>
            <a:off x="548640" y="4297680"/>
            <a:ext cx="292608" cy="292608"/>
          </a:xfrm>
          <a:prstGeom prst="rect">
            <a:avLst/>
          </a:prstGeom>
          <a:noFill/>
          <a:ln/>
        </p:spPr>
        <p:txBody>
          <a:bodyPr wrap="square" lIns="0" tIns="0" rIns="0" bIns="0" rtlCol="0" anchor="ctr"/>
          <a:lstStyle/>
          <a:p>
            <a:pPr marL="0" indent="0" algn="ctr">
              <a:buNone/>
            </a:pPr>
            <a:r>
              <a:rPr lang="en-US" sz="1100" b="1" dirty="0">
                <a:solidFill>
                  <a:srgbClr val="0F1B2D"/>
                </a:solidFill>
              </a:rPr>
              <a:t>5</a:t>
            </a:r>
            <a:endParaRPr lang="en-US" sz="1100" dirty="0"/>
          </a:p>
        </p:txBody>
      </p:sp>
      <p:sp>
        <p:nvSpPr>
          <p:cNvPr id="29" name="Text 27"/>
          <p:cNvSpPr/>
          <p:nvPr/>
        </p:nvSpPr>
        <p:spPr>
          <a:xfrm>
            <a:off x="960120" y="4151376"/>
            <a:ext cx="2194560" cy="301752"/>
          </a:xfrm>
          <a:prstGeom prst="rect">
            <a:avLst/>
          </a:prstGeom>
          <a:noFill/>
          <a:ln/>
        </p:spPr>
        <p:txBody>
          <a:bodyPr wrap="square" rtlCol="0" anchor="ctr"/>
          <a:lstStyle/>
          <a:p>
            <a:pPr marL="0" indent="0">
              <a:buNone/>
            </a:pPr>
            <a:r>
              <a:rPr lang="en-US" sz="1200" b="1" dirty="0">
                <a:solidFill>
                  <a:srgbClr val="FF6B6B"/>
                </a:solidFill>
                <a:latin typeface="Calibri" pitchFamily="34" charset="0"/>
                <a:ea typeface="Calibri" pitchFamily="34" charset="-122"/>
                <a:cs typeface="Calibri" pitchFamily="34" charset="-120"/>
              </a:rPr>
              <a:t>Frame-Level Limits Robustness: </a:t>
            </a:r>
            <a:endParaRPr lang="en-US" sz="1200" dirty="0"/>
          </a:p>
        </p:txBody>
      </p:sp>
      <p:sp>
        <p:nvSpPr>
          <p:cNvPr id="30" name="Text 28"/>
          <p:cNvSpPr/>
          <p:nvPr/>
        </p:nvSpPr>
        <p:spPr>
          <a:xfrm>
            <a:off x="3200400" y="4151376"/>
            <a:ext cx="5413248" cy="621792"/>
          </a:xfrm>
          <a:prstGeom prst="rect">
            <a:avLst/>
          </a:prstGeom>
          <a:noFill/>
          <a:ln/>
        </p:spPr>
        <p:txBody>
          <a:bodyPr wrap="square" rtlCol="0" anchor="ctr"/>
          <a:lstStyle/>
          <a:p>
            <a:pPr marL="0" indent="0">
              <a:buNone/>
            </a:pPr>
            <a:r>
              <a:rPr lang="en-US" sz="1100" dirty="0">
                <a:solidFill>
                  <a:srgbClr val="B0C4DE"/>
                </a:solidFill>
                <a:latin typeface="Calibri" pitchFamily="34" charset="0"/>
                <a:ea typeface="Calibri" pitchFamily="34" charset="-122"/>
                <a:cs typeface="Calibri" pitchFamily="34" charset="-120"/>
              </a:rPr>
              <a:t>Temporal consistency signals are untapped. Future work should combine spatial (EfficientNet) with temporal (LSTM/3D-CNN) streams for holistic detection.</a:t>
            </a:r>
            <a:endParaRPr lang="en-US" sz="1100" dirty="0"/>
          </a:p>
        </p:txBody>
      </p:sp>
      <p:sp>
        <p:nvSpPr>
          <p:cNvPr id="31" name="Text 29"/>
          <p:cNvSpPr/>
          <p:nvPr/>
        </p:nvSpPr>
        <p:spPr>
          <a:xfrm>
            <a:off x="0" y="4892040"/>
            <a:ext cx="9144000" cy="256032"/>
          </a:xfrm>
          <a:prstGeom prst="rect">
            <a:avLst/>
          </a:prstGeom>
          <a:noFill/>
          <a:ln/>
        </p:spPr>
        <p:txBody>
          <a:bodyPr wrap="square" rtlCol="0" anchor="ctr"/>
          <a:lstStyle/>
          <a:p>
            <a:pPr marL="0" indent="0" algn="ctr">
              <a:buNone/>
            </a:pPr>
            <a:r>
              <a:rPr lang="en-US" sz="1000" dirty="0">
                <a:solidFill>
                  <a:srgbClr val="5A7A9A"/>
                </a:solidFill>
                <a:latin typeface="Calibri" pitchFamily="34" charset="0"/>
                <a:ea typeface="Calibri" pitchFamily="34" charset="-122"/>
                <a:cs typeface="Calibri" pitchFamily="34" charset="-120"/>
              </a:rPr>
              <a:t>EE656 — Deepfake Detection  |  IIT Kanpur</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0F1B2D"/>
        </a:solidFill>
        <a:effectLst/>
      </p:bgPr>
    </p:bg>
    <p:spTree>
      <p:nvGrpSpPr>
        <p:cNvPr id="1" name="">
          <a:extLst>
            <a:ext uri="{FF2B5EF4-FFF2-40B4-BE49-F238E27FC236}">
              <a16:creationId xmlns:a16="http://schemas.microsoft.com/office/drawing/2014/main" id="{C58B44DF-F25A-7AD0-64F6-94A8BCB7E355}"/>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413AF7AC-A861-BCD3-F949-9A4CDA76292E}"/>
              </a:ext>
            </a:extLst>
          </p:cNvPr>
          <p:cNvSpPr/>
          <p:nvPr/>
        </p:nvSpPr>
        <p:spPr>
          <a:xfrm>
            <a:off x="-731520" y="-731520"/>
            <a:ext cx="4114800" cy="4114800"/>
          </a:xfrm>
          <a:prstGeom prst="ellipse">
            <a:avLst/>
          </a:prstGeom>
          <a:solidFill>
            <a:srgbClr val="00C9A7">
              <a:alpha val="7000"/>
            </a:srgbClr>
          </a:solidFill>
          <a:ln/>
        </p:spPr>
      </p:sp>
      <p:sp>
        <p:nvSpPr>
          <p:cNvPr id="3" name="Shape 1">
            <a:extLst>
              <a:ext uri="{FF2B5EF4-FFF2-40B4-BE49-F238E27FC236}">
                <a16:creationId xmlns:a16="http://schemas.microsoft.com/office/drawing/2014/main" id="{FDDD078D-C359-6E55-DBD8-A5E296A69C2C}"/>
              </a:ext>
            </a:extLst>
          </p:cNvPr>
          <p:cNvSpPr/>
          <p:nvPr/>
        </p:nvSpPr>
        <p:spPr>
          <a:xfrm>
            <a:off x="6583680" y="2560320"/>
            <a:ext cx="3200400" cy="3200400"/>
          </a:xfrm>
          <a:prstGeom prst="ellipse">
            <a:avLst/>
          </a:prstGeom>
          <a:solidFill>
            <a:srgbClr val="00C9A7">
              <a:alpha val="7000"/>
            </a:srgbClr>
          </a:solidFill>
          <a:ln/>
        </p:spPr>
      </p:sp>
      <p:sp>
        <p:nvSpPr>
          <p:cNvPr id="32" name="Rectangle 31">
            <a:extLst>
              <a:ext uri="{FF2B5EF4-FFF2-40B4-BE49-F238E27FC236}">
                <a16:creationId xmlns:a16="http://schemas.microsoft.com/office/drawing/2014/main" id="{25B566C0-797A-BF97-F771-0CCE7914D364}"/>
              </a:ext>
            </a:extLst>
          </p:cNvPr>
          <p:cNvSpPr/>
          <p:nvPr/>
        </p:nvSpPr>
        <p:spPr>
          <a:xfrm>
            <a:off x="1922703" y="297755"/>
            <a:ext cx="4546758" cy="923330"/>
          </a:xfrm>
          <a:prstGeom prst="rect">
            <a:avLst/>
          </a:prstGeom>
          <a:noFill/>
        </p:spPr>
        <p:txBody>
          <a:bodyPr wrap="none" lIns="91440" tIns="45720" rIns="91440" bIns="45720">
            <a:spAutoFit/>
          </a:bodyPr>
          <a:lstStyle/>
          <a:p>
            <a:pPr algn="ctr"/>
            <a:r>
              <a:rPr lang="en-US" sz="5400" b="0" cap="none" spc="0" dirty="0">
                <a:ln w="0"/>
                <a:solidFill>
                  <a:schemeClr val="bg2"/>
                </a:solidFill>
                <a:effectLst>
                  <a:outerShdw blurRad="38100" dist="19050" dir="2700000" algn="tl" rotWithShape="0">
                    <a:schemeClr val="dk1">
                      <a:alpha val="40000"/>
                    </a:schemeClr>
                  </a:outerShdw>
                </a:effectLst>
              </a:rPr>
              <a:t>Team Members</a:t>
            </a:r>
          </a:p>
        </p:txBody>
      </p:sp>
      <p:sp>
        <p:nvSpPr>
          <p:cNvPr id="33" name="Rectangle 32">
            <a:extLst>
              <a:ext uri="{FF2B5EF4-FFF2-40B4-BE49-F238E27FC236}">
                <a16:creationId xmlns:a16="http://schemas.microsoft.com/office/drawing/2014/main" id="{202F6E55-51A4-FF9C-24A5-41310AB63EBA}"/>
              </a:ext>
            </a:extLst>
          </p:cNvPr>
          <p:cNvSpPr/>
          <p:nvPr/>
        </p:nvSpPr>
        <p:spPr>
          <a:xfrm>
            <a:off x="949378" y="1693525"/>
            <a:ext cx="7245253" cy="2400657"/>
          </a:xfrm>
          <a:prstGeom prst="rect">
            <a:avLst/>
          </a:prstGeom>
          <a:noFill/>
        </p:spPr>
        <p:txBody>
          <a:bodyPr wrap="square" lIns="91440" tIns="45720" rIns="91440" bIns="45720">
            <a:spAutoFit/>
          </a:bodyPr>
          <a:lstStyle/>
          <a:p>
            <a:pPr marL="914400" indent="-914400">
              <a:buAutoNum type="arabicPeriod"/>
            </a:pPr>
            <a:r>
              <a:rPr lang="en-US" sz="3000" dirty="0">
                <a:ln w="0"/>
                <a:solidFill>
                  <a:schemeClr val="bg2"/>
                </a:solidFill>
                <a:effectLst>
                  <a:outerShdw blurRad="38100" dist="25400" dir="5400000" algn="ctr" rotWithShape="0">
                    <a:srgbClr val="6E747A">
                      <a:alpha val="43000"/>
                    </a:srgbClr>
                  </a:outerShdw>
                </a:effectLst>
              </a:rPr>
              <a:t>240008 Aaditya Singh</a:t>
            </a:r>
          </a:p>
          <a:p>
            <a:pPr marL="914400" indent="-914400">
              <a:buAutoNum type="arabicPeriod"/>
            </a:pPr>
            <a:r>
              <a:rPr lang="en-US" sz="3000" dirty="0">
                <a:ln w="0"/>
                <a:solidFill>
                  <a:schemeClr val="bg2"/>
                </a:solidFill>
                <a:effectLst>
                  <a:outerShdw blurRad="38100" dist="25400" dir="5400000" algn="ctr" rotWithShape="0">
                    <a:srgbClr val="6E747A">
                      <a:alpha val="43000"/>
                    </a:srgbClr>
                  </a:outerShdw>
                </a:effectLst>
              </a:rPr>
              <a:t>241070 Suryans kumar Verma</a:t>
            </a:r>
          </a:p>
          <a:p>
            <a:pPr marL="914400" indent="-914400">
              <a:buAutoNum type="arabicPeriod"/>
            </a:pPr>
            <a:r>
              <a:rPr lang="en-US" sz="3000" dirty="0">
                <a:ln w="0"/>
                <a:solidFill>
                  <a:schemeClr val="bg2"/>
                </a:solidFill>
                <a:effectLst>
                  <a:outerShdw blurRad="38100" dist="25400" dir="5400000" algn="ctr" rotWithShape="0">
                    <a:srgbClr val="6E747A">
                      <a:alpha val="43000"/>
                    </a:srgbClr>
                  </a:outerShdw>
                </a:effectLst>
              </a:rPr>
              <a:t>241191 Yagnik Parmar</a:t>
            </a:r>
          </a:p>
          <a:p>
            <a:pPr marL="914400" indent="-914400">
              <a:buAutoNum type="arabicPeriod"/>
            </a:pPr>
            <a:r>
              <a:rPr lang="en-US" sz="3000" dirty="0">
                <a:ln w="0"/>
                <a:solidFill>
                  <a:schemeClr val="bg2"/>
                </a:solidFill>
                <a:effectLst>
                  <a:outerShdw blurRad="38100" dist="25400" dir="5400000" algn="ctr" rotWithShape="0">
                    <a:srgbClr val="6E747A">
                      <a:alpha val="43000"/>
                    </a:srgbClr>
                  </a:outerShdw>
                </a:effectLst>
              </a:rPr>
              <a:t>241014 Siddharth Mahar</a:t>
            </a:r>
          </a:p>
          <a:p>
            <a:pPr marL="914400" indent="-914400">
              <a:buAutoNum type="arabicPeriod"/>
            </a:pPr>
            <a:r>
              <a:rPr lang="en-US" sz="3000" dirty="0">
                <a:ln w="0"/>
                <a:solidFill>
                  <a:schemeClr val="bg2"/>
                </a:solidFill>
                <a:effectLst>
                  <a:outerShdw blurRad="38100" dist="25400" dir="5400000" algn="ctr" rotWithShape="0">
                    <a:srgbClr val="6E747A">
                      <a:alpha val="43000"/>
                    </a:srgbClr>
                  </a:outerShdw>
                </a:effectLst>
              </a:rPr>
              <a:t>241055 </a:t>
            </a:r>
            <a:r>
              <a:rPr lang="en-US" sz="3000" dirty="0" err="1">
                <a:ln w="0"/>
                <a:solidFill>
                  <a:schemeClr val="bg2"/>
                </a:solidFill>
                <a:effectLst>
                  <a:outerShdw blurRad="38100" dist="25400" dir="5400000" algn="ctr" rotWithShape="0">
                    <a:srgbClr val="6E747A">
                      <a:alpha val="43000"/>
                    </a:srgbClr>
                  </a:outerShdw>
                </a:effectLst>
              </a:rPr>
              <a:t>Sumerdeep</a:t>
            </a:r>
            <a:r>
              <a:rPr lang="en-US" sz="3000" dirty="0">
                <a:ln w="0"/>
                <a:solidFill>
                  <a:schemeClr val="bg2"/>
                </a:solidFill>
                <a:effectLst>
                  <a:outerShdw blurRad="38100" dist="25400" dir="5400000" algn="ctr" rotWithShape="0">
                    <a:srgbClr val="6E747A">
                      <a:alpha val="43000"/>
                    </a:srgbClr>
                  </a:outerShdw>
                </a:effectLst>
              </a:rPr>
              <a:t> </a:t>
            </a:r>
            <a:endParaRPr lang="en-US" sz="3000" b="0" cap="none" spc="0" dirty="0">
              <a:ln w="0"/>
              <a:solidFill>
                <a:schemeClr val="bg2"/>
              </a:solidFill>
              <a:effectLst>
                <a:outerShdw blurRad="38100" dist="25400" dir="5400000" algn="ctr" rotWithShape="0">
                  <a:srgbClr val="6E747A">
                    <a:alpha val="43000"/>
                  </a:srgbClr>
                </a:outerShdw>
              </a:effectLst>
            </a:endParaRPr>
          </a:p>
        </p:txBody>
      </p:sp>
    </p:spTree>
    <p:extLst>
      <p:ext uri="{BB962C8B-B14F-4D97-AF65-F5344CB8AC3E}">
        <p14:creationId xmlns:p14="http://schemas.microsoft.com/office/powerpoint/2010/main" val="296717552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1024</TotalTime>
  <Words>2546</Words>
  <Application>Microsoft Office PowerPoint</Application>
  <PresentationFormat>On-screen Show (16:9)</PresentationFormat>
  <Paragraphs>303</Paragraphs>
  <Slides>14</Slides>
  <Notes>14</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14</vt:i4>
      </vt:variant>
    </vt:vector>
  </HeadingPairs>
  <TitlesOfParts>
    <vt:vector size="18"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Deepfake Detection - EE656 Course Project</dc:title>
  <dc:subject>PptxGenJS Presentation</dc:subject>
  <dc:creator>PptxGenJS</dc:creator>
  <cp:lastModifiedBy>SURYANS VARMA</cp:lastModifiedBy>
  <cp:revision>3</cp:revision>
  <dcterms:created xsi:type="dcterms:W3CDTF">2026-06-28T09:34:05Z</dcterms:created>
  <dcterms:modified xsi:type="dcterms:W3CDTF">2026-06-29T08:06:05Z</dcterms:modified>
</cp:coreProperties>
</file>